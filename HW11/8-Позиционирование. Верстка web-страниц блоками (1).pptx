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355" r:id="rId2"/>
    <p:sldId id="364" r:id="rId3"/>
    <p:sldId id="456" r:id="rId4"/>
    <p:sldId id="519" r:id="rId5"/>
    <p:sldId id="528" r:id="rId6"/>
    <p:sldId id="529" r:id="rId7"/>
    <p:sldId id="530" r:id="rId8"/>
    <p:sldId id="520" r:id="rId9"/>
    <p:sldId id="521" r:id="rId10"/>
    <p:sldId id="531" r:id="rId11"/>
    <p:sldId id="532" r:id="rId12"/>
    <p:sldId id="522" r:id="rId13"/>
    <p:sldId id="523" r:id="rId14"/>
    <p:sldId id="533" r:id="rId15"/>
    <p:sldId id="534" r:id="rId16"/>
    <p:sldId id="535" r:id="rId17"/>
    <p:sldId id="536" r:id="rId18"/>
    <p:sldId id="537" r:id="rId19"/>
    <p:sldId id="538" r:id="rId20"/>
    <p:sldId id="524" r:id="rId21"/>
    <p:sldId id="454" r:id="rId22"/>
    <p:sldId id="455" r:id="rId23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9729"/>
    <a:srgbClr val="0000FF"/>
    <a:srgbClr val="F94949"/>
    <a:srgbClr val="CC00CC"/>
    <a:srgbClr val="FF0000"/>
    <a:srgbClr val="00FF00"/>
    <a:srgbClr val="111111"/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8B1032C-EA38-4F05-BA0D-38AFFFC7BED3}" styleName="Светлый стиль 3 -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Светлый стиль 1 -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Светлый стиль 3 -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-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46F890A9-2807-4EBB-B81D-B2AA78EC7F39}" styleName="Темный стиль 2 - акцент 5/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Темный стиль 2 - акцент 3/акцент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660B408-B3CF-4A94-85FC-2B1E0A45F4A2}" styleName="Темный стиль 2 -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8024" autoAdjust="0"/>
  </p:normalViewPr>
  <p:slideViewPr>
    <p:cSldViewPr>
      <p:cViewPr varScale="1">
        <p:scale>
          <a:sx n="79" d="100"/>
          <a:sy n="79" d="100"/>
        </p:scale>
        <p:origin x="108" y="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14.01.2021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14.01.2021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13</a:t>
            </a:fld>
            <a:endParaRPr lang="ru-RU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14</a:t>
            </a:fld>
            <a:endParaRPr lang="ru-RU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15</a:t>
            </a:fld>
            <a:endParaRPr lang="ru-RU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16</a:t>
            </a:fld>
            <a:endParaRPr lang="ru-RU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17</a:t>
            </a:fld>
            <a:endParaRPr lang="ru-RU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18</a:t>
            </a:fld>
            <a:endParaRPr lang="ru-RU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19</a:t>
            </a:fld>
            <a:endParaRPr lang="ru-RU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20</a:t>
            </a:fld>
            <a:endParaRPr lang="ru-RU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21</a:t>
            </a:fld>
            <a:endParaRPr lang="ru-RU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22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14.01.2021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 smtClean="0"/>
              <a:t>Образец заголовка</a:t>
            </a:r>
            <a:endParaRPr kumimoji="0" lang="en-US" smtClean="0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14.01.2021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/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веб-страниц на языке разметки HTML5 с</a:t>
            </a:r>
            <a:r>
              <a:rPr lang="en-US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использованием каскадных таблиц стилей CSS3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8. 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Позиционирование. Верстка 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web-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страниц блоками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1.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Свойство 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position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224676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 smtClean="0">
                <a:solidFill>
                  <a:schemeClr val="bg1"/>
                </a:solidFill>
              </a:rPr>
              <a:t>Свойство </a:t>
            </a:r>
            <a:r>
              <a:rPr lang="ru-RU" sz="2000" dirty="0" err="1" smtClean="0">
                <a:solidFill>
                  <a:schemeClr val="bg1"/>
                </a:solidFill>
              </a:rPr>
              <a:t>position</a:t>
            </a:r>
            <a:r>
              <a:rPr lang="ru-RU" sz="2000" dirty="0" smtClean="0">
                <a:solidFill>
                  <a:schemeClr val="bg1"/>
                </a:solidFill>
              </a:rPr>
              <a:t> позволяет точно задать новое местоположение блока относительно того места, где он находился бы в нормальном потоке документа. </a:t>
            </a:r>
          </a:p>
          <a:p>
            <a:endParaRPr lang="ru-RU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По умолчанию все элементы располагаются последовательно один за другим в том порядке, в котором они определены в структуре HTML-документа. Свойство не наследуется.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20" y="260648"/>
          <a:ext cx="8640960" cy="6123062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4000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static</a:t>
                      </a:r>
                    </a:p>
                  </a:txBody>
                  <a:tcPr marL="34371" marR="34371" marT="18331" marB="18331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Значение по умолчанию, означает отсутствие позиционирования. Элементы отображаются последовательно один за другим в том порядке, в котором они определены в HTML-документе. Используется для очистки любого другого значения позиционирования.</a:t>
                      </a:r>
                    </a:p>
                  </a:txBody>
                  <a:tcPr marL="34371" marR="34371" marT="18331" marB="1833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4000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relative</a:t>
                      </a:r>
                    </a:p>
                  </a:txBody>
                  <a:tcPr marL="34371" marR="34371" marT="18331" marB="18331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Относительно позиционированный элемент сдвигается со своего обычного места в разных направлениях относительно границ родительского контейнера, а пространство, которое он занимал, не исчезает. При этом такой элемент может перекрывать другое содержимое на странице.</a:t>
                      </a:r>
                    </a:p>
                    <a:p>
                      <a:pPr fontAlgn="t"/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Если для относительно позиционированного элемента одновременно задать свойства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top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и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или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left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и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right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, то в первом случае сработает только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top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, во втором —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left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fontAlgn="t"/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Относительное позиционирование позволяет задавать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z-index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для элемента, а также абсолютно позиционировать дочерние элементы внутри блока.</a:t>
                      </a:r>
                    </a:p>
                  </a:txBody>
                  <a:tcPr marL="34371" marR="34371" marT="18331" marB="1833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20" y="404662"/>
          <a:ext cx="8640960" cy="5904657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66467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absolute</a:t>
                      </a:r>
                    </a:p>
                  </a:txBody>
                  <a:tcPr marL="34371" marR="34371" marT="18331" marB="18331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позиционированный элемент полностью удаляется из потока документа и позиционируется относительно границ его блока-контейнера (другого элемента или окна браузера). Блок-контейнер для абсолютно позиционированного элемента — ближайший элемент-предок, значение свойства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position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которого не равно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static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fontAlgn="t"/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Местоположение краёв элемента определяется с помощью свойств смещения. Пространство, которое занимал такой элемент, 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схлопывается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, как будто элемента не существовало на странице. Абсолютно позиционированный элемент может перекрывать другие элементы или быть перекрытым ими (за счёт свойства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z-index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). Любой абсолютно позиционированный элемент генерирует блок, то есть принимает значение 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display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0" lang="ru-RU" sz="2000" kern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block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;.</a:t>
                      </a:r>
                    </a:p>
                  </a:txBody>
                  <a:tcPr marL="34371" marR="34371" marT="18331" marB="1833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90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inherit</a:t>
                      </a:r>
                    </a:p>
                  </a:txBody>
                  <a:tcPr marL="34371" marR="34371" marT="18331" marB="18331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34371" marR="34371" marT="18331" marB="1833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20" y="548680"/>
          <a:ext cx="8640960" cy="5742786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6000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fixed</a:t>
                      </a:r>
                    </a:p>
                  </a:txBody>
                  <a:tcPr marL="34371" marR="34371" marT="18331" marB="18331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Фиксирует элемент в указанном месте страницы. Блоком-контейнером фиксированного элемента является окно просмотра, то есть элемент всегда фиксируется относительно окна браузера и не меняет своего положения во время прокрутки страницы. Сам элемент при этом полностью удаляется из основного потока документа и создаётся в новом потоке документа.</a:t>
                      </a:r>
                    </a:p>
                  </a:txBody>
                  <a:tcPr marL="34371" marR="34371" marT="18331" marB="1833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initial</a:t>
                      </a:r>
                    </a:p>
                  </a:txBody>
                  <a:tcPr marL="34371" marR="34371" marT="18331" marB="18331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34371" marR="34371" marT="18331" marB="1833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sticky</a:t>
                      </a:r>
                    </a:p>
                  </a:txBody>
                  <a:tcPr marL="34371" marR="34371" marT="18331" marB="18331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Совмещает</a:t>
                      </a:r>
                      <a:r>
                        <a:rPr kumimoji="0" lang="ru-RU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в себе </a:t>
                      </a:r>
                      <a:r>
                        <a:rPr kumimoji="0" lang="en-US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fixed </a:t>
                      </a:r>
                      <a:r>
                        <a:rPr kumimoji="0" lang="ru-RU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kumimoji="0" lang="en-US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relative</a:t>
                      </a:r>
                      <a:r>
                        <a:rPr kumimoji="0" lang="ru-RU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ru-RU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Позиционируясь свободно в рамках блока, при этом фиксируясь при прокрутке.</a:t>
                      </a:r>
                      <a:endParaRPr kumimoji="0" lang="ru-RU" sz="20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371" marR="34371" marT="18331" marB="18331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20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unset</a:t>
                      </a:r>
                    </a:p>
                  </a:txBody>
                  <a:tcPr marL="34371" marR="34371" marT="18331" marB="18331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Является комбинацией ключевых слов initial и inherit. Ключевое слово </a:t>
                      </a:r>
                      <a:r>
                        <a:rPr kumimoji="0" lang="ru-RU" sz="2000" kern="1200" baseline="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unset</a:t>
                      </a:r>
                      <a:r>
                        <a:rPr kumimoji="0" lang="ru-RU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устанавливает значение свойства как inherit, если свойство наследуется от своего родителя, в противном случае значение устанавливается как initial</a:t>
                      </a:r>
                    </a:p>
                  </a:txBody>
                  <a:tcPr marL="34371" marR="34371" marT="18331" marB="18331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2.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Свойства 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visibility, overflow </a:t>
            </a:r>
            <a:endParaRPr lang="ru-RU" sz="4000" b="1" u="sng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59400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solidFill>
                  <a:schemeClr val="bg1"/>
                </a:solidFill>
              </a:rPr>
              <a:t>Как скрыть элемент? Свойство </a:t>
            </a:r>
            <a:r>
              <a:rPr lang="ru-RU" sz="2000" b="1" dirty="0" err="1" smtClean="0">
                <a:solidFill>
                  <a:schemeClr val="bg1"/>
                </a:solidFill>
              </a:rPr>
              <a:t>visibility</a:t>
            </a:r>
            <a:endParaRPr lang="ru-RU" sz="2000" b="1" dirty="0" smtClean="0">
              <a:solidFill>
                <a:schemeClr val="bg1"/>
              </a:solidFill>
            </a:endParaRPr>
          </a:p>
          <a:p>
            <a:endParaRPr lang="ru-RU" sz="2000" b="1" dirty="0" smtClean="0">
              <a:solidFill>
                <a:schemeClr val="bg1"/>
              </a:solidFill>
            </a:endParaRP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bg1"/>
                </a:solidFill>
              </a:rPr>
              <a:t>display: none; </a:t>
            </a: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bg1"/>
                </a:solidFill>
              </a:rPr>
              <a:t>visibility:  hidden;</a:t>
            </a:r>
          </a:p>
          <a:p>
            <a:pPr marL="457200" indent="-457200">
              <a:buFontTx/>
              <a:buAutoNum type="arabicPeriod"/>
            </a:pPr>
            <a:r>
              <a:rPr lang="en-US" sz="2000" b="1" dirty="0" smtClean="0">
                <a:solidFill>
                  <a:schemeClr val="bg1"/>
                </a:solidFill>
              </a:rPr>
              <a:t>visibility:  collapse;</a:t>
            </a: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bg1"/>
                </a:solidFill>
              </a:rPr>
              <a:t>opacity: 0.5; </a:t>
            </a:r>
          </a:p>
          <a:p>
            <a:pPr marL="457200" indent="-457200">
              <a:buAutoNum type="arabicPeriod"/>
            </a:pPr>
            <a:endParaRPr lang="en-US" sz="2000" b="1" dirty="0" smtClean="0">
              <a:solidFill>
                <a:schemeClr val="bg1"/>
              </a:solidFill>
            </a:endParaRPr>
          </a:p>
          <a:p>
            <a:pPr marL="457200" indent="-457200"/>
            <a:r>
              <a:rPr lang="ru-RU" sz="2000" dirty="0" err="1" smtClean="0">
                <a:solidFill>
                  <a:schemeClr val="bg1"/>
                </a:solidFill>
              </a:rPr>
              <a:t>visibility</a:t>
            </a:r>
            <a:r>
              <a:rPr lang="ru-RU" sz="2000" dirty="0" smtClean="0">
                <a:solidFill>
                  <a:schemeClr val="bg1"/>
                </a:solidFill>
              </a:rPr>
              <a:t>: </a:t>
            </a:r>
            <a:r>
              <a:rPr lang="ru-RU" sz="2000" dirty="0" err="1" smtClean="0">
                <a:solidFill>
                  <a:schemeClr val="bg1"/>
                </a:solidFill>
              </a:rPr>
              <a:t>collapse</a:t>
            </a:r>
            <a:r>
              <a:rPr lang="ru-RU" sz="2000" dirty="0" smtClean="0">
                <a:solidFill>
                  <a:schemeClr val="bg1"/>
                </a:solidFill>
              </a:rPr>
              <a:t>; — данное свойство применяется для табличных</a:t>
            </a:r>
            <a:endParaRPr lang="en-US" sz="2000" dirty="0" smtClean="0">
              <a:solidFill>
                <a:schemeClr val="bg1"/>
              </a:solidFill>
            </a:endParaRPr>
          </a:p>
          <a:p>
            <a:pPr marL="457200" indent="-457200"/>
            <a:r>
              <a:rPr lang="ru-RU" sz="2000" dirty="0" smtClean="0">
                <a:solidFill>
                  <a:schemeClr val="bg1"/>
                </a:solidFill>
              </a:rPr>
              <a:t>элементов, делая ячейки таблицы невидимыми. Если это свойство</a:t>
            </a:r>
            <a:endParaRPr lang="en-US" sz="2000" dirty="0" smtClean="0">
              <a:solidFill>
                <a:schemeClr val="bg1"/>
              </a:solidFill>
            </a:endParaRPr>
          </a:p>
          <a:p>
            <a:pPr marL="457200" indent="-457200"/>
            <a:r>
              <a:rPr lang="ru-RU" sz="2000" dirty="0" smtClean="0">
                <a:solidFill>
                  <a:schemeClr val="bg1"/>
                </a:solidFill>
              </a:rPr>
              <a:t>используется для остальных элементов, то оно работает аналогично</a:t>
            </a:r>
            <a:endParaRPr lang="en-US" sz="2000" dirty="0" smtClean="0">
              <a:solidFill>
                <a:schemeClr val="bg1"/>
              </a:solidFill>
            </a:endParaRPr>
          </a:p>
          <a:p>
            <a:pPr marL="457200" indent="-457200"/>
            <a:r>
              <a:rPr lang="ru-RU" sz="2000" dirty="0" smtClean="0">
                <a:solidFill>
                  <a:schemeClr val="bg1"/>
                </a:solidFill>
              </a:rPr>
              <a:t>с </a:t>
            </a:r>
            <a:r>
              <a:rPr lang="ru-RU" sz="2000" dirty="0" err="1" smtClean="0">
                <a:solidFill>
                  <a:schemeClr val="bg1"/>
                </a:solidFill>
              </a:rPr>
              <a:t>visibility</a:t>
            </a:r>
            <a:r>
              <a:rPr lang="ru-RU" sz="2000" dirty="0" smtClean="0">
                <a:solidFill>
                  <a:schemeClr val="bg1"/>
                </a:solidFill>
              </a:rPr>
              <a:t>: </a:t>
            </a:r>
            <a:r>
              <a:rPr lang="ru-RU" sz="2000" dirty="0" err="1" smtClean="0">
                <a:solidFill>
                  <a:schemeClr val="bg1"/>
                </a:solidFill>
              </a:rPr>
              <a:t>hidden</a:t>
            </a:r>
            <a:r>
              <a:rPr lang="ru-RU" sz="2000" dirty="0" smtClean="0">
                <a:solidFill>
                  <a:schemeClr val="bg1"/>
                </a:solidFill>
              </a:rPr>
              <a:t>;</a:t>
            </a:r>
            <a:endParaRPr lang="en-US" sz="2000" dirty="0" smtClean="0">
              <a:solidFill>
                <a:schemeClr val="bg1"/>
              </a:solidFill>
            </a:endParaRPr>
          </a:p>
          <a:p>
            <a:pPr marL="457200" indent="-457200"/>
            <a:endParaRPr lang="ru-RU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С помощью свойства </a:t>
            </a:r>
            <a:r>
              <a:rPr lang="ru-RU" sz="2000" b="1" dirty="0" err="1" smtClean="0">
                <a:solidFill>
                  <a:schemeClr val="bg1"/>
                </a:solidFill>
              </a:rPr>
              <a:t>opacity</a:t>
            </a:r>
            <a:r>
              <a:rPr lang="ru-RU" sz="2000" dirty="0" smtClean="0">
                <a:solidFill>
                  <a:schemeClr val="bg1"/>
                </a:solidFill>
              </a:rPr>
              <a:t>. Значение </a:t>
            </a:r>
            <a:r>
              <a:rPr lang="ru-RU" sz="2000" dirty="0" err="1" smtClean="0">
                <a:solidFill>
                  <a:schemeClr val="bg1"/>
                </a:solidFill>
              </a:rPr>
              <a:t>opacity</a:t>
            </a:r>
            <a:r>
              <a:rPr lang="ru-RU" sz="2000" dirty="0" smtClean="0">
                <a:solidFill>
                  <a:schemeClr val="bg1"/>
                </a:solidFill>
              </a:rPr>
              <a:t>: 0; делает прозрачным весь элемент целиком, включая его содержимое, а не только фон элемента. </a:t>
            </a:r>
            <a:endParaRPr lang="en-US" sz="2000" dirty="0" smtClean="0">
              <a:solidFill>
                <a:schemeClr val="bg1"/>
              </a:solidFill>
            </a:endParaRPr>
          </a:p>
          <a:p>
            <a:endParaRPr lang="en-US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Данный способ действует аналогично с </a:t>
            </a:r>
            <a:r>
              <a:rPr lang="ru-RU" sz="2000" dirty="0" err="1" smtClean="0">
                <a:solidFill>
                  <a:schemeClr val="bg1"/>
                </a:solidFill>
              </a:rPr>
              <a:t>visibility</a:t>
            </a:r>
            <a:r>
              <a:rPr lang="ru-RU" sz="2000" dirty="0" smtClean="0">
                <a:solidFill>
                  <a:schemeClr val="bg1"/>
                </a:solidFill>
              </a:rPr>
              <a:t>: </a:t>
            </a:r>
            <a:r>
              <a:rPr lang="ru-RU" sz="2000" dirty="0" err="1" smtClean="0">
                <a:solidFill>
                  <a:schemeClr val="bg1"/>
                </a:solidFill>
              </a:rPr>
              <a:t>hidden</a:t>
            </a:r>
            <a:r>
              <a:rPr lang="ru-RU" sz="2000" dirty="0" smtClean="0">
                <a:solidFill>
                  <a:schemeClr val="bg1"/>
                </a:solidFill>
              </a:rPr>
              <a:t>, отличие состоит лишь в том, что свойство </a:t>
            </a:r>
            <a:r>
              <a:rPr lang="ru-RU" sz="2000" dirty="0" err="1" smtClean="0">
                <a:solidFill>
                  <a:schemeClr val="bg1"/>
                </a:solidFill>
              </a:rPr>
              <a:t>opacity</a:t>
            </a:r>
            <a:r>
              <a:rPr lang="ru-RU" sz="2000" dirty="0" smtClean="0">
                <a:solidFill>
                  <a:schemeClr val="bg1"/>
                </a:solidFill>
              </a:rPr>
              <a:t> введено в спецификацию CSS3.</a:t>
            </a:r>
            <a:endParaRPr lang="ru-RU" sz="2000" i="1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163121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solidFill>
                  <a:schemeClr val="bg1"/>
                </a:solidFill>
              </a:rPr>
              <a:t>Как обрезать элемент? Свойство </a:t>
            </a:r>
            <a:r>
              <a:rPr lang="ru-RU" sz="2000" b="1" dirty="0" err="1" smtClean="0">
                <a:solidFill>
                  <a:schemeClr val="bg1"/>
                </a:solidFill>
              </a:rPr>
              <a:t>overflow</a:t>
            </a:r>
            <a:endParaRPr lang="en-US" sz="2000" b="1" dirty="0" smtClean="0">
              <a:solidFill>
                <a:schemeClr val="bg1"/>
              </a:solidFill>
            </a:endParaRPr>
          </a:p>
          <a:p>
            <a:r>
              <a:rPr lang="ru-RU" sz="1600" dirty="0" smtClean="0">
                <a:solidFill>
                  <a:schemeClr val="bg1"/>
                </a:solidFill>
              </a:rPr>
              <a:t>Содержимое блочных элементов может переполнять блок в случае, когда для блока явно задана высота и/или ширина. Без указания высоты блок будет растягиваться, чтобы вместить содержимое, кроме случаев, когда для блока задано позиционирование </a:t>
            </a:r>
            <a:r>
              <a:rPr lang="ru-RU" sz="1600" dirty="0" err="1" smtClean="0">
                <a:solidFill>
                  <a:schemeClr val="bg1"/>
                </a:solidFill>
              </a:rPr>
              <a:t>position</a:t>
            </a:r>
            <a:r>
              <a:rPr lang="ru-RU" sz="1600" dirty="0" smtClean="0">
                <a:solidFill>
                  <a:schemeClr val="bg1"/>
                </a:solidFill>
              </a:rPr>
              <a:t>: </a:t>
            </a:r>
            <a:r>
              <a:rPr lang="ru-RU" sz="1600" dirty="0" err="1" smtClean="0">
                <a:solidFill>
                  <a:schemeClr val="bg1"/>
                </a:solidFill>
              </a:rPr>
              <a:t>absolute</a:t>
            </a:r>
            <a:r>
              <a:rPr lang="ru-RU" sz="1600" dirty="0" smtClean="0">
                <a:solidFill>
                  <a:schemeClr val="bg1"/>
                </a:solidFill>
              </a:rPr>
              <a:t>; или </a:t>
            </a:r>
            <a:r>
              <a:rPr lang="ru-RU" sz="1600" dirty="0" err="1" smtClean="0">
                <a:solidFill>
                  <a:schemeClr val="bg1"/>
                </a:solidFill>
              </a:rPr>
              <a:t>position</a:t>
            </a:r>
            <a:r>
              <a:rPr lang="ru-RU" sz="1600" dirty="0" smtClean="0">
                <a:solidFill>
                  <a:schemeClr val="bg1"/>
                </a:solidFill>
              </a:rPr>
              <a:t>: </a:t>
            </a:r>
            <a:r>
              <a:rPr lang="ru-RU" sz="1600" dirty="0" err="1" smtClean="0">
                <a:solidFill>
                  <a:schemeClr val="bg1"/>
                </a:solidFill>
              </a:rPr>
              <a:t>fixed</a:t>
            </a:r>
            <a:r>
              <a:rPr lang="ru-RU" sz="1600" dirty="0" smtClean="0">
                <a:solidFill>
                  <a:schemeClr val="bg1"/>
                </a:solidFill>
              </a:rPr>
              <a:t>;. Текст может переполнять блок по высоте, изображения — по высоте и ширине.</a:t>
            </a:r>
            <a:endParaRPr lang="ru-RU" sz="1600" i="1" dirty="0" smtClean="0">
              <a:solidFill>
                <a:schemeClr val="bg1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21" y="2492895"/>
          <a:ext cx="8640960" cy="4308591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68653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visible</a:t>
                      </a:r>
                    </a:p>
                  </a:txBody>
                  <a:tcPr marL="89019" marR="89019" marT="47477" marB="47477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Значение по умолчанию. Весь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контент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 становится видимым независимо от размеров блока-контейнера. Возможно перекрытия содержимого соседних блоков.</a:t>
                      </a:r>
                    </a:p>
                  </a:txBody>
                  <a:tcPr marL="89019" marR="89019" marT="47477" marB="4747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8653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scroll</a:t>
                      </a:r>
                    </a:p>
                  </a:txBody>
                  <a:tcPr marL="89019" marR="89019" marT="47477" marB="47477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Добавляет полосы прокрутки внутри области отображения элемента, которые отображаются даже в случае, когда содержимое по размерам помещается внутри блока. Размеры контейнера не меняются.</a:t>
                      </a:r>
                    </a:p>
                  </a:txBody>
                  <a:tcPr marL="89019" marR="89019" marT="47477" marB="47477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630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auto</a:t>
                      </a:r>
                    </a:p>
                  </a:txBody>
                  <a:tcPr marL="89019" marR="89019" marT="47477" marB="47477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Добавляет полосы прокрутки только в случае необходимости.</a:t>
                      </a:r>
                    </a:p>
                  </a:txBody>
                  <a:tcPr marL="89019" marR="89019" marT="47477" marB="47477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30999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hidden</a:t>
                      </a:r>
                    </a:p>
                  </a:txBody>
                  <a:tcPr marL="89019" marR="89019" marT="47477" marB="47477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Скрывает содержимое, выходящее за границы блока. Может скрыть часть содержимого. Используется для блоков-контейнеров, содержащих плавающие элементы. Также предотвращает отображение фона или границ под плавающими элементами (для которых задано свойство 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float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: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left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 /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right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;. При этом размеры контейнера не изменяются.</a:t>
                      </a:r>
                    </a:p>
                  </a:txBody>
                  <a:tcPr marL="89019" marR="89019" marT="47477" marB="47477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141577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solidFill>
                  <a:schemeClr val="bg1"/>
                </a:solidFill>
              </a:rPr>
              <a:t>Как обрезать элемент? Свойство </a:t>
            </a:r>
            <a:r>
              <a:rPr lang="en-US" sz="2000" b="1" dirty="0" smtClean="0">
                <a:solidFill>
                  <a:schemeClr val="bg1"/>
                </a:solidFill>
              </a:rPr>
              <a:t>clip</a:t>
            </a:r>
          </a:p>
          <a:p>
            <a:r>
              <a:rPr lang="ru-RU" sz="1600" dirty="0" smtClean="0">
                <a:solidFill>
                  <a:schemeClr val="bg1"/>
                </a:solidFill>
              </a:rPr>
              <a:t>В случае, когда для блока задано позиционирование </a:t>
            </a:r>
            <a:r>
              <a:rPr lang="ru-RU" sz="1600" dirty="0" err="1" smtClean="0">
                <a:solidFill>
                  <a:schemeClr val="bg1"/>
                </a:solidFill>
              </a:rPr>
              <a:t>position</a:t>
            </a:r>
            <a:r>
              <a:rPr lang="ru-RU" sz="1600" dirty="0" smtClean="0">
                <a:solidFill>
                  <a:schemeClr val="bg1"/>
                </a:solidFill>
              </a:rPr>
              <a:t>: </a:t>
            </a:r>
            <a:r>
              <a:rPr lang="ru-RU" sz="1600" dirty="0" err="1" smtClean="0">
                <a:solidFill>
                  <a:schemeClr val="bg1"/>
                </a:solidFill>
              </a:rPr>
              <a:t>absolute</a:t>
            </a:r>
            <a:r>
              <a:rPr lang="ru-RU" sz="1600" dirty="0" smtClean="0">
                <a:solidFill>
                  <a:schemeClr val="bg1"/>
                </a:solidFill>
              </a:rPr>
              <a:t>; или </a:t>
            </a:r>
            <a:r>
              <a:rPr lang="ru-RU" sz="1600" dirty="0" err="1" smtClean="0">
                <a:solidFill>
                  <a:schemeClr val="bg1"/>
                </a:solidFill>
              </a:rPr>
              <a:t>position</a:t>
            </a:r>
            <a:r>
              <a:rPr lang="ru-RU" sz="1600" dirty="0" smtClean="0">
                <a:solidFill>
                  <a:schemeClr val="bg1"/>
                </a:solidFill>
              </a:rPr>
              <a:t>: </a:t>
            </a:r>
            <a:r>
              <a:rPr lang="ru-RU" sz="1600" dirty="0" err="1" smtClean="0">
                <a:solidFill>
                  <a:schemeClr val="bg1"/>
                </a:solidFill>
              </a:rPr>
              <a:t>fixed</a:t>
            </a:r>
            <a:r>
              <a:rPr lang="ru-RU" sz="1600" dirty="0" smtClean="0">
                <a:solidFill>
                  <a:schemeClr val="bg1"/>
                </a:solidFill>
              </a:rPr>
              <a:t>;. Текст может переполнять блок по высоте, изображения — по высоте и ширине.</a:t>
            </a:r>
          </a:p>
          <a:p>
            <a:endParaRPr lang="ru-RU" sz="1600" i="1" dirty="0" smtClean="0">
              <a:solidFill>
                <a:schemeClr val="bg1"/>
              </a:solidFill>
            </a:endParaRPr>
          </a:p>
          <a:p>
            <a:r>
              <a:rPr lang="en-US" sz="1600" dirty="0" smtClean="0">
                <a:solidFill>
                  <a:schemeClr val="bg1"/>
                </a:solidFill>
              </a:rPr>
              <a:t>clip: </a:t>
            </a:r>
            <a:r>
              <a:rPr lang="en-US" sz="1600" dirty="0" err="1" smtClean="0">
                <a:solidFill>
                  <a:schemeClr val="bg1"/>
                </a:solidFill>
              </a:rPr>
              <a:t>rect</a:t>
            </a:r>
            <a:r>
              <a:rPr lang="en-US" sz="1600" dirty="0" smtClean="0">
                <a:solidFill>
                  <a:schemeClr val="bg1"/>
                </a:solidFill>
              </a:rPr>
              <a:t>(0px, 500px, 200px, 25px); </a:t>
            </a:r>
            <a:endParaRPr lang="ru-RU" sz="16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3.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Основы верстки блоками. Правила верстки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470898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solidFill>
                  <a:schemeClr val="bg1"/>
                </a:solidFill>
              </a:rPr>
              <a:t>Вложение блоков;</a:t>
            </a:r>
          </a:p>
          <a:p>
            <a:endParaRPr lang="ru-RU" sz="2000" i="1" dirty="0" smtClean="0">
              <a:solidFill>
                <a:schemeClr val="bg1"/>
              </a:solidFill>
            </a:endParaRPr>
          </a:p>
          <a:p>
            <a:endParaRPr lang="ru-RU" sz="2000" i="1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Любой блочный элемент состоит из набора свойств, подобно капустным листам накладываемых друг на друга. Основой блока выступает его </a:t>
            </a:r>
            <a:r>
              <a:rPr lang="ru-RU" sz="2000" dirty="0" err="1" smtClean="0">
                <a:solidFill>
                  <a:schemeClr val="bg1"/>
                </a:solidFill>
              </a:rPr>
              <a:t>контент</a:t>
            </a:r>
            <a:r>
              <a:rPr lang="ru-RU" sz="2000" dirty="0" smtClean="0">
                <a:solidFill>
                  <a:schemeClr val="bg1"/>
                </a:solidFill>
              </a:rPr>
              <a:t> (это может быть текст, изображение и др.), ширина которого задается свойством </a:t>
            </a:r>
            <a:r>
              <a:rPr lang="ru-RU" sz="2000" dirty="0" err="1" smtClean="0">
                <a:solidFill>
                  <a:schemeClr val="bg1"/>
                </a:solidFill>
              </a:rPr>
              <a:t>width</a:t>
            </a:r>
            <a:r>
              <a:rPr lang="ru-RU" sz="2000" dirty="0" smtClean="0">
                <a:solidFill>
                  <a:schemeClr val="bg1"/>
                </a:solidFill>
              </a:rPr>
              <a:t>, а высота через </a:t>
            </a:r>
            <a:r>
              <a:rPr lang="ru-RU" sz="2000" dirty="0" err="1" smtClean="0">
                <a:solidFill>
                  <a:schemeClr val="bg1"/>
                </a:solidFill>
              </a:rPr>
              <a:t>height</a:t>
            </a:r>
            <a:r>
              <a:rPr lang="ru-RU" sz="2000" dirty="0" smtClean="0">
                <a:solidFill>
                  <a:schemeClr val="bg1"/>
                </a:solidFill>
              </a:rPr>
              <a:t>; </a:t>
            </a:r>
          </a:p>
          <a:p>
            <a:r>
              <a:rPr lang="ru-RU" sz="2000" dirty="0" smtClean="0">
                <a:solidFill>
                  <a:schemeClr val="bg1"/>
                </a:solidFill>
              </a:rPr>
              <a:t>вокруг </a:t>
            </a:r>
            <a:r>
              <a:rPr lang="ru-RU" sz="2000" dirty="0" err="1" smtClean="0">
                <a:solidFill>
                  <a:schemeClr val="bg1"/>
                </a:solidFill>
              </a:rPr>
              <a:t>контента</a:t>
            </a:r>
            <a:r>
              <a:rPr lang="ru-RU" sz="2000" dirty="0" smtClean="0">
                <a:solidFill>
                  <a:schemeClr val="bg1"/>
                </a:solidFill>
              </a:rPr>
              <a:t> идут поля (</a:t>
            </a:r>
            <a:r>
              <a:rPr lang="ru-RU" sz="2000" dirty="0" err="1" smtClean="0">
                <a:solidFill>
                  <a:schemeClr val="bg1"/>
                </a:solidFill>
              </a:rPr>
              <a:t>padding</a:t>
            </a:r>
            <a:r>
              <a:rPr lang="ru-RU" sz="2000" dirty="0" smtClean="0">
                <a:solidFill>
                  <a:schemeClr val="bg1"/>
                </a:solidFill>
              </a:rPr>
              <a:t>), они создают пустое пространство от </a:t>
            </a:r>
            <a:r>
              <a:rPr lang="ru-RU" sz="2000" dirty="0" err="1" smtClean="0">
                <a:solidFill>
                  <a:schemeClr val="bg1"/>
                </a:solidFill>
              </a:rPr>
              <a:t>контента</a:t>
            </a:r>
            <a:r>
              <a:rPr lang="ru-RU" sz="2000" dirty="0" smtClean="0">
                <a:solidFill>
                  <a:schemeClr val="bg1"/>
                </a:solidFill>
              </a:rPr>
              <a:t> до внутреннего края границ; </a:t>
            </a:r>
          </a:p>
          <a:p>
            <a:r>
              <a:rPr lang="ru-RU" sz="2000" dirty="0" smtClean="0">
                <a:solidFill>
                  <a:schemeClr val="bg1"/>
                </a:solidFill>
              </a:rPr>
              <a:t>затем идут собственно сами границы (</a:t>
            </a:r>
            <a:r>
              <a:rPr lang="ru-RU" sz="2000" dirty="0" err="1" smtClean="0">
                <a:solidFill>
                  <a:schemeClr val="bg1"/>
                </a:solidFill>
              </a:rPr>
              <a:t>border</a:t>
            </a:r>
            <a:r>
              <a:rPr lang="ru-RU" sz="2000" dirty="0" smtClean="0">
                <a:solidFill>
                  <a:schemeClr val="bg1"/>
                </a:solidFill>
              </a:rPr>
              <a:t>) и завершают блок отступы (</a:t>
            </a:r>
            <a:r>
              <a:rPr lang="ru-RU" sz="2000" dirty="0" err="1" smtClean="0">
                <a:solidFill>
                  <a:schemeClr val="bg1"/>
                </a:solidFill>
              </a:rPr>
              <a:t>margin</a:t>
            </a:r>
            <a:r>
              <a:rPr lang="ru-RU" sz="2000" dirty="0" smtClean="0">
                <a:solidFill>
                  <a:schemeClr val="bg1"/>
                </a:solidFill>
              </a:rPr>
              <a:t>), невидимое пустое пространство от внешнего края границ. </a:t>
            </a:r>
          </a:p>
          <a:p>
            <a:endParaRPr lang="ru-RU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Порядок влияния этих свойств на блок четко определён и не может быть нарушен. 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 descr="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" y="188640"/>
            <a:ext cx="9096102" cy="6509535"/>
          </a:xfrm>
          <a:prstGeom prst="rect">
            <a:avLst/>
          </a:prstGeom>
          <a:noFill/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solidFill>
                  <a:schemeClr val="bg1"/>
                </a:solidFill>
              </a:rPr>
              <a:t>Ширина блока</a:t>
            </a:r>
          </a:p>
          <a:p>
            <a:endParaRPr lang="ru-RU" sz="2000" b="1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Ширина блока это комплексная величина и складывается из нескольких значений свойств:</a:t>
            </a:r>
          </a:p>
          <a:p>
            <a:r>
              <a:rPr lang="ru-RU" sz="2000" dirty="0" err="1" smtClean="0">
                <a:solidFill>
                  <a:schemeClr val="bg1"/>
                </a:solidFill>
              </a:rPr>
              <a:t>width</a:t>
            </a:r>
            <a:r>
              <a:rPr lang="ru-RU" sz="2000" dirty="0" smtClean="0">
                <a:solidFill>
                  <a:schemeClr val="bg1"/>
                </a:solidFill>
              </a:rPr>
              <a:t> — ширина </a:t>
            </a:r>
            <a:r>
              <a:rPr lang="ru-RU" sz="2000" dirty="0" err="1" smtClean="0">
                <a:solidFill>
                  <a:schemeClr val="bg1"/>
                </a:solidFill>
              </a:rPr>
              <a:t>контента</a:t>
            </a:r>
            <a:r>
              <a:rPr lang="ru-RU" sz="2000" dirty="0" smtClean="0">
                <a:solidFill>
                  <a:schemeClr val="bg1"/>
                </a:solidFill>
              </a:rPr>
              <a:t>, т.е. содержимого блока;</a:t>
            </a:r>
          </a:p>
          <a:p>
            <a:r>
              <a:rPr lang="ru-RU" sz="2000" dirty="0" err="1" smtClean="0">
                <a:solidFill>
                  <a:schemeClr val="bg1"/>
                </a:solidFill>
              </a:rPr>
              <a:t>padding-left</a:t>
            </a:r>
            <a:r>
              <a:rPr lang="ru-RU" sz="2000" dirty="0" smtClean="0">
                <a:solidFill>
                  <a:schemeClr val="bg1"/>
                </a:solidFill>
              </a:rPr>
              <a:t> и </a:t>
            </a:r>
            <a:r>
              <a:rPr lang="ru-RU" sz="2000" dirty="0" err="1" smtClean="0">
                <a:solidFill>
                  <a:schemeClr val="bg1"/>
                </a:solidFill>
              </a:rPr>
              <a:t>padding-right</a:t>
            </a:r>
            <a:r>
              <a:rPr lang="ru-RU" sz="2000" dirty="0" smtClean="0">
                <a:solidFill>
                  <a:schemeClr val="bg1"/>
                </a:solidFill>
              </a:rPr>
              <a:t> — поле слева и справа от </a:t>
            </a:r>
            <a:r>
              <a:rPr lang="ru-RU" sz="2000" dirty="0" err="1" smtClean="0">
                <a:solidFill>
                  <a:schemeClr val="bg1"/>
                </a:solidFill>
              </a:rPr>
              <a:t>контента</a:t>
            </a:r>
            <a:r>
              <a:rPr lang="ru-RU" sz="2000" dirty="0" smtClean="0">
                <a:solidFill>
                  <a:schemeClr val="bg1"/>
                </a:solidFill>
              </a:rPr>
              <a:t>;</a:t>
            </a:r>
          </a:p>
          <a:p>
            <a:r>
              <a:rPr lang="ru-RU" sz="2000" dirty="0" err="1" smtClean="0">
                <a:solidFill>
                  <a:schemeClr val="bg1"/>
                </a:solidFill>
              </a:rPr>
              <a:t>border-left</a:t>
            </a:r>
            <a:r>
              <a:rPr lang="ru-RU" sz="2000" dirty="0" smtClean="0">
                <a:solidFill>
                  <a:schemeClr val="bg1"/>
                </a:solidFill>
              </a:rPr>
              <a:t> и </a:t>
            </a:r>
            <a:r>
              <a:rPr lang="ru-RU" sz="2000" dirty="0" err="1" smtClean="0">
                <a:solidFill>
                  <a:schemeClr val="bg1"/>
                </a:solidFill>
              </a:rPr>
              <a:t>border-right</a:t>
            </a:r>
            <a:r>
              <a:rPr lang="ru-RU" sz="2000" dirty="0" smtClean="0">
                <a:solidFill>
                  <a:schemeClr val="bg1"/>
                </a:solidFill>
              </a:rPr>
              <a:t> — толщина границы слева и справа;</a:t>
            </a:r>
          </a:p>
          <a:p>
            <a:r>
              <a:rPr lang="ru-RU" sz="2000" dirty="0" err="1" smtClean="0">
                <a:solidFill>
                  <a:schemeClr val="bg1"/>
                </a:solidFill>
              </a:rPr>
              <a:t>margin-left</a:t>
            </a:r>
            <a:r>
              <a:rPr lang="ru-RU" sz="2000" dirty="0" smtClean="0">
                <a:solidFill>
                  <a:schemeClr val="bg1"/>
                </a:solidFill>
              </a:rPr>
              <a:t> и </a:t>
            </a:r>
            <a:r>
              <a:rPr lang="ru-RU" sz="2000" dirty="0" err="1" smtClean="0">
                <a:solidFill>
                  <a:schemeClr val="bg1"/>
                </a:solidFill>
              </a:rPr>
              <a:t>margin-right</a:t>
            </a:r>
            <a:r>
              <a:rPr lang="ru-RU" sz="2000" dirty="0" smtClean="0">
                <a:solidFill>
                  <a:schemeClr val="bg1"/>
                </a:solidFill>
              </a:rPr>
              <a:t> — отступ слева и справа.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562" name="Picture 2" descr="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7039" y="548680"/>
            <a:ext cx="9021465" cy="5589240"/>
          </a:xfrm>
          <a:prstGeom prst="rect">
            <a:avLst/>
          </a:prstGeom>
          <a:noFill/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286232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solidFill>
                  <a:schemeClr val="bg1"/>
                </a:solidFill>
              </a:rPr>
              <a:t>Высота блока</a:t>
            </a:r>
          </a:p>
          <a:p>
            <a:endParaRPr lang="ru-RU" sz="2000" b="1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На высоту блока действуют те же правила, что и на ширину. А именно, высота складывается из значений высоты </a:t>
            </a:r>
            <a:r>
              <a:rPr lang="ru-RU" sz="2000" dirty="0" err="1" smtClean="0">
                <a:solidFill>
                  <a:schemeClr val="bg1"/>
                </a:solidFill>
              </a:rPr>
              <a:t>контента</a:t>
            </a:r>
            <a:r>
              <a:rPr lang="ru-RU" sz="2000" dirty="0" smtClean="0">
                <a:solidFill>
                  <a:schemeClr val="bg1"/>
                </a:solidFill>
              </a:rPr>
              <a:t> (</a:t>
            </a:r>
            <a:r>
              <a:rPr lang="ru-RU" sz="2000" dirty="0" err="1" smtClean="0">
                <a:solidFill>
                  <a:schemeClr val="bg1"/>
                </a:solidFill>
              </a:rPr>
              <a:t>height</a:t>
            </a:r>
            <a:r>
              <a:rPr lang="ru-RU" sz="2000" dirty="0" smtClean="0">
                <a:solidFill>
                  <a:schemeClr val="bg1"/>
                </a:solidFill>
              </a:rPr>
              <a:t>), полей (</a:t>
            </a:r>
            <a:r>
              <a:rPr lang="ru-RU" sz="2000" dirty="0" err="1" smtClean="0">
                <a:solidFill>
                  <a:schemeClr val="bg1"/>
                </a:solidFill>
              </a:rPr>
              <a:t>padding</a:t>
            </a:r>
            <a:r>
              <a:rPr lang="ru-RU" sz="2000" dirty="0" smtClean="0">
                <a:solidFill>
                  <a:schemeClr val="bg1"/>
                </a:solidFill>
              </a:rPr>
              <a:t>), границ (</a:t>
            </a:r>
            <a:r>
              <a:rPr lang="ru-RU" sz="2000" dirty="0" err="1" smtClean="0">
                <a:solidFill>
                  <a:schemeClr val="bg1"/>
                </a:solidFill>
              </a:rPr>
              <a:t>border</a:t>
            </a:r>
            <a:r>
              <a:rPr lang="ru-RU" sz="2000" dirty="0" smtClean="0">
                <a:solidFill>
                  <a:schemeClr val="bg1"/>
                </a:solidFill>
              </a:rPr>
              <a:t>) и отступов (</a:t>
            </a:r>
            <a:r>
              <a:rPr lang="ru-RU" sz="2000" dirty="0" err="1" smtClean="0">
                <a:solidFill>
                  <a:schemeClr val="bg1"/>
                </a:solidFill>
              </a:rPr>
              <a:t>margin</a:t>
            </a:r>
            <a:r>
              <a:rPr lang="ru-RU" sz="2000" dirty="0" smtClean="0">
                <a:solidFill>
                  <a:schemeClr val="bg1"/>
                </a:solidFill>
              </a:rPr>
              <a:t>). Если свойство </a:t>
            </a:r>
            <a:r>
              <a:rPr lang="ru-RU" sz="2000" dirty="0" err="1" smtClean="0">
                <a:solidFill>
                  <a:schemeClr val="bg1"/>
                </a:solidFill>
              </a:rPr>
              <a:t>height</a:t>
            </a:r>
            <a:r>
              <a:rPr lang="ru-RU" sz="2000" dirty="0" smtClean="0">
                <a:solidFill>
                  <a:schemeClr val="bg1"/>
                </a:solidFill>
              </a:rPr>
              <a:t> не указано, то оно считается как </a:t>
            </a:r>
            <a:r>
              <a:rPr lang="ru-RU" sz="2000" dirty="0" err="1" smtClean="0">
                <a:solidFill>
                  <a:schemeClr val="bg1"/>
                </a:solidFill>
              </a:rPr>
              <a:t>auto</a:t>
            </a:r>
            <a:r>
              <a:rPr lang="ru-RU" sz="2000" dirty="0" smtClean="0">
                <a:solidFill>
                  <a:schemeClr val="bg1"/>
                </a:solidFill>
              </a:rPr>
              <a:t>, в этом случае высота </a:t>
            </a:r>
            <a:r>
              <a:rPr lang="ru-RU" sz="2000" dirty="0" err="1" smtClean="0">
                <a:solidFill>
                  <a:schemeClr val="bg1"/>
                </a:solidFill>
              </a:rPr>
              <a:t>контента</a:t>
            </a:r>
            <a:r>
              <a:rPr lang="ru-RU" sz="2000" dirty="0" smtClean="0">
                <a:solidFill>
                  <a:schemeClr val="bg1"/>
                </a:solidFill>
              </a:rPr>
              <a:t> вычисляется автоматически на основе содержимого. На рис. 3.8 показаны свойства, дающие итоговую высоту, которая обозначена чёрной пунктирной линией.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706" name="Picture 2" descr="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9512" y="692696"/>
            <a:ext cx="8840548" cy="4581128"/>
          </a:xfrm>
          <a:prstGeom prst="rect">
            <a:avLst/>
          </a:prstGeom>
          <a:noFill/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378565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solidFill>
                  <a:schemeClr val="bg1"/>
                </a:solidFill>
              </a:rPr>
              <a:t>Минимальная и максимальная – ширина и высота блока</a:t>
            </a:r>
          </a:p>
          <a:p>
            <a:endParaRPr lang="ru-RU" sz="2000" b="1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Блоку можно задать минимальную и максимальную высоту</a:t>
            </a:r>
          </a:p>
          <a:p>
            <a:r>
              <a:rPr lang="en-US" sz="2000" dirty="0" smtClean="0">
                <a:solidFill>
                  <a:schemeClr val="bg1"/>
                </a:solidFill>
              </a:rPr>
              <a:t>max-height: </a:t>
            </a:r>
            <a:r>
              <a:rPr lang="ru-RU" sz="2000" dirty="0" smtClean="0">
                <a:solidFill>
                  <a:schemeClr val="bg1"/>
                </a:solidFill>
              </a:rPr>
              <a:t>300</a:t>
            </a:r>
            <a:r>
              <a:rPr lang="en-US" sz="2000" dirty="0" err="1" smtClean="0">
                <a:solidFill>
                  <a:schemeClr val="bg1"/>
                </a:solidFill>
              </a:rPr>
              <a:t>px</a:t>
            </a:r>
            <a:r>
              <a:rPr lang="en-US" sz="2000" dirty="0" smtClean="0">
                <a:solidFill>
                  <a:schemeClr val="bg1"/>
                </a:solidFill>
              </a:rPr>
              <a:t>;</a:t>
            </a:r>
          </a:p>
          <a:p>
            <a:r>
              <a:rPr lang="en-US" sz="2000" dirty="0" smtClean="0">
                <a:solidFill>
                  <a:schemeClr val="bg1"/>
                </a:solidFill>
              </a:rPr>
              <a:t>min-height: 200px;</a:t>
            </a:r>
          </a:p>
          <a:p>
            <a:endParaRPr lang="ru-RU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Блоку можно задать минимальную и максимальную ширину</a:t>
            </a:r>
          </a:p>
          <a:p>
            <a:endParaRPr lang="ru-RU" sz="2000" dirty="0" smtClean="0">
              <a:solidFill>
                <a:schemeClr val="bg1"/>
              </a:solidFill>
            </a:endParaRPr>
          </a:p>
          <a:p>
            <a:r>
              <a:rPr lang="en-US" sz="2000" dirty="0" smtClean="0">
                <a:solidFill>
                  <a:schemeClr val="bg1"/>
                </a:solidFill>
              </a:rPr>
              <a:t>max-width: 25%; </a:t>
            </a:r>
            <a:endParaRPr lang="ru-RU" sz="2000" dirty="0" smtClean="0">
              <a:solidFill>
                <a:schemeClr val="bg1"/>
              </a:solidFill>
            </a:endParaRPr>
          </a:p>
          <a:p>
            <a:r>
              <a:rPr lang="en-US" sz="2000" dirty="0" smtClean="0">
                <a:solidFill>
                  <a:schemeClr val="bg1"/>
                </a:solidFill>
              </a:rPr>
              <a:t>min-width: 10%;</a:t>
            </a:r>
          </a:p>
          <a:p>
            <a:endParaRPr lang="ru-RU" sz="2000" dirty="0" smtClean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204864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4.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Структура </a:t>
            </a:r>
          </a:p>
          <a:p>
            <a:pPr algn="ctr"/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фиксированного и резинового размера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203132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Сверстать макет сайта с помощью блочной верстки</a:t>
            </a:r>
          </a:p>
          <a:p>
            <a:pPr algn="ctr"/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Пример сайта для верстки - </a:t>
            </a:r>
            <a:r>
              <a:rPr lang="en-US" b="1" dirty="0">
                <a:ln w="50800"/>
                <a:solidFill>
                  <a:schemeClr val="bg1">
                    <a:shade val="50000"/>
                  </a:schemeClr>
                </a:solidFill>
              </a:rPr>
              <a:t>https://demo.themeum.com/html/triangle/1.1/</a:t>
            </a:r>
            <a:endParaRPr lang="ru-RU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Шпаргалка - </a:t>
            </a:r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https://</a:t>
            </a:r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html5book.ru/vyorstka-stranicy-sayta/</a:t>
            </a:r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2026-10-01T06:36:30Z</dcterms:created>
  <dcterms:modified xsi:type="dcterms:W3CDTF">2026-10-01T06:36:30Z</dcterms:modified>
</cp:coreProperties>
</file>