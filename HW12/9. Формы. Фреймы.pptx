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58"/>
  </p:notesMasterIdLst>
  <p:handoutMasterIdLst>
    <p:handoutMasterId r:id="rId59"/>
  </p:handoutMasterIdLst>
  <p:sldIdLst>
    <p:sldId id="355" r:id="rId2"/>
    <p:sldId id="364" r:id="rId3"/>
    <p:sldId id="456" r:id="rId4"/>
    <p:sldId id="519" r:id="rId5"/>
    <p:sldId id="528" r:id="rId6"/>
    <p:sldId id="529" r:id="rId7"/>
    <p:sldId id="520" r:id="rId8"/>
    <p:sldId id="521" r:id="rId9"/>
    <p:sldId id="530" r:id="rId10"/>
    <p:sldId id="531" r:id="rId11"/>
    <p:sldId id="532" r:id="rId12"/>
    <p:sldId id="533" r:id="rId13"/>
    <p:sldId id="534" r:id="rId14"/>
    <p:sldId id="535" r:id="rId15"/>
    <p:sldId id="536" r:id="rId16"/>
    <p:sldId id="522" r:id="rId17"/>
    <p:sldId id="523" r:id="rId18"/>
    <p:sldId id="537" r:id="rId19"/>
    <p:sldId id="538" r:id="rId20"/>
    <p:sldId id="539" r:id="rId21"/>
    <p:sldId id="541" r:id="rId22"/>
    <p:sldId id="561" r:id="rId23"/>
    <p:sldId id="562" r:id="rId24"/>
    <p:sldId id="563" r:id="rId25"/>
    <p:sldId id="542" r:id="rId26"/>
    <p:sldId id="564" r:id="rId27"/>
    <p:sldId id="565" r:id="rId28"/>
    <p:sldId id="566" r:id="rId29"/>
    <p:sldId id="567" r:id="rId30"/>
    <p:sldId id="568" r:id="rId31"/>
    <p:sldId id="569" r:id="rId32"/>
    <p:sldId id="570" r:id="rId33"/>
    <p:sldId id="554" r:id="rId34"/>
    <p:sldId id="555" r:id="rId35"/>
    <p:sldId id="556" r:id="rId36"/>
    <p:sldId id="557" r:id="rId37"/>
    <p:sldId id="558" r:id="rId38"/>
    <p:sldId id="571" r:id="rId39"/>
    <p:sldId id="572" r:id="rId40"/>
    <p:sldId id="573" r:id="rId41"/>
    <p:sldId id="574" r:id="rId42"/>
    <p:sldId id="575" r:id="rId43"/>
    <p:sldId id="576" r:id="rId44"/>
    <p:sldId id="559" r:id="rId45"/>
    <p:sldId id="577" r:id="rId46"/>
    <p:sldId id="579" r:id="rId47"/>
    <p:sldId id="580" r:id="rId48"/>
    <p:sldId id="578" r:id="rId49"/>
    <p:sldId id="545" r:id="rId50"/>
    <p:sldId id="546" r:id="rId51"/>
    <p:sldId id="526" r:id="rId52"/>
    <p:sldId id="527" r:id="rId53"/>
    <p:sldId id="581" r:id="rId54"/>
    <p:sldId id="582" r:id="rId55"/>
    <p:sldId id="454" r:id="rId56"/>
    <p:sldId id="455" r:id="rId57"/>
  </p:sldIdLst>
  <p:sldSz cx="9144000" cy="6858000" type="screen4x3"/>
  <p:notesSz cx="6858000" cy="9144000"/>
  <p:defaultTextStyle>
    <a:lvl1pPr marL="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800" kern="1200">
        <a:solidFill>
          <a:schemeClr val="tx1"/>
        </a:solidFill>
        <a:latin typeface="+mn-lt"/>
        <a:ea typeface="+mn-ea"/>
        <a:cs typeface="+mn-cs"/>
      </a:defRPr>
    </a:lvl9pPr>
    <a:extLst/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9729"/>
    <a:srgbClr val="0000FF"/>
    <a:srgbClr val="F94949"/>
    <a:srgbClr val="CC00CC"/>
    <a:srgbClr val="FF0000"/>
    <a:srgbClr val="00FF00"/>
    <a:srgbClr val="111111"/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8B1032C-EA38-4F05-BA0D-38AFFFC7BED3}" styleName="Светлый стиль 3 - акцент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8D230F3-CF80-4859-8CE7-A43EE81993B5}" styleName="Светлый стиль 1 - акцент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16DA210-FB5B-4158-B5E0-FEB733F419BA}" styleName="Светлый стиль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Светлый стиль 3 - акцент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Светлый стиль 3 - акцент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06799F8-075E-4A3A-A7F6-7FBC6576F1A4}" styleName="Стиль из темы 2 - акцент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46F890A9-2807-4EBB-B81D-B2AA78EC7F39}" styleName="Темный стиль 2 - акцент 5/акцент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Темный стиль 2 - акцент 3/акцент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Темный стиль 2 - акцент 1/акцент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0A1B5D5-9B99-4C35-A422-299274C87663}" styleName="Средний стиль 1 - акцент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8024" autoAdjust="0"/>
  </p:normalViewPr>
  <p:slideViewPr>
    <p:cSldViewPr>
      <p:cViewPr varScale="1">
        <p:scale>
          <a:sx n="110" d="100"/>
          <a:sy n="110" d="100"/>
        </p:scale>
        <p:origin x="164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68F88C59-319B-4332-9A1D-2A62CFCB00D8}" type="datetimeFigureOut">
              <a:rPr lang="ru-RU" smtClean="0"/>
              <a:pPr/>
              <a:t>22.12.2021</a:t>
            </a:fld>
            <a:endParaRPr lang="ru-RU" dirty="0"/>
          </a:p>
        </p:txBody>
      </p:sp>
      <p:sp>
        <p:nvSpPr>
          <p:cNvPr id="4" name="Rectangle 4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B16A41B8-7DC3-4DB6-84E4-E105629EAA36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3" name="Rectangle 3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 latinLnBrk="0">
              <a:defRPr lang="ru-RU" sz="1200"/>
            </a:lvl1pPr>
            <a:extLst/>
          </a:lstStyle>
          <a:p>
            <a:fld id="{968B300D-05F0-4B43-940D-46DED5A791AD}" type="datetimeFigureOut">
              <a:rPr lang="ru-RU"/>
              <a:pPr/>
              <a:t>22.12.2021</a:t>
            </a:fld>
            <a:endParaRPr lang="ru-RU" dirty="0"/>
          </a:p>
        </p:txBody>
      </p:sp>
      <p:sp>
        <p:nvSpPr>
          <p:cNvPr id="4" name="Rectangle 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ru-RU" dirty="0"/>
          </a:p>
        </p:txBody>
      </p:sp>
      <p:sp>
        <p:nvSpPr>
          <p:cNvPr id="5" name="Rectangle 5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 latinLnBrk="0">
              <a:defRPr lang="ru-RU" sz="1200"/>
            </a:lvl1pPr>
            <a:extLst/>
          </a:lstStyle>
          <a:p>
            <a:endParaRPr lang="ru-RU" dirty="0"/>
          </a:p>
        </p:txBody>
      </p:sp>
      <p:sp>
        <p:nvSpPr>
          <p:cNvPr id="7" name="Rectangle 7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 latinLnBrk="0">
              <a:defRPr lang="ru-RU" sz="1200"/>
            </a:lvl1pPr>
            <a:extLst/>
          </a:lstStyle>
          <a:p>
            <a:fld id="{9B26CD33-4337-4529-948A-94F6960B2374}" type="slidenum">
              <a:rPr/>
              <a:pPr/>
              <a:t>‹#›</a:t>
            </a:fld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 latinLnBrk="0">
      <a:defRPr lang="ru-RU" sz="1200" kern="1200">
        <a:solidFill>
          <a:schemeClr val="tx1"/>
        </a:solidFill>
        <a:latin typeface="+mn-lt"/>
        <a:ea typeface="+mn-ea"/>
        <a:cs typeface="+mn-cs"/>
      </a:defRPr>
    </a:lvl9pPr>
    <a:extLst/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</a:t>
            </a:fld>
            <a:endParaRPr lang="ru-RU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</a:t>
            </a:fld>
            <a:endParaRPr lang="ru-RU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</a:t>
            </a:fld>
            <a:endParaRPr lang="ru-RU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6</a:t>
            </a:fld>
            <a:endParaRPr lang="ru-RU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7</a:t>
            </a:fld>
            <a:endParaRPr lang="ru-RU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8</a:t>
            </a:fld>
            <a:endParaRPr lang="ru-RU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9</a:t>
            </a:fld>
            <a:endParaRPr lang="ru-RU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10</a:t>
            </a:fld>
            <a:endParaRPr 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12</a:t>
            </a:fld>
            <a:endParaRPr lang="ru-RU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13</a:t>
            </a:fld>
            <a:endParaRPr lang="ru-RU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14</a:t>
            </a:fld>
            <a:endParaRPr lang="ru-RU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15</a:t>
            </a:fld>
            <a:endParaRPr lang="ru-RU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16</a:t>
            </a:fld>
            <a:endParaRPr lang="ru-RU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17</a:t>
            </a:fld>
            <a:endParaRPr lang="ru-RU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18</a:t>
            </a:fld>
            <a:endParaRPr lang="ru-RU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19</a:t>
            </a:fld>
            <a:endParaRPr lang="ru-RU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20</a:t>
            </a:fld>
            <a:endParaRPr 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21</a:t>
            </a:fld>
            <a:endParaRPr lang="ru-RU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22</a:t>
            </a:fld>
            <a:endParaRPr lang="ru-RU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23</a:t>
            </a:fld>
            <a:endParaRPr lang="ru-RU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24</a:t>
            </a:fld>
            <a:endParaRPr lang="ru-RU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25</a:t>
            </a:fld>
            <a:endParaRPr lang="ru-RU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26</a:t>
            </a:fld>
            <a:endParaRPr lang="ru-RU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27</a:t>
            </a:fld>
            <a:endParaRPr lang="ru-RU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28</a:t>
            </a:fld>
            <a:endParaRPr lang="ru-RU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29</a:t>
            </a:fld>
            <a:endParaRPr lang="ru-RU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30</a:t>
            </a:fld>
            <a:endParaRPr lang="ru-R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31</a:t>
            </a:fld>
            <a:endParaRPr lang="ru-RU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32</a:t>
            </a:fld>
            <a:endParaRPr lang="ru-RU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33</a:t>
            </a:fld>
            <a:endParaRPr lang="ru-RU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34</a:t>
            </a:fld>
            <a:endParaRPr lang="ru-RU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35</a:t>
            </a:fld>
            <a:endParaRPr lang="ru-RU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36</a:t>
            </a:fld>
            <a:endParaRPr lang="ru-RU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37</a:t>
            </a:fld>
            <a:endParaRPr lang="ru-RU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38</a:t>
            </a:fld>
            <a:endParaRPr lang="ru-RU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39</a:t>
            </a:fld>
            <a:endParaRPr lang="ru-RU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40</a:t>
            </a:fld>
            <a:endParaRPr lang="ru-RU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41</a:t>
            </a:fld>
            <a:endParaRPr lang="ru-RU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42</a:t>
            </a:fld>
            <a:endParaRPr lang="ru-RU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43</a:t>
            </a:fld>
            <a:endParaRPr lang="ru-RU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44</a:t>
            </a:fld>
            <a:endParaRPr lang="ru-RU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45</a:t>
            </a:fld>
            <a:endParaRPr lang="ru-RU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46</a:t>
            </a:fld>
            <a:endParaRPr lang="ru-RU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47</a:t>
            </a:fld>
            <a:endParaRPr lang="ru-RU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48</a:t>
            </a:fld>
            <a:endParaRPr lang="ru-RU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49</a:t>
            </a:fld>
            <a:endParaRPr lang="ru-RU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50</a:t>
            </a:fld>
            <a:endParaRPr lang="ru-RU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51</a:t>
            </a:fld>
            <a:endParaRPr lang="ru-RU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52</a:t>
            </a:fld>
            <a:endParaRPr lang="ru-RU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53</a:t>
            </a:fld>
            <a:endParaRPr lang="ru-RU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54</a:t>
            </a:fld>
            <a:endParaRPr lang="ru-RU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55</a:t>
            </a:fld>
            <a:endParaRPr lang="ru-RU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26CD33-4337-4529-948A-94F6960B2374}" type="slidenum">
              <a:rPr lang="ru-RU" smtClean="0"/>
              <a:pPr/>
              <a:t>56</a:t>
            </a:fld>
            <a:endParaRPr lang="ru-RU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Обложка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title" hasCustomPrompt="1"/>
          </p:nvPr>
        </p:nvSpPr>
        <p:spPr>
          <a:xfrm>
            <a:off x="228601" y="3962400"/>
            <a:ext cx="8298485" cy="1066800"/>
          </a:xfrm>
        </p:spPr>
        <p:txBody>
          <a:bodyPr bIns="0"/>
          <a:lstStyle>
            <a:lvl1pPr algn="r" eaLnBrk="1" latinLnBrk="0" hangingPunct="1">
              <a:defRPr kumimoji="0" lang="ru-RU"/>
            </a:lvl1pPr>
            <a:extLst/>
          </a:lstStyle>
          <a:p>
            <a:r>
              <a:rPr kumimoji="0" lang="ru-RU"/>
              <a:t>Заголовок фотоальбома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>
          <a:xfrm>
            <a:off x="453736" y="5181600"/>
            <a:ext cx="8229600" cy="11430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ru-RU"/>
            </a:pPr>
            <a:endParaRPr kumimoji="0" lang="ru-RU" sz="3200" b="0" i="1" u="none" strike="noStrike" kern="0" cap="none" spc="0" normalizeH="0" baseline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Rectangle 7"/>
          <p:cNvSpPr>
            <a:spLocks noGrp="1"/>
          </p:cNvSpPr>
          <p:nvPr>
            <p:ph type="body" sz="quarter" idx="10" hasCustomPrompt="1"/>
          </p:nvPr>
        </p:nvSpPr>
        <p:spPr>
          <a:xfrm>
            <a:off x="2133600" y="5133975"/>
            <a:ext cx="6386946" cy="1219200"/>
          </a:xfrm>
        </p:spPr>
        <p:txBody>
          <a:bodyPr vert="horz" tIns="0" anchor="t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Щелкните, чтобы добавить дату и прочие сведения</a:t>
            </a:r>
          </a:p>
        </p:txBody>
      </p:sp>
      <p:sp>
        <p:nvSpPr>
          <p:cNvPr id="27" name="Rectangle 6"/>
          <p:cNvSpPr>
            <a:spLocks noGrp="1"/>
          </p:cNvSpPr>
          <p:nvPr>
            <p:ph type="pic" sz="quarter" idx="11"/>
          </p:nvPr>
        </p:nvSpPr>
        <p:spPr>
          <a:xfrm>
            <a:off x="6096000" y="1600200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5"/>
          <p:cNvSpPr/>
          <p:nvPr userDrawn="1"/>
        </p:nvSpPr>
        <p:spPr>
          <a:xfrm>
            <a:off x="176844" y="186904"/>
            <a:ext cx="8763000" cy="6213896"/>
          </a:xfrm>
          <a:prstGeom prst="rect">
            <a:avLst/>
          </a:prstGeom>
          <a:noFill/>
          <a:ln w="9525" cap="rnd" cmpd="sng" algn="ctr">
            <a:solidFill>
              <a:schemeClr val="bg1">
                <a:tint val="85000"/>
              </a:schemeClr>
            </a:solidFill>
            <a:prstDash val="dash"/>
          </a:ln>
          <a:effectLst>
            <a:outerShdw blurRad="25400" dist="12700" dir="5400000" algn="tl" rotWithShape="0">
              <a:schemeClr val="bg1">
                <a:alpha val="60000"/>
              </a:scheme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3" name="Rectangle 12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9"/>
          <p:cNvSpPr>
            <a:spLocks noGrp="1" noChangeAspect="1"/>
          </p:cNvSpPr>
          <p:nvPr>
            <p:ph type="pic" sz="quarter" idx="10"/>
          </p:nvPr>
        </p:nvSpPr>
        <p:spPr>
          <a:xfrm>
            <a:off x="914400" y="294590"/>
            <a:ext cx="7467600" cy="56007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5"/>
          <p:cNvSpPr>
            <a:spLocks noGrp="1"/>
          </p:cNvSpPr>
          <p:nvPr>
            <p:ph type="body" sz="quarter" idx="11" hasCustomPrompt="1"/>
          </p:nvPr>
        </p:nvSpPr>
        <p:spPr>
          <a:xfrm>
            <a:off x="914400" y="6019800"/>
            <a:ext cx="7467600" cy="38100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Книж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8"/>
          <p:cNvSpPr>
            <a:spLocks noGrp="1"/>
          </p:cNvSpPr>
          <p:nvPr>
            <p:ph type="pic" sz="quarter" idx="10"/>
          </p:nvPr>
        </p:nvSpPr>
        <p:spPr>
          <a:xfrm>
            <a:off x="419375" y="233241"/>
            <a:ext cx="4640305" cy="61722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3" name="Rectangle 6"/>
          <p:cNvSpPr>
            <a:spLocks noGrp="1"/>
          </p:cNvSpPr>
          <p:nvPr>
            <p:ph type="body" sz="quarter" idx="11" hasCustomPrompt="1"/>
          </p:nvPr>
        </p:nvSpPr>
        <p:spPr>
          <a:xfrm>
            <a:off x="5257800" y="3048000"/>
            <a:ext cx="3505200" cy="3352800"/>
          </a:xfrm>
        </p:spPr>
        <p:txBody>
          <a:bodyPr tIns="91440" bIns="91440"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3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5" name="Rectangle 4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Альбомная (на весь экран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6"/>
          <p:cNvSpPr>
            <a:spLocks noGrp="1" noChangeAspect="1"/>
          </p:cNvSpPr>
          <p:nvPr>
            <p:ph type="pic" sz="quarter" idx="10" hasCustomPrompt="1"/>
          </p:nvPr>
        </p:nvSpPr>
        <p:spPr>
          <a:xfrm>
            <a:off x="0" y="0"/>
            <a:ext cx="9144000" cy="6858000"/>
          </a:xfrm>
          <a:noFill/>
          <a:ln w="25400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>
              <a:buFontTx/>
              <a:buNone/>
            </a:pPr>
            <a:r>
              <a:rPr kumimoji="0" lang="ru-RU" i="0" dirty="0"/>
              <a:t>Щелкните значок,</a:t>
            </a:r>
            <a:r>
              <a:rPr kumimoji="0" lang="ru-RU" i="0" baseline="0" dirty="0"/>
              <a:t> чтобы добавить </a:t>
            </a:r>
            <a:r>
              <a:rPr kumimoji="0" lang="ru-RU" i="0" dirty="0"/>
              <a:t>фотографию размером со всю страницу</a:t>
            </a:r>
            <a:endParaRPr kumimoji="0" lang="ru-RU" i="0" baseline="0" dirty="0"/>
          </a:p>
          <a:p>
            <a:pPr marL="0" marR="0" indent="0"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  <a:p>
            <a:pPr algn="ctr">
              <a:buFontTx/>
              <a:buNone/>
            </a:pPr>
            <a:endParaRPr kumimoji="0" lang="ru-RU" i="0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Раздел альбо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2"/>
          <p:cNvSpPr>
            <a:spLocks noGrp="1"/>
          </p:cNvSpPr>
          <p:nvPr>
            <p:ph type="title" hasCustomPrompt="1"/>
          </p:nvPr>
        </p:nvSpPr>
        <p:spPr>
          <a:xfrm>
            <a:off x="752670" y="4572000"/>
            <a:ext cx="7781730" cy="990600"/>
          </a:xfrm>
        </p:spPr>
        <p:txBody>
          <a:bodyPr vert="horz" bIns="0" anchor="b" anchorCtr="0"/>
          <a:lstStyle>
            <a:lvl1pPr eaLnBrk="1" latinLnBrk="0" hangingPunct="1">
              <a:defRPr kumimoji="0" lang="ru-RU" baseline="0"/>
            </a:lvl1pPr>
            <a:extLst/>
          </a:lstStyle>
          <a:p>
            <a:r>
              <a:rPr kumimoji="0" lang="ru-RU"/>
              <a:t>Заголовок раздела</a:t>
            </a:r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752670" y="5600700"/>
            <a:ext cx="7772400" cy="838200"/>
          </a:xfrm>
        </p:spPr>
        <p:txBody>
          <a:bodyPr vert="horz" tIns="0"/>
          <a:lstStyle>
            <a:lvl1pPr eaLnBrk="1" latinLnBrk="0" hangingPunct="1">
              <a:buFontTx/>
              <a:buNone/>
              <a:defRPr kumimoji="0" lang="ru-RU" sz="1800"/>
            </a:lvl1pPr>
            <a:extLst/>
          </a:lstStyle>
          <a:p>
            <a:pPr lvl="0"/>
            <a:r>
              <a:rPr kumimoji="0" lang="ru-RU"/>
              <a:t>Подзаголовок слайда</a:t>
            </a:r>
          </a:p>
        </p:txBody>
      </p:sp>
      <p:sp>
        <p:nvSpPr>
          <p:cNvPr id="7" name="Rectangle 6"/>
          <p:cNvSpPr>
            <a:spLocks noGrp="1"/>
          </p:cNvSpPr>
          <p:nvPr>
            <p:ph type="pic" sz="quarter" idx="11"/>
          </p:nvPr>
        </p:nvSpPr>
        <p:spPr>
          <a:xfrm>
            <a:off x="786338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8" name="Rectangle 6"/>
          <p:cNvSpPr>
            <a:spLocks noGrp="1"/>
          </p:cNvSpPr>
          <p:nvPr>
            <p:ph type="pic" sz="quarter" idx="15"/>
          </p:nvPr>
        </p:nvSpPr>
        <p:spPr>
          <a:xfrm>
            <a:off x="3474604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" name="Rectangle 6"/>
          <p:cNvSpPr>
            <a:spLocks noGrp="1"/>
          </p:cNvSpPr>
          <p:nvPr>
            <p:ph type="pic" sz="quarter" idx="16"/>
          </p:nvPr>
        </p:nvSpPr>
        <p:spPr>
          <a:xfrm>
            <a:off x="6162870" y="2140695"/>
            <a:ext cx="2286000" cy="2286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/>
          <a:lstStyle/>
          <a:p>
            <a:pPr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2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4722047" y="609600"/>
            <a:ext cx="3431353" cy="4575141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1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1066800" y="609600"/>
            <a:ext cx="3429000" cy="45720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body" sz="quarter" idx="14" hasCustomPrompt="1"/>
          </p:nvPr>
        </p:nvSpPr>
        <p:spPr>
          <a:xfrm>
            <a:off x="10668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5" hasCustomPrompt="1"/>
          </p:nvPr>
        </p:nvSpPr>
        <p:spPr>
          <a:xfrm>
            <a:off x="4724400" y="5334000"/>
            <a:ext cx="3429000" cy="1066800"/>
          </a:xfrm>
        </p:spPr>
        <p:txBody>
          <a:bodyPr lIns="91440"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альбом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48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5" name="Rectangle 7"/>
          <p:cNvSpPr>
            <a:spLocks noGrp="1" noChangeAspect="1"/>
          </p:cNvSpPr>
          <p:nvPr>
            <p:ph type="pic" sz="quarter" idx="14"/>
          </p:nvPr>
        </p:nvSpPr>
        <p:spPr>
          <a:xfrm>
            <a:off x="457200" y="1676400"/>
            <a:ext cx="4038600" cy="3028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9" name="Rectangle 7"/>
          <p:cNvSpPr>
            <a:spLocks noGrp="1"/>
          </p:cNvSpPr>
          <p:nvPr>
            <p:ph type="body" sz="quarter" idx="17" hasCustomPrompt="1"/>
          </p:nvPr>
        </p:nvSpPr>
        <p:spPr>
          <a:xfrm>
            <a:off x="4648200" y="4857750"/>
            <a:ext cx="4038600" cy="1238250"/>
          </a:xfrm>
        </p:spPr>
        <p:txBody>
          <a:bodyPr rIns="9144"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смешан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141976" y="381000"/>
            <a:ext cx="3773424" cy="2830068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4152" y="381000"/>
            <a:ext cx="4462272" cy="5949696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1" name="Rectangle 7"/>
          <p:cNvSpPr>
            <a:spLocks noGrp="1"/>
          </p:cNvSpPr>
          <p:nvPr>
            <p:ph type="body" sz="quarter" idx="13" hasCustomPrompt="1"/>
          </p:nvPr>
        </p:nvSpPr>
        <p:spPr>
          <a:xfrm>
            <a:off x="5141976" y="3352800"/>
            <a:ext cx="3773425" cy="2971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spect="1"/>
          </p:cNvSpPr>
          <p:nvPr>
            <p:ph type="pic" sz="quarter" idx="10"/>
          </p:nvPr>
        </p:nvSpPr>
        <p:spPr>
          <a:xfrm>
            <a:off x="2286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8"/>
          <p:cNvSpPr>
            <a:spLocks noGrp="1" noChangeAspect="1"/>
          </p:cNvSpPr>
          <p:nvPr>
            <p:ph type="pic" sz="quarter" idx="11"/>
          </p:nvPr>
        </p:nvSpPr>
        <p:spPr>
          <a:xfrm>
            <a:off x="32004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8"/>
          <p:cNvSpPr>
            <a:spLocks noGrp="1" noChangeAspect="1"/>
          </p:cNvSpPr>
          <p:nvPr>
            <p:ph type="pic" sz="quarter" idx="12"/>
          </p:nvPr>
        </p:nvSpPr>
        <p:spPr>
          <a:xfrm>
            <a:off x="6172200" y="1066800"/>
            <a:ext cx="2743200" cy="3657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body" sz="quarter" idx="13" hasCustomPrompt="1"/>
          </p:nvPr>
        </p:nvSpPr>
        <p:spPr>
          <a:xfrm>
            <a:off x="2286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6"/>
          <p:cNvSpPr>
            <a:spLocks noGrp="1"/>
          </p:cNvSpPr>
          <p:nvPr>
            <p:ph type="body" sz="quarter" idx="14" hasCustomPrompt="1"/>
          </p:nvPr>
        </p:nvSpPr>
        <p:spPr>
          <a:xfrm>
            <a:off x="32004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6"/>
          <p:cNvSpPr>
            <a:spLocks noGrp="1"/>
          </p:cNvSpPr>
          <p:nvPr>
            <p:ph type="body" sz="quarter" idx="15" hasCustomPrompt="1"/>
          </p:nvPr>
        </p:nvSpPr>
        <p:spPr>
          <a:xfrm>
            <a:off x="6172200" y="4876800"/>
            <a:ext cx="2743200" cy="1447800"/>
          </a:xfrm>
        </p:spPr>
        <p:txBody>
          <a:bodyPr anchor="t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466344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5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57200" y="3403823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4663440" y="228600"/>
            <a:ext cx="4023360" cy="3017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342900" indent="-34290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11"/>
          <p:cNvSpPr>
            <a:spLocks noGrp="1"/>
          </p:cNvSpPr>
          <p:nvPr>
            <p:ph type="body" sz="quarter" idx="14" hasCustomPrompt="1"/>
          </p:nvPr>
        </p:nvSpPr>
        <p:spPr>
          <a:xfrm>
            <a:off x="457200" y="228600"/>
            <a:ext cx="4023360" cy="3017520"/>
          </a:xfrm>
        </p:spPr>
        <p:txBody>
          <a:bodyPr anchor="b" anchorCtr="0">
            <a:noAutofit/>
          </a:bodyPr>
          <a:lstStyle>
            <a:lvl1pPr marL="0" marR="0" indent="0" algn="l" rtl="0" eaLnBrk="1" latinLnBrk="0" hangingPunct="1">
              <a:spcBef>
                <a:spcPct val="20000"/>
              </a:spcBef>
              <a:buFontTx/>
              <a:buNone/>
              <a:defRPr kumimoji="0" lang="ru-RU" sz="1800" i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6" name="Rectangle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сверху, смешанна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spect="1"/>
          </p:cNvSpPr>
          <p:nvPr>
            <p:ph type="pic" sz="quarter" idx="11"/>
          </p:nvPr>
        </p:nvSpPr>
        <p:spPr>
          <a:xfrm>
            <a:off x="5067300" y="3436620"/>
            <a:ext cx="3649900" cy="2889504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 noChangeAspect="1"/>
          </p:cNvSpPr>
          <p:nvPr>
            <p:ph type="pic" sz="quarter" idx="12"/>
          </p:nvPr>
        </p:nvSpPr>
        <p:spPr>
          <a:xfrm>
            <a:off x="426720" y="384048"/>
            <a:ext cx="4457700" cy="59436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13"/>
          </p:nvPr>
        </p:nvSpPr>
        <p:spPr>
          <a:xfrm>
            <a:off x="5067300" y="389332"/>
            <a:ext cx="3657600" cy="2887269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5" name="Rectangle 4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подпися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7"/>
          <p:cNvSpPr>
            <a:spLocks noGrp="1"/>
          </p:cNvSpPr>
          <p:nvPr>
            <p:ph type="pic" sz="quarter" idx="14"/>
          </p:nvPr>
        </p:nvSpPr>
        <p:spPr>
          <a:xfrm>
            <a:off x="2229297" y="228600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" name="Rectangle 7"/>
          <p:cNvSpPr>
            <a:spLocks noGrp="1"/>
          </p:cNvSpPr>
          <p:nvPr>
            <p:ph type="pic" sz="quarter" idx="26"/>
          </p:nvPr>
        </p:nvSpPr>
        <p:spPr>
          <a:xfrm>
            <a:off x="22292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0" name="Rectangle 7"/>
          <p:cNvSpPr>
            <a:spLocks noGrp="1" noChangeAspect="1"/>
          </p:cNvSpPr>
          <p:nvPr>
            <p:ph type="pic" sz="quarter" idx="25"/>
          </p:nvPr>
        </p:nvSpPr>
        <p:spPr>
          <a:xfrm>
            <a:off x="4672217" y="228600"/>
            <a:ext cx="2286000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27"/>
          </p:nvPr>
        </p:nvSpPr>
        <p:spPr>
          <a:xfrm>
            <a:off x="4667697" y="3365392"/>
            <a:ext cx="228521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400497" y="1295400"/>
            <a:ext cx="1676400" cy="1905000"/>
          </a:xfrm>
        </p:spPr>
        <p:txBody>
          <a:bodyPr anchor="b" anchorCtr="0">
            <a:noAutofit/>
          </a:bodyPr>
          <a:lstStyle>
            <a:lvl1pPr marL="0" marR="0" indent="0" algn="r" rtl="0" eaLnBrk="1" latinLnBrk="0" hangingPunct="1">
              <a:spcBef>
                <a:spcPct val="20000"/>
              </a:spcBef>
              <a:buFontTx/>
              <a:buNone/>
              <a:defRPr kumimoji="0" lang="ru-RU" sz="16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7086600" y="1295400"/>
            <a:ext cx="1676400" cy="1905000"/>
          </a:xfrm>
        </p:spPr>
        <p:txBody>
          <a:bodyPr anchor="b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8" hasCustomPrompt="1"/>
          </p:nvPr>
        </p:nvSpPr>
        <p:spPr>
          <a:xfrm>
            <a:off x="400497" y="3352800"/>
            <a:ext cx="1676400" cy="1905000"/>
          </a:xfrm>
        </p:spPr>
        <p:txBody>
          <a:bodyPr anchor="t" anchorCtr="0"/>
          <a:lstStyle>
            <a:lvl1pPr marL="0" marR="0" indent="0" algn="r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3" name="Rectangle 7"/>
          <p:cNvSpPr>
            <a:spLocks noGrp="1"/>
          </p:cNvSpPr>
          <p:nvPr>
            <p:ph type="body" sz="quarter" idx="30" hasCustomPrompt="1"/>
          </p:nvPr>
        </p:nvSpPr>
        <p:spPr>
          <a:xfrm>
            <a:off x="7086600" y="3352800"/>
            <a:ext cx="16764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1" name="Rectangle 10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5" name="Rectangle 14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альбом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7"/>
          <p:cNvSpPr>
            <a:spLocks noGrp="1"/>
          </p:cNvSpPr>
          <p:nvPr>
            <p:ph type="pic" sz="quarter" idx="14"/>
          </p:nvPr>
        </p:nvSpPr>
        <p:spPr>
          <a:xfrm>
            <a:off x="926821" y="533400"/>
            <a:ext cx="3653297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8" name="Rectangle 7"/>
          <p:cNvSpPr>
            <a:spLocks noGrp="1"/>
          </p:cNvSpPr>
          <p:nvPr>
            <p:ph type="body" sz="quarter" idx="16" hasCustomPrompt="1"/>
          </p:nvPr>
        </p:nvSpPr>
        <p:spPr>
          <a:xfrm>
            <a:off x="9268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7"/>
          <p:cNvSpPr>
            <a:spLocks noGrp="1"/>
          </p:cNvSpPr>
          <p:nvPr>
            <p:ph type="pic" sz="quarter" idx="17"/>
          </p:nvPr>
        </p:nvSpPr>
        <p:spPr>
          <a:xfrm>
            <a:off x="4660621" y="5334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/>
          </p:cNvSpPr>
          <p:nvPr>
            <p:ph type="pic" sz="quarter" idx="18"/>
          </p:nvPr>
        </p:nvSpPr>
        <p:spPr>
          <a:xfrm>
            <a:off x="9268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/>
          </p:cNvSpPr>
          <p:nvPr>
            <p:ph type="pic" sz="quarter" idx="19"/>
          </p:nvPr>
        </p:nvSpPr>
        <p:spPr>
          <a:xfrm>
            <a:off x="4660621" y="3352800"/>
            <a:ext cx="3657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/>
          </p:cNvSpPr>
          <p:nvPr>
            <p:ph type="body" sz="quarter" idx="22" hasCustomPrompt="1"/>
          </p:nvPr>
        </p:nvSpPr>
        <p:spPr>
          <a:xfrm>
            <a:off x="9268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8" name="Rectangle 7"/>
          <p:cNvSpPr>
            <a:spLocks noGrp="1"/>
          </p:cNvSpPr>
          <p:nvPr>
            <p:ph type="body" sz="quarter" idx="23" hasCustomPrompt="1"/>
          </p:nvPr>
        </p:nvSpPr>
        <p:spPr>
          <a:xfrm>
            <a:off x="4660621" y="61722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6" name="Rectangle 7"/>
          <p:cNvSpPr>
            <a:spLocks noGrp="1"/>
          </p:cNvSpPr>
          <p:nvPr>
            <p:ph type="body" sz="quarter" idx="24" hasCustomPrompt="1"/>
          </p:nvPr>
        </p:nvSpPr>
        <p:spPr>
          <a:xfrm>
            <a:off x="4660621" y="152400"/>
            <a:ext cx="3657600" cy="304800"/>
          </a:xfrm>
        </p:spPr>
        <p:txBody>
          <a:bodyPr lIns="9144" anchor="t" anchorCtr="0"/>
          <a:lstStyle>
            <a:lvl1pPr marL="0" marR="0" indent="0" algn="l" eaLnBrk="1" latinLnBrk="0" hangingPunct="1">
              <a:buFontTx/>
              <a:buNone/>
              <a:defRPr kumimoji="0" lang="ru-RU" sz="16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10" name="Rectangle 9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2" name="Rectangle 11"/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, книжная с большой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1524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1"/>
          </p:nvPr>
        </p:nvSpPr>
        <p:spPr>
          <a:xfrm>
            <a:off x="454660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7"/>
          <p:cNvSpPr>
            <a:spLocks noGrp="1"/>
          </p:cNvSpPr>
          <p:nvPr>
            <p:ph type="pic" sz="quarter" idx="30"/>
          </p:nvPr>
        </p:nvSpPr>
        <p:spPr>
          <a:xfrm>
            <a:off x="2349060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9" name="Rectangle 7"/>
          <p:cNvSpPr>
            <a:spLocks noGrp="1"/>
          </p:cNvSpPr>
          <p:nvPr>
            <p:ph type="pic" sz="quarter" idx="32"/>
          </p:nvPr>
        </p:nvSpPr>
        <p:spPr>
          <a:xfrm>
            <a:off x="6740166" y="1524000"/>
            <a:ext cx="2106985" cy="2809311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4" name="Rectangle 7"/>
          <p:cNvSpPr>
            <a:spLocks noGrp="1"/>
          </p:cNvSpPr>
          <p:nvPr>
            <p:ph type="body" sz="quarter" idx="29" hasCustomPrompt="1"/>
          </p:nvPr>
        </p:nvSpPr>
        <p:spPr>
          <a:xfrm>
            <a:off x="152400" y="4495800"/>
            <a:ext cx="8763000" cy="1905000"/>
          </a:xfrm>
        </p:spPr>
        <p:txBody>
          <a:bodyPr anchor="t" anchorCtr="0"/>
          <a:lstStyle>
            <a:lvl1pPr marL="0" marR="0" indent="0" algn="l" eaLnBrk="1" latinLnBrk="0" hangingPunct="1">
              <a:buFontTx/>
              <a:buNone/>
              <a:defRPr kumimoji="0" lang="ru-RU" sz="2400" baseline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Rectangle 7"/>
          <p:cNvSpPr>
            <a:spLocks noGrp="1"/>
          </p:cNvSpPr>
          <p:nvPr>
            <p:ph type="dt" sz="half" idx="33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4 сверху: 1 книжная и 3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7"/>
          <p:cNvSpPr>
            <a:spLocks noGrp="1"/>
          </p:cNvSpPr>
          <p:nvPr>
            <p:ph type="pic" sz="quarter" idx="14"/>
          </p:nvPr>
        </p:nvSpPr>
        <p:spPr>
          <a:xfrm>
            <a:off x="685800" y="257665"/>
            <a:ext cx="4617720" cy="6172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Rectangle 7"/>
          <p:cNvSpPr>
            <a:spLocks noGrp="1" noChangeAspect="1"/>
          </p:cNvSpPr>
          <p:nvPr>
            <p:ph type="pic" sz="quarter" idx="18"/>
          </p:nvPr>
        </p:nvSpPr>
        <p:spPr>
          <a:xfrm>
            <a:off x="5788848" y="257665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Rectangle 7"/>
          <p:cNvSpPr>
            <a:spLocks noGrp="1" noChangeAspect="1"/>
          </p:cNvSpPr>
          <p:nvPr>
            <p:ph type="pic" sz="quarter" idx="22"/>
          </p:nvPr>
        </p:nvSpPr>
        <p:spPr>
          <a:xfrm>
            <a:off x="5788848" y="2432657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14" name="Rectangle 7"/>
          <p:cNvSpPr>
            <a:spLocks noGrp="1" noChangeAspect="1"/>
          </p:cNvSpPr>
          <p:nvPr>
            <p:ph type="pic" sz="quarter" idx="23"/>
          </p:nvPr>
        </p:nvSpPr>
        <p:spPr>
          <a:xfrm>
            <a:off x="5788848" y="4607649"/>
            <a:ext cx="2438402" cy="1828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альбомных и 2 книж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/>
          <p:cNvSpPr>
            <a:spLocks noGrp="1"/>
          </p:cNvSpPr>
          <p:nvPr>
            <p:ph type="pic" sz="quarter" idx="14"/>
          </p:nvPr>
        </p:nvSpPr>
        <p:spPr>
          <a:xfrm>
            <a:off x="609600" y="34290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7" name="Rectangle 7"/>
          <p:cNvSpPr>
            <a:spLocks noGrp="1"/>
          </p:cNvSpPr>
          <p:nvPr>
            <p:ph type="pic" sz="quarter" idx="17"/>
          </p:nvPr>
        </p:nvSpPr>
        <p:spPr>
          <a:xfrm>
            <a:off x="3033848" y="228600"/>
            <a:ext cx="5562600" cy="417195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6"/>
          </p:nvPr>
        </p:nvSpPr>
        <p:spPr>
          <a:xfrm>
            <a:off x="609600" y="228600"/>
            <a:ext cx="2070154" cy="29718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6" name="Rectangle 7"/>
          <p:cNvSpPr>
            <a:spLocks noGrp="1" noChangeAspect="1"/>
          </p:cNvSpPr>
          <p:nvPr>
            <p:ph type="pic" sz="quarter" idx="27"/>
          </p:nvPr>
        </p:nvSpPr>
        <p:spPr>
          <a:xfrm>
            <a:off x="5943600" y="4495800"/>
            <a:ext cx="2666999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 noChangeAspect="1"/>
          </p:cNvSpPr>
          <p:nvPr>
            <p:ph type="pic" sz="quarter" idx="28"/>
          </p:nvPr>
        </p:nvSpPr>
        <p:spPr>
          <a:xfrm>
            <a:off x="3033848" y="4495800"/>
            <a:ext cx="2757352" cy="187452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5 сверху: 3 книжных и 2 альбомны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/>
          <p:cNvSpPr>
            <a:spLocks noGrp="1"/>
          </p:cNvSpPr>
          <p:nvPr>
            <p:ph type="pic" sz="quarter" idx="26"/>
          </p:nvPr>
        </p:nvSpPr>
        <p:spPr>
          <a:xfrm>
            <a:off x="5121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3" name="Rectangle 7"/>
          <p:cNvSpPr>
            <a:spLocks noGrp="1"/>
          </p:cNvSpPr>
          <p:nvPr>
            <p:ph type="pic" sz="quarter" idx="29"/>
          </p:nvPr>
        </p:nvSpPr>
        <p:spPr>
          <a:xfrm>
            <a:off x="51213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0" name="Rectangle 7"/>
          <p:cNvSpPr>
            <a:spLocks noGrp="1"/>
          </p:cNvSpPr>
          <p:nvPr>
            <p:ph type="pic" sz="quarter" idx="30"/>
          </p:nvPr>
        </p:nvSpPr>
        <p:spPr>
          <a:xfrm>
            <a:off x="4718374" y="228600"/>
            <a:ext cx="39624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22" name="Rectangle 7"/>
          <p:cNvSpPr>
            <a:spLocks noGrp="1"/>
          </p:cNvSpPr>
          <p:nvPr>
            <p:ph type="pic" sz="quarter" idx="27"/>
          </p:nvPr>
        </p:nvSpPr>
        <p:spPr>
          <a:xfrm>
            <a:off x="32934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31" name="Rectangle 7"/>
          <p:cNvSpPr>
            <a:spLocks noGrp="1"/>
          </p:cNvSpPr>
          <p:nvPr>
            <p:ph type="pic" sz="quarter" idx="28"/>
          </p:nvPr>
        </p:nvSpPr>
        <p:spPr>
          <a:xfrm>
            <a:off x="6074734" y="3124200"/>
            <a:ext cx="2606040" cy="32766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Rectangle 6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9" name="Rectangle 8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3050273" y="16002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3048000" y="48768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8" name="Rectangle 7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сверху, квадратна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W¥ل云玗İαЂôÁûÂÚ丫:Pïçtúrê Plå¢éhõlðér 表¥鷗字㌍ 表_W 3"/>
          <p:cNvSpPr>
            <a:spLocks noGrp="1" noChangeAspect="1"/>
          </p:cNvSpPr>
          <p:nvPr>
            <p:ph type="pic" sz="quarter" idx="10"/>
          </p:nvPr>
        </p:nvSpPr>
        <p:spPr>
          <a:xfrm>
            <a:off x="4955273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6" name="W¥ل云玗İαЂôÁûÂÚ丫:Pïçtúrê Plå¢éhõlðér 表¥鷗字㌍ 表_W 5"/>
          <p:cNvSpPr>
            <a:spLocks noGrp="1" noChangeAspect="1"/>
          </p:cNvSpPr>
          <p:nvPr>
            <p:ph type="pic" sz="quarter" idx="14"/>
          </p:nvPr>
        </p:nvSpPr>
        <p:spPr>
          <a:xfrm>
            <a:off x="1143000" y="1371600"/>
            <a:ext cx="3198127" cy="3200400"/>
          </a:xfr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1588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7" name="W¥ل云玗İαЂÕØÚáÛ丫:Téxt Plàçèhòlðêr 表¥鷗字㌍_W 6"/>
          <p:cNvSpPr>
            <a:spLocks noGrp="1"/>
          </p:cNvSpPr>
          <p:nvPr>
            <p:ph type="body" sz="quarter" idx="15" hasCustomPrompt="1"/>
          </p:nvPr>
        </p:nvSpPr>
        <p:spPr>
          <a:xfrm>
            <a:off x="495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8" name="W¥ل云玗İαЂÕØÚáÛ丫:Téxt Plàçèhòlðêr 表¥鷗字㌍_W 7"/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48200"/>
            <a:ext cx="3200400" cy="12954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9" name="Rectangle 8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10" name="Rectangle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11" name="Rectangle 10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¥ل云玗İαЂôÁûÂÚ丫:Pïçtúrê Plå¢éhõlðér 表¥鷗字㌍ 表_W 2"/>
          <p:cNvSpPr>
            <a:spLocks noGrp="1"/>
          </p:cNvSpPr>
          <p:nvPr>
            <p:ph type="pic" sz="quarter" idx="30"/>
          </p:nvPr>
        </p:nvSpPr>
        <p:spPr>
          <a:xfrm>
            <a:off x="457200" y="2057400"/>
            <a:ext cx="8229600" cy="2743200"/>
          </a:xfrm>
          <a:prstGeom prst="rect">
            <a:avLst/>
          </a:prstGeom>
          <a:noFill/>
          <a:ln w="38100" cap="sq" cmpd="sng" algn="ctr">
            <a:solidFill>
              <a:schemeClr val="tx1"/>
            </a:solidFill>
            <a:prstDash val="solid"/>
            <a:miter lim="800000"/>
          </a:ln>
          <a:effectLst>
            <a:outerShdw blurRad="50800" dist="50800" dir="2700000" algn="tl" rotWithShape="0">
              <a:srgbClr val="000000">
                <a:alpha val="50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>
            <a:normAutofit/>
          </a:bodyPr>
          <a:lstStyle>
            <a:lvl1pPr marL="0" marR="0" indent="1588" algn="ctr" rtl="0" eaLnBrk="1" latinLnBrk="0" hangingPunct="1">
              <a:spcBef>
                <a:spcPct val="20000"/>
              </a:spcBef>
              <a:buFontTx/>
              <a:buNone/>
              <a:defRPr kumimoji="0" lang="ru-RU" sz="240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extLst/>
          </a:lstStyle>
          <a:p>
            <a:pPr marL="0" marR="0" indent="0" algn="ctr" eaLnBrk="1" latinLnBrk="0" hangingPunct="1"/>
            <a:r>
              <a:rPr lang="ru-RU" dirty="0"/>
              <a:t>Вставка рисунка</a:t>
            </a:r>
            <a:endParaRPr dirty="0"/>
          </a:p>
        </p:txBody>
      </p:sp>
      <p:sp>
        <p:nvSpPr>
          <p:cNvPr id="4" name="W¥ل云玗İαЂÕØÚáÛ丫:Téxt Plàçèhòlðêr 表¥鷗字㌍_W 3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" y="4876800"/>
            <a:ext cx="8229600" cy="1447800"/>
          </a:xfrm>
        </p:spPr>
        <p:txBody>
          <a:bodyPr tIns="91440" rIns="9144" bIns="91440" anchor="t"/>
          <a:lstStyle>
            <a:lvl1pPr marL="0" marR="0" indent="0" algn="l" eaLnBrk="1" latinLnBrk="0" hangingPunct="1">
              <a:buFontTx/>
              <a:buNone/>
              <a:defRPr kumimoji="0" lang="ru-RU" sz="1800" i="0"/>
            </a:lvl1pPr>
            <a:extLst/>
          </a:lstStyle>
          <a:p>
            <a:pPr lvl="0"/>
            <a:r>
              <a:rPr kumimoji="0" lang="ru-RU"/>
              <a:t>Надпись</a:t>
            </a:r>
          </a:p>
        </p:txBody>
      </p:sp>
      <p:sp>
        <p:nvSpPr>
          <p:cNvPr id="5" name="Rectangle 4"/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dirty="0"/>
          </a:p>
        </p:txBody>
      </p:sp>
      <p:sp>
        <p:nvSpPr>
          <p:cNvPr id="6" name="Rectangle 5"/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dirty="0"/>
          </a:p>
        </p:txBody>
      </p:sp>
      <p:sp>
        <p:nvSpPr>
          <p:cNvPr id="7" name="Rectangle 6"/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kumimoji="0" lang="ru-RU" dirty="0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pPr eaLnBrk="1" latinLnBrk="0" hangingPunct="1"/>
            <a:r>
              <a:rPr lang="ru-RU"/>
              <a:t>Образец заголовка</a:t>
            </a:r>
            <a:endParaRPr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/>
          </a:p>
        </p:txBody>
      </p:sp>
      <p:sp>
        <p:nvSpPr>
          <p:cNvPr id="2" name="Rectangle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2EC6F-6501-4E04-BD6C-A8A6CABB2C5B}" type="datetimeFigureOut">
              <a:rPr lang="ru-RU"/>
              <a:pPr/>
              <a:t>22.12.2021</a:t>
            </a:fld>
            <a:endParaRPr kumimoji="0" lang="ru-RU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ru-RU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3B0023-0CED-47F7-85AE-654F0B232C29}" type="slidenum">
              <a:rPr/>
              <a:pPr/>
              <a:t>‹#›</a:t>
            </a:fld>
            <a:endParaRPr kumimoji="0" lang="ru-RU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4" cstate="print">
            <a:alphaModFix amt="55000"/>
            <a:lum/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49362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eaLnBrk="1" latinLnBrk="0" hangingPunct="1"/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Rectangle 5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29" name="Rectangle 3"/>
          <p:cNvSpPr>
            <a:spLocks noGrp="1"/>
          </p:cNvSpPr>
          <p:nvPr>
            <p:ph type="dt" sz="half" idx="2"/>
          </p:nvPr>
        </p:nvSpPr>
        <p:spPr>
          <a:xfrm>
            <a:off x="66675" y="6559360"/>
            <a:ext cx="2438400" cy="244475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fld id="{F30C84A2-23CF-44F5-B813-5187ED5C7D1C}" type="datetimeFigureOut">
              <a:rPr kumimoji="0" lang="ru-RU" sz="1200">
                <a:solidFill>
                  <a:schemeClr val="tx2"/>
                </a:solidFill>
              </a:rPr>
              <a:pPr/>
              <a:t>22.12.2021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0" name="Rectangle 25"/>
          <p:cNvSpPr>
            <a:spLocks noGrp="1"/>
          </p:cNvSpPr>
          <p:nvPr>
            <p:ph type="ftr" sz="quarter" idx="3"/>
          </p:nvPr>
        </p:nvSpPr>
        <p:spPr>
          <a:xfrm>
            <a:off x="2995653" y="6558153"/>
            <a:ext cx="4648200" cy="246888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ctr"/>
            <a:endParaRPr kumimoji="0" lang="ru-RU" sz="1200" dirty="0">
              <a:solidFill>
                <a:schemeClr val="tx2"/>
              </a:solidFill>
            </a:endParaRPr>
          </a:p>
        </p:txBody>
      </p:sp>
      <p:sp>
        <p:nvSpPr>
          <p:cNvPr id="23" name="Rectangle 16"/>
          <p:cNvSpPr>
            <a:spLocks noGrp="1"/>
          </p:cNvSpPr>
          <p:nvPr>
            <p:ph type="sldNum" sz="quarter" idx="4"/>
          </p:nvPr>
        </p:nvSpPr>
        <p:spPr>
          <a:xfrm>
            <a:off x="8172450" y="6559360"/>
            <a:ext cx="914400" cy="244475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lang="ru-RU" sz="1200">
                <a:solidFill>
                  <a:schemeClr val="tx2"/>
                </a:solidFill>
              </a:defRPr>
            </a:lvl1pPr>
            <a:extLst/>
          </a:lstStyle>
          <a:p>
            <a:pPr algn="r"/>
            <a:fld id="{F99EC173-99AE-4773-AB25-02E469A13EAE}" type="slidenum">
              <a:rPr kumimoji="0" lang="ru-RU" sz="1200">
                <a:solidFill>
                  <a:schemeClr val="tx2"/>
                </a:solidFill>
              </a:rPr>
              <a:pPr algn="r"/>
              <a:t>‹#›</a:t>
            </a:fld>
            <a:endParaRPr kumimoji="0" lang="ru-RU" sz="1200" dirty="0">
              <a:solidFill>
                <a:schemeClr val="tx2"/>
              </a:solidFill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ransition>
    <p:fade/>
  </p:transition>
  <p:txStyles>
    <p:titleStyle>
      <a:lvl1pPr algn="l" rtl="0" eaLnBrk="1" latinLnBrk="0" hangingPunct="1">
        <a:spcBef>
          <a:spcPct val="0"/>
        </a:spcBef>
        <a:buNone/>
        <a:defRPr kumimoji="0" lang="ru-RU" sz="3200" cap="all" baseline="0">
          <a:solidFill>
            <a:schemeClr val="tx2"/>
          </a:solidFill>
          <a:effectLst>
            <a:outerShdw blurRad="51000" dist="370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 lang="ru-RU">
          <a:solidFill>
            <a:schemeClr val="tx2"/>
          </a:solidFill>
        </a:defRPr>
      </a:lvl2pPr>
      <a:lvl3pPr eaLnBrk="1" latinLnBrk="0" hangingPunct="1">
        <a:defRPr kumimoji="0" lang="ru-RU">
          <a:solidFill>
            <a:schemeClr val="tx2"/>
          </a:solidFill>
        </a:defRPr>
      </a:lvl3pPr>
      <a:lvl4pPr eaLnBrk="1" latinLnBrk="0" hangingPunct="1">
        <a:defRPr kumimoji="0" lang="ru-RU">
          <a:solidFill>
            <a:schemeClr val="tx2"/>
          </a:solidFill>
        </a:defRPr>
      </a:lvl4pPr>
      <a:lvl5pPr eaLnBrk="1" latinLnBrk="0" hangingPunct="1">
        <a:defRPr kumimoji="0" lang="ru-RU">
          <a:solidFill>
            <a:schemeClr val="tx2"/>
          </a:solidFill>
        </a:defRPr>
      </a:lvl5pPr>
      <a:lvl6pPr eaLnBrk="1" latinLnBrk="0" hangingPunct="1">
        <a:defRPr kumimoji="0" lang="ru-RU">
          <a:solidFill>
            <a:schemeClr val="tx2"/>
          </a:solidFill>
        </a:defRPr>
      </a:lvl6pPr>
      <a:lvl7pPr eaLnBrk="1" latinLnBrk="0" hangingPunct="1">
        <a:defRPr kumimoji="0" lang="ru-RU">
          <a:solidFill>
            <a:schemeClr val="tx2"/>
          </a:solidFill>
        </a:defRPr>
      </a:lvl7pPr>
      <a:lvl8pPr eaLnBrk="1" latinLnBrk="0" hangingPunct="1">
        <a:defRPr kumimoji="0" lang="ru-RU">
          <a:solidFill>
            <a:schemeClr val="tx2"/>
          </a:solidFill>
        </a:defRPr>
      </a:lvl8pPr>
      <a:lvl9pPr eaLnBrk="1" latinLnBrk="0" hangingPunct="1">
        <a:defRPr kumimoji="0" lang="ru-RU">
          <a:solidFill>
            <a:schemeClr val="tx2"/>
          </a:solidFill>
        </a:defRPr>
      </a:lvl9pPr>
      <a:extLst/>
    </p:titleStyle>
    <p:bodyStyle>
      <a:lvl1pPr marL="342900" indent="-342900" algn="l" rtl="0" eaLnBrk="1" latinLnBrk="0" hangingPunct="1">
        <a:spcBef>
          <a:spcPct val="20000"/>
        </a:spcBef>
        <a:buChar char="•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har char="–"/>
        <a:defRPr kumimoji="0" lang="ru-RU"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har char="–"/>
        <a:defRPr kumimoji="0" lang="ru-RU"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har char="»"/>
        <a:defRPr kumimoji="0" lang="ru-RU" sz="16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Char char="•"/>
        <a:defRPr kumimoji="0" lang="ru-RU" sz="20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lang="ru-RU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Relationship Id="rId4" Type="http://schemas.openxmlformats.org/officeDocument/2006/relationships/slide" Target="slide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 descr="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79512" y="0"/>
            <a:ext cx="2420888" cy="2420888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0" y="6021288"/>
            <a:ext cx="874846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b="1" i="1" dirty="0">
                <a:ln w="50800"/>
                <a:solidFill>
                  <a:schemeClr val="bg1">
                    <a:shade val="50000"/>
                  </a:schemeClr>
                </a:solidFill>
              </a:rPr>
              <a:t>Зуев Александр</a:t>
            </a:r>
            <a:endParaRPr lang="ru-RU" sz="3600" b="1" i="1" dirty="0">
              <a:ln w="50800"/>
              <a:solidFill>
                <a:schemeClr val="bg1">
                  <a:shade val="50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31840" y="1844824"/>
            <a:ext cx="5760640" cy="30469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r"/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Разработка веб-страниц на языке разметки HTML5 с</a:t>
            </a:r>
            <a:r>
              <a:rPr lang="en-US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sz="3200" b="1" dirty="0">
                <a:ln w="50800"/>
                <a:solidFill>
                  <a:schemeClr val="bg1">
                    <a:shade val="50000"/>
                  </a:schemeClr>
                </a:solidFill>
              </a:rPr>
              <a:t>использованием каскадных таблиц стилей CSS3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9. 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Формы. Фреймы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1.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Введение в формы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378565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HTML-формы</a:t>
            </a:r>
            <a:r>
              <a:rPr lang="ru-RU" sz="2000" dirty="0">
                <a:solidFill>
                  <a:schemeClr val="bg1"/>
                </a:solidFill>
              </a:rPr>
              <a:t> являются элементами управления, которые применяются для сбора информации от посетителей </a:t>
            </a:r>
            <a:r>
              <a:rPr lang="ru-RU" sz="2000" dirty="0" err="1">
                <a:solidFill>
                  <a:schemeClr val="bg1"/>
                </a:solidFill>
              </a:rPr>
              <a:t>веб-сайта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 err="1">
                <a:solidFill>
                  <a:schemeClr val="bg1"/>
                </a:solidFill>
              </a:rPr>
              <a:t>Веб-формы</a:t>
            </a:r>
            <a:r>
              <a:rPr lang="ru-RU" sz="2000" dirty="0">
                <a:solidFill>
                  <a:schemeClr val="bg1"/>
                </a:solidFill>
              </a:rPr>
              <a:t> состоят из набора текстовых полей, кнопок, списков и других элементов управления, которые активизируются щелчком мыши. Технически формы передают данные от пользователя удаленному серверу.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Для получения и обработки данных форм используются языки </a:t>
            </a:r>
            <a:r>
              <a:rPr lang="ru-RU" sz="2000" dirty="0" err="1">
                <a:solidFill>
                  <a:schemeClr val="bg1"/>
                </a:solidFill>
              </a:rPr>
              <a:t>веб-программирования</a:t>
            </a:r>
            <a:r>
              <a:rPr lang="ru-RU" sz="2000" dirty="0">
                <a:solidFill>
                  <a:schemeClr val="bg1"/>
                </a:solidFill>
              </a:rPr>
              <a:t>, такие как </a:t>
            </a:r>
            <a:r>
              <a:rPr lang="ru-RU" sz="2000" b="1" dirty="0">
                <a:solidFill>
                  <a:schemeClr val="bg1"/>
                </a:solidFill>
              </a:rPr>
              <a:t>PHP</a:t>
            </a:r>
            <a:r>
              <a:rPr lang="ru-RU" sz="2000" dirty="0">
                <a:solidFill>
                  <a:schemeClr val="bg1"/>
                </a:solidFill>
              </a:rPr>
              <a:t>, </a:t>
            </a:r>
            <a:r>
              <a:rPr lang="ru-RU" sz="2000" b="1" dirty="0" err="1">
                <a:solidFill>
                  <a:schemeClr val="bg1"/>
                </a:solidFill>
              </a:rPr>
              <a:t>Perl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34778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До появления HTML5 </a:t>
            </a:r>
            <a:r>
              <a:rPr lang="ru-RU" sz="2000" dirty="0" err="1">
                <a:solidFill>
                  <a:schemeClr val="bg1"/>
                </a:solidFill>
              </a:rPr>
              <a:t>веб-формы</a:t>
            </a:r>
            <a:r>
              <a:rPr lang="ru-RU" sz="2000" dirty="0">
                <a:solidFill>
                  <a:schemeClr val="bg1"/>
                </a:solidFill>
              </a:rPr>
              <a:t> представляли собой набор нескольких элементов &lt;</a:t>
            </a:r>
            <a:r>
              <a:rPr lang="ru-RU" sz="2000" dirty="0" err="1">
                <a:solidFill>
                  <a:schemeClr val="bg1"/>
                </a:solidFill>
              </a:rPr>
              <a:t>input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type=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text</a:t>
            </a:r>
            <a:r>
              <a:rPr lang="ru-RU" sz="2000" dirty="0">
                <a:solidFill>
                  <a:schemeClr val="bg1"/>
                </a:solidFill>
              </a:rPr>
              <a:t>"&gt;, &lt;</a:t>
            </a:r>
            <a:r>
              <a:rPr lang="ru-RU" sz="2000" dirty="0" err="1">
                <a:solidFill>
                  <a:schemeClr val="bg1"/>
                </a:solidFill>
              </a:rPr>
              <a:t>input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type=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password</a:t>
            </a:r>
            <a:r>
              <a:rPr lang="ru-RU" sz="2000" dirty="0">
                <a:solidFill>
                  <a:schemeClr val="bg1"/>
                </a:solidFill>
              </a:rPr>
              <a:t>"&gt;, завершающихся кнопкой &lt;</a:t>
            </a:r>
            <a:r>
              <a:rPr lang="ru-RU" sz="2000" dirty="0" err="1">
                <a:solidFill>
                  <a:schemeClr val="bg1"/>
                </a:solidFill>
              </a:rPr>
              <a:t>input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type=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submit</a:t>
            </a:r>
            <a:r>
              <a:rPr lang="ru-RU" sz="2000" dirty="0">
                <a:solidFill>
                  <a:schemeClr val="bg1"/>
                </a:solidFill>
              </a:rPr>
              <a:t>"&gt;. 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Для стилизации форм в разных браузерах приходилось прилагать немало усилий. 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Кроме того, формы требовали применения </a:t>
            </a:r>
            <a:r>
              <a:rPr lang="ru-RU" sz="2000" dirty="0" err="1">
                <a:solidFill>
                  <a:schemeClr val="bg1"/>
                </a:solidFill>
              </a:rPr>
              <a:t>JavaScript</a:t>
            </a:r>
            <a:r>
              <a:rPr lang="ru-RU" sz="2000" dirty="0">
                <a:solidFill>
                  <a:schemeClr val="bg1"/>
                </a:solidFill>
              </a:rPr>
              <a:t> для проверки введенных данных, а также были лишены специфических типов полей ввода для указания повседневной информации типа дат, адресов электронной почты и URL-адресов.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31700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Основу любой формы составляет элемент &lt;form&gt;...&lt;/form&gt;. Он не предусматривает ввод данных, так как является контейнером, удерживая вместе все элементы управления формы – </a:t>
            </a:r>
            <a:r>
              <a:rPr lang="ru-RU" sz="2000" b="1" dirty="0">
                <a:solidFill>
                  <a:schemeClr val="bg1"/>
                </a:solidFill>
              </a:rPr>
              <a:t>поля</a:t>
            </a:r>
            <a:r>
              <a:rPr lang="ru-RU" sz="2000" dirty="0">
                <a:solidFill>
                  <a:schemeClr val="bg1"/>
                </a:solidFill>
              </a:rPr>
              <a:t>. Атрибуты этого элемента содержат информацию, общую для всех полей формы, поэтому в одну форму нужно включать поля, объединенные логически.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&lt;form&gt;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&lt;/form&gt;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2.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Управляющие элементы форм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Из состоит форма?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pPr algn="ctr"/>
            <a:r>
              <a:rPr lang="ru-RU" sz="2000" b="1" u="sng" dirty="0">
                <a:solidFill>
                  <a:schemeClr val="bg1"/>
                </a:solidFill>
              </a:rPr>
              <a:t>Поле для ввода текста и кнопка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262508" y="1844824"/>
            <a:ext cx="13754351" cy="4330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206210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Кнопки бывают</a:t>
            </a:r>
          </a:p>
          <a:p>
            <a:endParaRPr lang="ru-RU" sz="2000" b="1" u="sng" dirty="0">
              <a:solidFill>
                <a:schemeClr val="bg1"/>
              </a:solidFill>
            </a:endParaRPr>
          </a:p>
          <a:p>
            <a:endParaRPr lang="ru-RU" sz="2000" b="1" u="sng" dirty="0">
              <a:solidFill>
                <a:schemeClr val="bg1"/>
              </a:solidFill>
            </a:endParaRPr>
          </a:p>
          <a:p>
            <a:r>
              <a:rPr lang="ru-RU" sz="2000" b="1" dirty="0" err="1">
                <a:solidFill>
                  <a:schemeClr val="bg1"/>
                </a:solidFill>
              </a:rPr>
              <a:t>button</a:t>
            </a:r>
            <a:r>
              <a:rPr lang="ru-RU" sz="2000" b="1" dirty="0">
                <a:solidFill>
                  <a:schemeClr val="bg1"/>
                </a:solidFill>
              </a:rPr>
              <a:t> </a:t>
            </a:r>
            <a:r>
              <a:rPr lang="ru-RU" sz="2000" dirty="0">
                <a:solidFill>
                  <a:schemeClr val="bg1"/>
                </a:solidFill>
              </a:rPr>
              <a:t>— </a:t>
            </a:r>
            <a:r>
              <a:rPr lang="ru-RU" sz="2000" dirty="0" err="1">
                <a:solidFill>
                  <a:schemeClr val="bg1"/>
                </a:solidFill>
              </a:rPr>
              <a:t>кликабельная</a:t>
            </a:r>
            <a:r>
              <a:rPr lang="ru-RU" sz="2000" dirty="0">
                <a:solidFill>
                  <a:schemeClr val="bg1"/>
                </a:solidFill>
              </a:rPr>
              <a:t> кнопка</a:t>
            </a:r>
            <a:br>
              <a:rPr lang="ru-RU" sz="2000" b="1" dirty="0">
                <a:solidFill>
                  <a:schemeClr val="bg1"/>
                </a:solidFill>
              </a:rPr>
            </a:br>
            <a:r>
              <a:rPr lang="ru-RU" sz="2000" b="1" dirty="0" err="1">
                <a:solidFill>
                  <a:schemeClr val="bg1"/>
                </a:solidFill>
              </a:rPr>
              <a:t>reset</a:t>
            </a:r>
            <a:r>
              <a:rPr lang="ru-RU" sz="2000" b="1" dirty="0">
                <a:solidFill>
                  <a:schemeClr val="bg1"/>
                </a:solidFill>
              </a:rPr>
              <a:t> </a:t>
            </a:r>
            <a:r>
              <a:rPr lang="ru-RU" sz="2000" dirty="0">
                <a:solidFill>
                  <a:schemeClr val="bg1"/>
                </a:solidFill>
              </a:rPr>
              <a:t>— </a:t>
            </a:r>
            <a:r>
              <a:rPr lang="ru-RU" sz="2000" dirty="0" err="1">
                <a:solidFill>
                  <a:schemeClr val="bg1"/>
                </a:solidFill>
              </a:rPr>
              <a:t>кнопка</a:t>
            </a:r>
            <a:r>
              <a:rPr lang="ru-RU" sz="2000" dirty="0">
                <a:solidFill>
                  <a:schemeClr val="bg1"/>
                </a:solidFill>
              </a:rPr>
              <a:t> сброса, возвращает первоначальное значение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b="1" dirty="0" err="1">
                <a:solidFill>
                  <a:schemeClr val="bg1"/>
                </a:solidFill>
              </a:rPr>
              <a:t>submit</a:t>
            </a:r>
            <a:r>
              <a:rPr lang="ru-RU" sz="2000" b="1" dirty="0">
                <a:solidFill>
                  <a:schemeClr val="bg1"/>
                </a:solidFill>
              </a:rPr>
              <a:t> </a:t>
            </a:r>
            <a:r>
              <a:rPr lang="ru-RU" sz="2000" dirty="0">
                <a:solidFill>
                  <a:schemeClr val="bg1"/>
                </a:solidFill>
              </a:rPr>
              <a:t>— кнопка для отправки данных формы.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Так же в</a:t>
            </a:r>
            <a:r>
              <a:rPr lang="en-US" sz="2800" b="1" dirty="0">
                <a:solidFill>
                  <a:schemeClr val="bg1"/>
                </a:solidFill>
              </a:rPr>
              <a:t> html </a:t>
            </a:r>
            <a:r>
              <a:rPr lang="ru-RU" sz="2800" b="1" dirty="0">
                <a:solidFill>
                  <a:schemeClr val="bg1"/>
                </a:solidFill>
              </a:rPr>
              <a:t>форме могут быть</a:t>
            </a:r>
          </a:p>
          <a:p>
            <a:endParaRPr lang="ru-RU" sz="2400" b="1" dirty="0">
              <a:solidFill>
                <a:schemeClr val="bg1"/>
              </a:solidFill>
            </a:endParaRPr>
          </a:p>
          <a:p>
            <a:r>
              <a:rPr lang="ru-RU" sz="2400" b="1" dirty="0">
                <a:solidFill>
                  <a:schemeClr val="bg1"/>
                </a:solidFill>
              </a:rPr>
              <a:t>Флажки = список </a:t>
            </a:r>
            <a:r>
              <a:rPr lang="en-US" sz="2400" b="1" dirty="0">
                <a:solidFill>
                  <a:schemeClr val="bg1"/>
                </a:solidFill>
              </a:rPr>
              <a:t>checkbox</a:t>
            </a:r>
            <a:r>
              <a:rPr lang="ru-RU" sz="2400" b="1" dirty="0">
                <a:solidFill>
                  <a:schemeClr val="bg1"/>
                </a:solidFill>
              </a:rPr>
              <a:t>, выбрать можно как одно значение, так все.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2780928"/>
            <a:ext cx="7374658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Так же в</a:t>
            </a:r>
            <a:r>
              <a:rPr lang="en-US" sz="2800" b="1" dirty="0">
                <a:solidFill>
                  <a:schemeClr val="bg1"/>
                </a:solidFill>
              </a:rPr>
              <a:t> html </a:t>
            </a:r>
            <a:r>
              <a:rPr lang="ru-RU" sz="2800" b="1" dirty="0">
                <a:solidFill>
                  <a:schemeClr val="bg1"/>
                </a:solidFill>
              </a:rPr>
              <a:t>форме могут быть</a:t>
            </a:r>
          </a:p>
          <a:p>
            <a:endParaRPr lang="ru-RU" sz="2400" b="1" dirty="0">
              <a:solidFill>
                <a:schemeClr val="bg1"/>
              </a:solidFill>
            </a:endParaRPr>
          </a:p>
          <a:p>
            <a:r>
              <a:rPr lang="ru-RU" sz="2400" b="1" dirty="0">
                <a:solidFill>
                  <a:schemeClr val="bg1"/>
                </a:solidFill>
              </a:rPr>
              <a:t>Кнопки с зависимой фиксацией = список </a:t>
            </a:r>
            <a:r>
              <a:rPr lang="en-US" sz="2400" b="1" dirty="0">
                <a:solidFill>
                  <a:schemeClr val="bg1"/>
                </a:solidFill>
              </a:rPr>
              <a:t>radio</a:t>
            </a:r>
            <a:r>
              <a:rPr lang="ru-RU" sz="2400" b="1" dirty="0">
                <a:solidFill>
                  <a:schemeClr val="bg1"/>
                </a:solidFill>
              </a:rPr>
              <a:t>, выбрать можно только одно значение.</a:t>
            </a:r>
            <a:endParaRPr lang="ru-RU" dirty="0">
              <a:solidFill>
                <a:schemeClr val="bg1"/>
              </a:solidFill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19086" y="2862263"/>
            <a:ext cx="7322563" cy="22229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27392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Так же в</a:t>
            </a:r>
            <a:r>
              <a:rPr lang="en-US" sz="2800" b="1" dirty="0">
                <a:solidFill>
                  <a:schemeClr val="bg1"/>
                </a:solidFill>
              </a:rPr>
              <a:t> html </a:t>
            </a:r>
            <a:r>
              <a:rPr lang="ru-RU" sz="2800" b="1" dirty="0">
                <a:solidFill>
                  <a:schemeClr val="bg1"/>
                </a:solidFill>
              </a:rPr>
              <a:t>форме могут быть</a:t>
            </a:r>
          </a:p>
          <a:p>
            <a:endParaRPr lang="ru-RU" sz="2400" b="1" dirty="0">
              <a:solidFill>
                <a:schemeClr val="bg1"/>
              </a:solidFill>
            </a:endParaRPr>
          </a:p>
          <a:p>
            <a:r>
              <a:rPr lang="ru-RU" sz="2400" b="1" dirty="0">
                <a:solidFill>
                  <a:schemeClr val="bg1"/>
                </a:solidFill>
              </a:rPr>
              <a:t>Всплывающий список = раскрывающийся список</a:t>
            </a:r>
            <a:r>
              <a:rPr lang="en-US" sz="2400" b="1" dirty="0">
                <a:solidFill>
                  <a:schemeClr val="bg1"/>
                </a:solidFill>
              </a:rPr>
              <a:t> = </a:t>
            </a:r>
            <a:r>
              <a:rPr lang="ru-RU" sz="2400" b="1" dirty="0">
                <a:solidFill>
                  <a:schemeClr val="bg1"/>
                </a:solidFill>
              </a:rPr>
              <a:t>Список множественного выбора</a:t>
            </a:r>
          </a:p>
          <a:p>
            <a:endParaRPr lang="ru-RU" sz="2400" b="1" dirty="0">
              <a:solidFill>
                <a:schemeClr val="bg1"/>
              </a:solidFill>
            </a:endParaRPr>
          </a:p>
          <a:p>
            <a:r>
              <a:rPr lang="ru-RU" sz="2400" b="1" dirty="0">
                <a:solidFill>
                  <a:schemeClr val="bg1"/>
                </a:solidFill>
              </a:rPr>
              <a:t>Возможно выбрать одно или несколько значений нажав </a:t>
            </a:r>
            <a:r>
              <a:rPr lang="en-US" sz="2400" b="1" dirty="0">
                <a:solidFill>
                  <a:schemeClr val="bg1"/>
                </a:solidFill>
              </a:rPr>
              <a:t>ctrl </a:t>
            </a:r>
            <a:r>
              <a:rPr lang="ru-RU" sz="2400" b="1" dirty="0">
                <a:solidFill>
                  <a:schemeClr val="bg1"/>
                </a:solidFill>
              </a:rPr>
              <a:t>или </a:t>
            </a:r>
            <a:r>
              <a:rPr lang="en-US" sz="2400" b="1" dirty="0">
                <a:solidFill>
                  <a:schemeClr val="bg1"/>
                </a:solidFill>
              </a:rPr>
              <a:t>shift</a:t>
            </a:r>
            <a:r>
              <a:rPr lang="ru-RU" sz="2400" b="1" dirty="0">
                <a:solidFill>
                  <a:schemeClr val="bg1"/>
                </a:solidFill>
              </a:rPr>
              <a:t> 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22" name="AutoShape 2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4" name="AutoShape 4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6" name="AutoShape 6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8" name="AutoShape 8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3" cstate="print"/>
          <a:srcRect l="31893" t="43399" r="39757" b="42601"/>
          <a:stretch>
            <a:fillRect/>
          </a:stretch>
        </p:blipFill>
        <p:spPr bwMode="auto">
          <a:xfrm>
            <a:off x="3851920" y="2924944"/>
            <a:ext cx="5962260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1" y="4797152"/>
            <a:ext cx="6665131" cy="1656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27392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Так же в</a:t>
            </a:r>
            <a:r>
              <a:rPr lang="en-US" sz="2800" b="1" dirty="0">
                <a:solidFill>
                  <a:schemeClr val="bg1"/>
                </a:solidFill>
              </a:rPr>
              <a:t> html </a:t>
            </a:r>
            <a:r>
              <a:rPr lang="ru-RU" sz="2800" b="1" dirty="0">
                <a:solidFill>
                  <a:schemeClr val="bg1"/>
                </a:solidFill>
              </a:rPr>
              <a:t>форме могут быть</a:t>
            </a:r>
          </a:p>
          <a:p>
            <a:endParaRPr lang="ru-RU" sz="2400" b="1" dirty="0">
              <a:solidFill>
                <a:schemeClr val="bg1"/>
              </a:solidFill>
            </a:endParaRPr>
          </a:p>
          <a:p>
            <a:r>
              <a:rPr lang="ru-RU" sz="2400" b="1" dirty="0">
                <a:solidFill>
                  <a:schemeClr val="bg1"/>
                </a:solidFill>
              </a:rPr>
              <a:t>Текстовое поле </a:t>
            </a:r>
            <a:r>
              <a:rPr lang="en-US" sz="2400" b="1" dirty="0" err="1">
                <a:solidFill>
                  <a:schemeClr val="bg1"/>
                </a:solidFill>
              </a:rPr>
              <a:t>textarea</a:t>
            </a:r>
            <a:endParaRPr lang="ru-RU" sz="2400" b="1" dirty="0">
              <a:solidFill>
                <a:schemeClr val="bg1"/>
              </a:solidFill>
            </a:endParaRPr>
          </a:p>
          <a:p>
            <a:endParaRPr lang="ru-RU" sz="2400" b="1" dirty="0">
              <a:solidFill>
                <a:schemeClr val="bg1"/>
              </a:solidFill>
            </a:endParaRPr>
          </a:p>
          <a:p>
            <a:r>
              <a:rPr lang="ru-RU" sz="2400" b="1" dirty="0">
                <a:solidFill>
                  <a:schemeClr val="bg1"/>
                </a:solidFill>
              </a:rPr>
              <a:t>Возможность увеличить размер окна для текста, а так же возможность ввести практически не ограниченное кол-во символов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22" name="AutoShape 2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4" name="AutoShape 4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6" name="AutoShape 6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8" name="AutoShape 8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758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1876" y="3933056"/>
            <a:ext cx="8449778" cy="2246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310854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Так же в</a:t>
            </a:r>
            <a:r>
              <a:rPr lang="en-US" sz="2800" b="1" dirty="0">
                <a:solidFill>
                  <a:schemeClr val="bg1"/>
                </a:solidFill>
              </a:rPr>
              <a:t> html </a:t>
            </a:r>
            <a:r>
              <a:rPr lang="ru-RU" sz="2800" b="1" dirty="0">
                <a:solidFill>
                  <a:schemeClr val="bg1"/>
                </a:solidFill>
              </a:rPr>
              <a:t>форме могут быть</a:t>
            </a:r>
          </a:p>
          <a:p>
            <a:endParaRPr lang="ru-RU" sz="2400" b="1" dirty="0">
              <a:solidFill>
                <a:schemeClr val="bg1"/>
              </a:solidFill>
            </a:endParaRPr>
          </a:p>
          <a:p>
            <a:r>
              <a:rPr lang="ru-RU" sz="2400" b="1" dirty="0">
                <a:solidFill>
                  <a:schemeClr val="bg1"/>
                </a:solidFill>
              </a:rPr>
              <a:t>Загрузка файлов</a:t>
            </a:r>
          </a:p>
          <a:p>
            <a:endParaRPr lang="ru-RU" sz="2400" b="1" dirty="0">
              <a:solidFill>
                <a:schemeClr val="bg1"/>
              </a:solidFill>
            </a:endParaRPr>
          </a:p>
          <a:p>
            <a:r>
              <a:rPr lang="ru-RU" sz="2400" b="1" dirty="0">
                <a:solidFill>
                  <a:schemeClr val="bg1"/>
                </a:solidFill>
              </a:rPr>
              <a:t>Возможность выставить ограничение в размере файла, в кол-ве файлов и формате файлов.</a:t>
            </a:r>
          </a:p>
          <a:p>
            <a:endParaRPr lang="ru-RU" sz="2400" b="1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Максимально допустимый размер файла зависит от настроек сервера!</a:t>
            </a:r>
          </a:p>
        </p:txBody>
      </p:sp>
      <p:sp>
        <p:nvSpPr>
          <p:cNvPr id="5122" name="AutoShape 2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4" name="AutoShape 4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6" name="AutoShape 6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8" name="AutoShape 8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511" y="4365104"/>
            <a:ext cx="8630672" cy="1246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27392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800" b="1" dirty="0">
                <a:solidFill>
                  <a:schemeClr val="bg1"/>
                </a:solidFill>
              </a:rPr>
              <a:t>Так же в</a:t>
            </a:r>
            <a:r>
              <a:rPr lang="en-US" sz="2800" b="1" dirty="0">
                <a:solidFill>
                  <a:schemeClr val="bg1"/>
                </a:solidFill>
              </a:rPr>
              <a:t> html </a:t>
            </a:r>
            <a:r>
              <a:rPr lang="ru-RU" sz="2800" b="1" dirty="0">
                <a:solidFill>
                  <a:schemeClr val="bg1"/>
                </a:solidFill>
              </a:rPr>
              <a:t>форме могут быть</a:t>
            </a:r>
          </a:p>
          <a:p>
            <a:endParaRPr lang="ru-RU" sz="2400" b="1" dirty="0">
              <a:solidFill>
                <a:schemeClr val="bg1"/>
              </a:solidFill>
            </a:endParaRPr>
          </a:p>
          <a:p>
            <a:r>
              <a:rPr lang="ru-RU" sz="2400" b="1" dirty="0">
                <a:solidFill>
                  <a:schemeClr val="bg1"/>
                </a:solidFill>
              </a:rPr>
              <a:t>Скрытые поля</a:t>
            </a:r>
          </a:p>
          <a:p>
            <a:endParaRPr lang="ru-RU" sz="2400" b="1" dirty="0">
              <a:solidFill>
                <a:schemeClr val="bg1"/>
              </a:solidFill>
            </a:endParaRPr>
          </a:p>
          <a:p>
            <a:r>
              <a:rPr lang="ru-RU" sz="2400" b="1" dirty="0">
                <a:solidFill>
                  <a:schemeClr val="bg1"/>
                </a:solidFill>
              </a:rPr>
              <a:t>Необходимы для передачи скрытых от глаз пользователя данных, например адрес страницы от куда отправлена форма или данные </a:t>
            </a:r>
            <a:r>
              <a:rPr lang="en-US" sz="2400" b="1" dirty="0" err="1">
                <a:solidFill>
                  <a:schemeClr val="bg1"/>
                </a:solidFill>
              </a:rPr>
              <a:t>ip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ru-RU" sz="2400" b="1" dirty="0">
                <a:solidFill>
                  <a:schemeClr val="bg1"/>
                </a:solidFill>
              </a:rPr>
              <a:t>адреса</a:t>
            </a:r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5122" name="AutoShape 2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4" name="AutoShape 4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6" name="AutoShape 6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128" name="AutoShape 8" descr="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3.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Создание форм при помощи HTML</a:t>
            </a:r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Элемент </a:t>
            </a:r>
            <a:r>
              <a:rPr lang="en-US" sz="2000" b="1" dirty="0">
                <a:solidFill>
                  <a:schemeClr val="bg1"/>
                </a:solidFill>
              </a:rPr>
              <a:t>&lt;form&gt; &lt;/form&gt;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Это основа любой формы не предусматривающий ввод данных, потому что это контейнер содержащий в себе элементы формы – поля.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Атрибуты </a:t>
            </a:r>
            <a:r>
              <a:rPr lang="en-US" sz="2000" dirty="0">
                <a:solidFill>
                  <a:schemeClr val="bg1"/>
                </a:solidFill>
              </a:rPr>
              <a:t>&lt;form&gt; </a:t>
            </a:r>
            <a:r>
              <a:rPr lang="ru-RU" sz="2000" dirty="0">
                <a:solidFill>
                  <a:schemeClr val="bg1"/>
                </a:solidFill>
              </a:rPr>
              <a:t>содержат информацию для всех полей. А так же инструкцию куда перейти после нажатия на кнопку отправить, и каким файлом обрабатывать нашу форму.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476672"/>
          <a:ext cx="8617158" cy="583264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1232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accept-</a:t>
                      </a:r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charset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13207" marR="13207" marT="4402" marB="4402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Значение атрибута представляет собой разделенный пробелами список кодировок символов, которые будут использоваться для отправки формы, например, &lt;form 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accept-charset=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"ISO-8859-1 </a:t>
                      </a:r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UTF-8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"&gt;.</a:t>
                      </a:r>
                    </a:p>
                  </a:txBody>
                  <a:tcPr marL="13207" marR="13207" marT="4402" marB="44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773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action</a:t>
                      </a:r>
                    </a:p>
                  </a:txBody>
                  <a:tcPr marL="13207" marR="13207" marT="4402" marB="4402" anchor="ctr"/>
                </a:tc>
                <a:tc>
                  <a:txBody>
                    <a:bodyPr/>
                    <a:lstStyle/>
                    <a:p>
                      <a:r>
                        <a:rPr lang="ru-RU" sz="1800" b="1" dirty="0">
                          <a:solidFill>
                            <a:schemeClr val="bg1"/>
                          </a:solidFill>
                        </a:rPr>
                        <a:t>Обязательный атрибут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, указывающий</a:t>
                      </a:r>
                      <a:r>
                        <a:rPr lang="ru-RU" sz="18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en-US" sz="1800" baseline="0" dirty="0" err="1">
                          <a:solidFill>
                            <a:schemeClr val="bg1"/>
                          </a:solidFill>
                        </a:rPr>
                        <a:t>url</a:t>
                      </a:r>
                      <a:r>
                        <a:rPr lang="en-US" sz="1800" baseline="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sz="1800" baseline="0" dirty="0">
                          <a:solidFill>
                            <a:schemeClr val="bg1"/>
                          </a:solidFill>
                        </a:rPr>
                        <a:t>адрес на файл который обрабатывает форму к примеру </a:t>
                      </a:r>
                      <a:r>
                        <a:rPr lang="en-US" sz="1800" baseline="0" dirty="0">
                          <a:solidFill>
                            <a:schemeClr val="bg1"/>
                          </a:solidFill>
                        </a:rPr>
                        <a:t>form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.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php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, в котором описано, что нужно делать с данными формы. </a:t>
                      </a:r>
                    </a:p>
                    <a:p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r>
                        <a:rPr lang="ru-RU" sz="1400" i="1" dirty="0">
                          <a:solidFill>
                            <a:schemeClr val="bg1"/>
                          </a:solidFill>
                        </a:rPr>
                        <a:t>Если значение атрибута не будет указано, то после перезагрузки страницы элементы формы примут значения по умолчанию.</a:t>
                      </a:r>
                    </a:p>
                    <a:p>
                      <a:pPr algn="l"/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  <a:p>
                      <a:pPr algn="l"/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В случае, если вся работа будет выполняться на стороне клиента сценариями 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JavaScript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, то для атрибута 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action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 можно указать значение #.</a:t>
                      </a:r>
                    </a:p>
                  </a:txBody>
                  <a:tcPr marL="13207" marR="13207" marT="4402" marB="44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62594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autocomplete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13207" marR="13207" marT="4402" marB="4402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Отвечает за запоминание введенных в текстовое поле значений и 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автоподстановку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 их при последующем вводе:</a:t>
                      </a:r>
                      <a:br>
                        <a:rPr lang="ru-RU" sz="18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on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 — означает, что поле не защищено, и его значение можно сохранять и извлекать, 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off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 — отключает 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автозаполнение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 для полей форм.</a:t>
                      </a:r>
                    </a:p>
                  </a:txBody>
                  <a:tcPr marL="13207" marR="13207" marT="4402" marB="44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476672"/>
          <a:ext cx="8617158" cy="605264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21699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enctype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13207" marR="13207" marT="4402" marB="4402" anchor="ctr"/>
                </a:tc>
                <a:tc>
                  <a:txBody>
                    <a:bodyPr/>
                    <a:lstStyle/>
                    <a:p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Определяет способ кодирования данных формы при их отправке. Допускается использовать только если значение атрибута method имеет значение 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post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endParaRPr kumimoji="0" lang="ru-RU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ru-RU" sz="1800" b="1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application</a:t>
                      </a:r>
                      <a:r>
                        <a:rPr kumimoji="0" lang="ru-RU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ru-RU" sz="1800" b="1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x-www-form-urlencoded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- Вместо пробелов ставится +, символы вроде русских букв кодируются их шестнадцатеричными значениями (например, %D0%90%D0%BD%D1%8F вместо Аня). </a:t>
                      </a:r>
                      <a:r>
                        <a:rPr kumimoji="0" lang="ru-RU" sz="1800" i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Используется</a:t>
                      </a:r>
                      <a:r>
                        <a:rPr kumimoji="0" lang="ru-RU" sz="1800" i="1" baseline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по умолчанию.</a:t>
                      </a:r>
                      <a:endParaRPr kumimoji="0" lang="ru-RU" sz="1800" i="1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kumimoji="0" lang="ru-RU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ru-RU" sz="1800" b="1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multipart</a:t>
                      </a:r>
                      <a:r>
                        <a:rPr kumimoji="0" lang="ru-RU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ru-RU" sz="1800" b="1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form-data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- Данные не кодируются. Это значение применяется при отправке файлов.</a:t>
                      </a:r>
                    </a:p>
                    <a:p>
                      <a:endParaRPr kumimoji="0" lang="ru-RU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0" lang="ru-RU" sz="1800" b="1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text</a:t>
                      </a:r>
                      <a:r>
                        <a:rPr kumimoji="0" lang="ru-RU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ru-RU" sz="1800" b="1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plain</a:t>
                      </a:r>
                      <a:r>
                        <a:rPr kumimoji="0" lang="ru-RU" sz="1800" b="1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- 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Пробелы заменяются знаком +, буквы и другие символы не кодируются.</a:t>
                      </a:r>
                    </a:p>
                    <a:p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 marL="13207" marR="13207" marT="4402" marB="44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954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marL="13207" marR="13207" marT="4402" marB="4402" anchor="ctr"/>
                </a:tc>
                <a:tc>
                  <a:txBody>
                    <a:bodyPr/>
                    <a:lstStyle/>
                    <a:p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Определяет уникальное имя формы. Как правило, имя формы используется для доступа к ее элементам через 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скрипты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 В качестве имени используется набор символов, включая числа и буквы. 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JavaScript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чувствителен к регистру, поэтому при обращении к форме по имени через 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скрипты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соблюдайте то же написание, что и в атрибуте 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3207" marR="13207" marT="4402" marB="44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1"/>
          <a:ext cx="8617158" cy="6691969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4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1087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method</a:t>
                      </a:r>
                    </a:p>
                  </a:txBody>
                  <a:tcPr marL="13207" marR="13207" marT="4402" marB="4402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Задает способ передачи данных формы.</a:t>
                      </a:r>
                      <a:br>
                        <a:rPr lang="ru-RU" sz="18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Метод 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get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 передает данные на сервер через адресную строку браузера. 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www.anysite.ru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/form.php?var1=1&amp;var2=2. </a:t>
                      </a:r>
                    </a:p>
                    <a:p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Имена и значения переменных присоединяются к адресу сервера после знака ? и разделяются между собой знаком &amp;. Все специальные символы и буквы, отличные от латинских, кодируются в формате %</a:t>
                      </a:r>
                      <a:r>
                        <a:rPr lang="ru-RU" sz="1400" dirty="0" err="1">
                          <a:solidFill>
                            <a:schemeClr val="bg1"/>
                          </a:solidFill>
                        </a:rPr>
                        <a:t>nn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, пробел заменяется на +.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  <a:p>
                      <a:pPr algn="r"/>
                      <a:r>
                        <a:rPr lang="ru-RU" sz="1400" i="1" dirty="0">
                          <a:solidFill>
                            <a:schemeClr val="bg1"/>
                          </a:solidFill>
                        </a:rPr>
                        <a:t>Если вместе с формой предполагается отправка какого-либо файла, этот метод не подойдет.</a:t>
                      </a:r>
                    </a:p>
                    <a:p>
                      <a:pPr algn="l"/>
                      <a:br>
                        <a:rPr lang="ru-RU" sz="18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Метод 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post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 применяется для пересылки данных больших объемов, а также конфиденциальной информации и паролей. 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Данные, отправляемые с помощью этого метода, не видны в заголовке URL, так как они содержатся в теле сообщения.</a:t>
                      </a:r>
                      <a:br>
                        <a:rPr lang="ru-RU" sz="1800" dirty="0">
                          <a:solidFill>
                            <a:schemeClr val="bg1"/>
                          </a:solidFill>
                        </a:rPr>
                      </a:b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&lt;form 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action=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"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action.php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" 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enctype=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"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multipart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/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form-data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" 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method=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"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post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"&gt;&lt;/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form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&gt;</a:t>
                      </a:r>
                    </a:p>
                  </a:txBody>
                  <a:tcPr marL="13207" marR="13207" marT="4402" marB="4402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11201">
                <a:tc>
                  <a:txBody>
                    <a:bodyPr/>
                    <a:lstStyle/>
                    <a:p>
                      <a:r>
                        <a:rPr lang="en-US" sz="1800" dirty="0" err="1">
                          <a:solidFill>
                            <a:schemeClr val="bg1"/>
                          </a:solidFill>
                        </a:rPr>
                        <a:t>novalidate</a:t>
                      </a:r>
                      <a:endParaRPr lang="en-US" sz="1800" dirty="0">
                        <a:solidFill>
                          <a:schemeClr val="bg1"/>
                        </a:solidFill>
                      </a:endParaRPr>
                    </a:p>
                  </a:txBody>
                  <a:tcPr marL="13207" marR="13207" marT="4402" marB="4402" anchor="ctr"/>
                </a:tc>
                <a:tc>
                  <a:txBody>
                    <a:bodyPr/>
                    <a:lstStyle/>
                    <a:p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Отменяет встроенную проверку данных введенных пользователем в форме на корректность. Такая проверка осуществляется браузером автоматически при отправке формы на сервер и происходит для полей &lt;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type=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email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"&gt;, &lt;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input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type=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"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url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"&gt;, а также при наличии атрибута 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pattern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или 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required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13207" marR="13207" marT="4402" marB="440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6158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bg1"/>
                          </a:solidFill>
                        </a:rPr>
                        <a:t>target</a:t>
                      </a:r>
                    </a:p>
                  </a:txBody>
                  <a:tcPr marL="13207" marR="13207" marT="4402" marB="4402" anchor="ctr"/>
                </a:tc>
                <a:tc>
                  <a:txBody>
                    <a:bodyPr/>
                    <a:lstStyle/>
                    <a:p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Указывает окно, в которое будет направлена информация:</a:t>
                      </a:r>
                      <a:b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ru-RU" sz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_blank</a:t>
                      </a:r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— новое окно</a:t>
                      </a:r>
                      <a:b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ru-RU" sz="12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_self</a:t>
                      </a:r>
                      <a:r>
                        <a:rPr kumimoji="0" lang="ru-RU" sz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 — тот же фрейм</a:t>
                      </a:r>
                    </a:p>
                  </a:txBody>
                  <a:tcPr marL="13207" marR="13207" marT="4402" marB="440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060848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&lt;form action="block.html" method="post" name="first-form"&gt;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&lt;/form&gt;</a:t>
            </a:r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0167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Элемент &lt;</a:t>
            </a:r>
            <a:r>
              <a:rPr lang="ru-RU" sz="2000" b="1" dirty="0" err="1">
                <a:solidFill>
                  <a:schemeClr val="bg1"/>
                </a:solidFill>
              </a:rPr>
              <a:t>fieldset</a:t>
            </a:r>
            <a:r>
              <a:rPr lang="ru-RU" sz="2000" b="1" dirty="0">
                <a:solidFill>
                  <a:schemeClr val="bg1"/>
                </a:solidFill>
              </a:rPr>
              <a:t>&gt;...&lt;/</a:t>
            </a:r>
            <a:r>
              <a:rPr lang="ru-RU" sz="2000" b="1" dirty="0" err="1">
                <a:solidFill>
                  <a:schemeClr val="bg1"/>
                </a:solidFill>
              </a:rPr>
              <a:t>fieldset</a:t>
            </a:r>
            <a:r>
              <a:rPr lang="ru-RU" sz="2000" b="1" dirty="0">
                <a:solidFill>
                  <a:schemeClr val="bg1"/>
                </a:solidFill>
              </a:rPr>
              <a:t>&gt;</a:t>
            </a:r>
            <a:r>
              <a:rPr lang="ru-RU" sz="2000" dirty="0">
                <a:solidFill>
                  <a:schemeClr val="bg1"/>
                </a:solidFill>
              </a:rPr>
              <a:t> группирует элементы формы связанные друг с другом, разделяя форму на логические фрагменты.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Всем группам элементов разделенных </a:t>
            </a:r>
            <a:r>
              <a:rPr lang="en-US" sz="2000" b="1" dirty="0">
                <a:solidFill>
                  <a:schemeClr val="bg1"/>
                </a:solidFill>
              </a:rPr>
              <a:t>&lt;</a:t>
            </a:r>
            <a:r>
              <a:rPr lang="en-US" sz="2000" b="1" dirty="0" err="1">
                <a:solidFill>
                  <a:schemeClr val="bg1"/>
                </a:solidFill>
              </a:rPr>
              <a:t>fieldset</a:t>
            </a:r>
            <a:r>
              <a:rPr lang="en-US" sz="2000" b="1" dirty="0">
                <a:solidFill>
                  <a:schemeClr val="bg1"/>
                </a:solidFill>
              </a:rPr>
              <a:t>&gt;</a:t>
            </a:r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можно присвоить название с помощью тега </a:t>
            </a:r>
            <a:r>
              <a:rPr lang="en-US" sz="2000" b="1" dirty="0">
                <a:solidFill>
                  <a:schemeClr val="bg1"/>
                </a:solidFill>
              </a:rPr>
              <a:t>&lt;legend&gt;…&lt;/legend&gt;</a:t>
            </a:r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который должен идти сразу за тегом</a:t>
            </a:r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&lt;</a:t>
            </a:r>
            <a:r>
              <a:rPr lang="en-US" sz="2000" b="1" dirty="0" err="1">
                <a:solidFill>
                  <a:schemeClr val="bg1"/>
                </a:solidFill>
              </a:rPr>
              <a:t>fieldset</a:t>
            </a:r>
            <a:r>
              <a:rPr lang="en-US" sz="2000" b="1" dirty="0">
                <a:solidFill>
                  <a:schemeClr val="bg1"/>
                </a:solidFill>
              </a:rPr>
              <a:t>&gt;</a:t>
            </a:r>
            <a:r>
              <a:rPr lang="ru-RU" sz="2000" b="1" dirty="0">
                <a:solidFill>
                  <a:schemeClr val="bg1"/>
                </a:solidFill>
              </a:rPr>
              <a:t>. </a:t>
            </a:r>
            <a:r>
              <a:rPr lang="ru-RU" sz="2000" dirty="0">
                <a:solidFill>
                  <a:schemeClr val="bg1"/>
                </a:solidFill>
              </a:rPr>
              <a:t>Название группы появляется сверху слева.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&lt;form action="block.html" method="get" name="first-form" id="</a:t>
            </a:r>
            <a:r>
              <a:rPr lang="en-US" sz="2000" dirty="0" err="1">
                <a:solidFill>
                  <a:schemeClr val="bg1"/>
                </a:solidFill>
              </a:rPr>
              <a:t>firf</a:t>
            </a:r>
            <a:r>
              <a:rPr lang="en-US" sz="2000" dirty="0">
                <a:solidFill>
                  <a:schemeClr val="bg1"/>
                </a:solidFill>
              </a:rPr>
              <a:t>"&gt;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fieldset</a:t>
            </a:r>
            <a:r>
              <a:rPr lang="en-US" sz="2000" dirty="0">
                <a:solidFill>
                  <a:schemeClr val="bg1"/>
                </a:solidFill>
              </a:rPr>
              <a:t> class="lich"&gt; 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&lt;legend&gt;</a:t>
            </a:r>
            <a:r>
              <a:rPr lang="ru-RU" sz="2000" dirty="0">
                <a:solidFill>
                  <a:schemeClr val="bg1"/>
                </a:solidFill>
              </a:rPr>
              <a:t>Личные данные&lt;/</a:t>
            </a:r>
            <a:r>
              <a:rPr lang="en-US" sz="2000" dirty="0">
                <a:solidFill>
                  <a:schemeClr val="bg1"/>
                </a:solidFill>
              </a:rPr>
              <a:t>legend&gt;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fieldset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&lt;/form&gt;</a:t>
            </a:r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4001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Атрибуты &lt;</a:t>
            </a:r>
            <a:r>
              <a:rPr lang="ru-RU" sz="2000" b="1" dirty="0" err="1">
                <a:solidFill>
                  <a:schemeClr val="bg1"/>
                </a:solidFill>
              </a:rPr>
              <a:t>fieldset</a:t>
            </a:r>
            <a:r>
              <a:rPr lang="ru-RU" sz="2000" b="1" dirty="0">
                <a:solidFill>
                  <a:schemeClr val="bg1"/>
                </a:solidFill>
              </a:rPr>
              <a:t>&gt;...&lt;/</a:t>
            </a:r>
            <a:r>
              <a:rPr lang="ru-RU" sz="2000" b="1" dirty="0" err="1">
                <a:solidFill>
                  <a:schemeClr val="bg1"/>
                </a:solidFill>
              </a:rPr>
              <a:t>fieldset</a:t>
            </a:r>
            <a:r>
              <a:rPr lang="ru-RU" sz="2000" b="1" dirty="0">
                <a:solidFill>
                  <a:schemeClr val="bg1"/>
                </a:solidFill>
              </a:rPr>
              <a:t>&gt;</a:t>
            </a:r>
            <a:r>
              <a:rPr lang="ru-RU" sz="2000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19" y="1397000"/>
          <a:ext cx="8640960" cy="4104000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1521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88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6800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disabled</a:t>
                      </a:r>
                    </a:p>
                  </a:txBody>
                  <a:tcPr marL="57947" marR="57947" marT="19316" marB="19316" anchor="ctr"/>
                </a:tc>
                <a:tc>
                  <a:txBody>
                    <a:bodyPr/>
                    <a:lstStyle/>
                    <a:p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Атрибут отключает</a:t>
                      </a:r>
                      <a:r>
                        <a:rPr lang="ru-RU" sz="1800" baseline="0" dirty="0">
                          <a:solidFill>
                            <a:schemeClr val="bg1"/>
                          </a:solidFill>
                        </a:rPr>
                        <a:t> возможность редактирования данных.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 Используется для ограничения доступа к некоторым полям формы, содержащих ранее введенные данные. Атрибут используется без указания значения — &lt;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fieldset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lang="ru-RU" sz="1800" dirty="0" err="1">
                          <a:solidFill>
                            <a:schemeClr val="bg1"/>
                          </a:solidFill>
                        </a:rPr>
                        <a:t>disabled</a:t>
                      </a:r>
                      <a:r>
                        <a:rPr lang="ru-RU" sz="1800" dirty="0">
                          <a:solidFill>
                            <a:schemeClr val="bg1"/>
                          </a:solidFill>
                        </a:rPr>
                        <a:t>&gt;.</a:t>
                      </a:r>
                    </a:p>
                  </a:txBody>
                  <a:tcPr marL="57947" marR="57947" marT="19316" marB="193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chemeClr val="bg1"/>
                          </a:solidFill>
                        </a:rPr>
                        <a:t>name</a:t>
                      </a:r>
                    </a:p>
                  </a:txBody>
                  <a:tcPr marL="57947" marR="57947" marT="19316" marB="19316" anchor="ctr"/>
                </a:tc>
                <a:tc>
                  <a:txBody>
                    <a:bodyPr/>
                    <a:lstStyle/>
                    <a:p>
                      <a:r>
                        <a:rPr kumimoji="0" lang="ru-RU" b="0" i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Задает имя для элемента. Применение атрибута не отображается в браузере, но может быть использовано в работе </a:t>
                      </a:r>
                      <a:r>
                        <a:rPr kumimoji="0" lang="ru-RU" b="0" i="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скриптов</a:t>
                      </a:r>
                      <a:r>
                        <a:rPr kumimoji="0" lang="ru-RU" b="0" i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 marL="57947" marR="57947" marT="19316" marB="193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8000">
                <a:tc>
                  <a:txBody>
                    <a:bodyPr/>
                    <a:lstStyle/>
                    <a:p>
                      <a:r>
                        <a:rPr kumimoji="0" lang="en-US" b="0" i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form</a:t>
                      </a:r>
                      <a:endParaRPr lang="en-US" sz="1800" b="0" dirty="0">
                        <a:solidFill>
                          <a:schemeClr val="bg1"/>
                        </a:solidFill>
                      </a:endParaRPr>
                    </a:p>
                  </a:txBody>
                  <a:tcPr marL="57947" marR="57947" marT="19316" marB="19316" anchor="ctr"/>
                </a:tc>
                <a:tc>
                  <a:txBody>
                    <a:bodyPr/>
                    <a:lstStyle/>
                    <a:p>
                      <a:r>
                        <a:rPr kumimoji="0" lang="ru-RU" b="0" i="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Указывает один или несколько идентификаторов форм id к которым элемент принадлежит. В случае если указывается несколько идентификаторов, то необходимо разделять их между собой пробелом.</a:t>
                      </a:r>
                      <a:endParaRPr lang="ru-RU" sz="1800" dirty="0">
                        <a:solidFill>
                          <a:schemeClr val="bg1"/>
                        </a:solidFill>
                      </a:endParaRPr>
                    </a:p>
                  </a:txBody>
                  <a:tcPr marL="57947" marR="57947" marT="19316" marB="193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0167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Надписи к элементам формы создаются с помощью элемента </a:t>
            </a:r>
            <a:r>
              <a:rPr lang="ru-RU" sz="2000" b="1" dirty="0">
                <a:solidFill>
                  <a:schemeClr val="bg1"/>
                </a:solidFill>
              </a:rPr>
              <a:t>&lt;label&gt;...&lt;/label&gt;</a:t>
            </a:r>
            <a:r>
              <a:rPr lang="ru-RU" sz="2000" dirty="0">
                <a:solidFill>
                  <a:schemeClr val="bg1"/>
                </a:solidFill>
              </a:rPr>
              <a:t>. Существует два способа группировки надписи и поля. Если поле находится внутри элемента &lt;label&gt;, то атрибут </a:t>
            </a:r>
            <a:r>
              <a:rPr lang="ru-RU" sz="2000" dirty="0" err="1">
                <a:solidFill>
                  <a:schemeClr val="bg1"/>
                </a:solidFill>
              </a:rPr>
              <a:t>for</a:t>
            </a:r>
            <a:r>
              <a:rPr lang="ru-RU" sz="2000" dirty="0">
                <a:solidFill>
                  <a:schemeClr val="bg1"/>
                </a:solidFill>
              </a:rPr>
              <a:t> указывать не нужно.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&lt;h2&gt;</a:t>
            </a:r>
            <a:r>
              <a:rPr lang="ru-RU" sz="2000" dirty="0">
                <a:solidFill>
                  <a:schemeClr val="bg1"/>
                </a:solidFill>
              </a:rPr>
              <a:t>с указанием атрибута </a:t>
            </a:r>
            <a:r>
              <a:rPr lang="en-US" sz="2000" dirty="0">
                <a:solidFill>
                  <a:schemeClr val="bg1"/>
                </a:solidFill>
              </a:rPr>
              <a:t>for &lt;/h2&gt;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&lt;label for="</a:t>
            </a:r>
            <a:r>
              <a:rPr lang="en-US" sz="2000" dirty="0" err="1">
                <a:solidFill>
                  <a:schemeClr val="bg1"/>
                </a:solidFill>
              </a:rPr>
              <a:t>comm</a:t>
            </a:r>
            <a:r>
              <a:rPr lang="en-US" sz="2000" dirty="0">
                <a:solidFill>
                  <a:schemeClr val="bg1"/>
                </a:solidFill>
              </a:rPr>
              <a:t>"&gt;</a:t>
            </a:r>
            <a:r>
              <a:rPr lang="ru-RU" sz="2000" dirty="0">
                <a:solidFill>
                  <a:schemeClr val="bg1"/>
                </a:solidFill>
              </a:rPr>
              <a:t>Кошка&lt;/</a:t>
            </a:r>
            <a:r>
              <a:rPr lang="en-US" sz="2000" dirty="0">
                <a:solidFill>
                  <a:schemeClr val="bg1"/>
                </a:solidFill>
              </a:rPr>
              <a:t>label&gt; &lt;input type="text" id="</a:t>
            </a:r>
            <a:r>
              <a:rPr lang="en-US" sz="2000" dirty="0" err="1">
                <a:solidFill>
                  <a:schemeClr val="bg1"/>
                </a:solidFill>
              </a:rPr>
              <a:t>comm</a:t>
            </a:r>
            <a:r>
              <a:rPr lang="en-US" sz="2000" dirty="0">
                <a:solidFill>
                  <a:schemeClr val="bg1"/>
                </a:solidFill>
              </a:rPr>
              <a:t>"&gt; &lt;</a:t>
            </a:r>
            <a:r>
              <a:rPr lang="en-US" sz="2000" dirty="0" err="1">
                <a:solidFill>
                  <a:schemeClr val="bg1"/>
                </a:solidFill>
              </a:rPr>
              <a:t>br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&lt;h2&gt;</a:t>
            </a:r>
            <a:r>
              <a:rPr lang="ru-RU" sz="2000" dirty="0">
                <a:solidFill>
                  <a:schemeClr val="bg1"/>
                </a:solidFill>
              </a:rPr>
              <a:t>без атрибута </a:t>
            </a:r>
            <a:r>
              <a:rPr lang="en-US" sz="2000" dirty="0">
                <a:solidFill>
                  <a:schemeClr val="bg1"/>
                </a:solidFill>
              </a:rPr>
              <a:t>for &lt;/h2&gt;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&lt;p&gt;&lt;label&gt;</a:t>
            </a:r>
            <a:r>
              <a:rPr lang="ru-RU" sz="2000" dirty="0">
                <a:solidFill>
                  <a:schemeClr val="bg1"/>
                </a:solidFill>
              </a:rPr>
              <a:t>Кошка &lt;</a:t>
            </a:r>
            <a:r>
              <a:rPr lang="en-US" sz="2000" dirty="0">
                <a:solidFill>
                  <a:schemeClr val="bg1"/>
                </a:solidFill>
              </a:rPr>
              <a:t>input type="text"&gt;&lt;/label&gt;&lt;/p&gt;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&lt;h2&gt;</a:t>
            </a:r>
            <a:r>
              <a:rPr lang="ru-RU" sz="2000" dirty="0">
                <a:solidFill>
                  <a:schemeClr val="bg1"/>
                </a:solidFill>
              </a:rPr>
              <a:t>без тега </a:t>
            </a:r>
            <a:r>
              <a:rPr lang="en-US" sz="2000" dirty="0">
                <a:solidFill>
                  <a:schemeClr val="bg1"/>
                </a:solidFill>
              </a:rPr>
              <a:t>label&lt;/h2&gt;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&lt;p&gt;</a:t>
            </a:r>
            <a:r>
              <a:rPr lang="ru-RU" sz="2000" dirty="0">
                <a:solidFill>
                  <a:schemeClr val="bg1"/>
                </a:solidFill>
              </a:rPr>
              <a:t>Кошка &lt;</a:t>
            </a:r>
            <a:r>
              <a:rPr lang="en-US" sz="2000" dirty="0">
                <a:solidFill>
                  <a:schemeClr val="bg1"/>
                </a:solidFill>
              </a:rPr>
              <a:t>input type="text"&gt;&lt;/p&gt;</a:t>
            </a:r>
            <a:endParaRPr lang="ru-RU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Если кликнуть на </a:t>
            </a:r>
            <a:r>
              <a:rPr lang="en-US" sz="2000" dirty="0">
                <a:solidFill>
                  <a:schemeClr val="bg1"/>
                </a:solidFill>
              </a:rPr>
              <a:t>label </a:t>
            </a:r>
            <a:r>
              <a:rPr lang="ru-RU" sz="2000" dirty="0">
                <a:solidFill>
                  <a:schemeClr val="bg1"/>
                </a:solidFill>
              </a:rPr>
              <a:t>будет активно окно формы имеющее отношение к </a:t>
            </a:r>
            <a:r>
              <a:rPr lang="en-US" sz="2000" dirty="0">
                <a:solidFill>
                  <a:schemeClr val="bg1"/>
                </a:solidFill>
              </a:rPr>
              <a:t>label</a:t>
            </a:r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116632"/>
            <a:ext cx="8640960" cy="14773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b="1" dirty="0">
                <a:solidFill>
                  <a:schemeClr val="bg1"/>
                </a:solidFill>
              </a:rPr>
              <a:t>Элемент </a:t>
            </a:r>
            <a:r>
              <a:rPr lang="en-US" b="1" dirty="0">
                <a:solidFill>
                  <a:schemeClr val="bg1"/>
                </a:solidFill>
              </a:rPr>
              <a:t>&lt;input&gt; &lt;/input &gt;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Элемент &lt;</a:t>
            </a:r>
            <a:r>
              <a:rPr lang="ru-RU" dirty="0" err="1">
                <a:solidFill>
                  <a:schemeClr val="bg1"/>
                </a:solidFill>
              </a:rPr>
              <a:t>input</a:t>
            </a:r>
            <a:r>
              <a:rPr lang="ru-RU" dirty="0">
                <a:solidFill>
                  <a:schemeClr val="bg1"/>
                </a:solidFill>
              </a:rPr>
              <a:t>&gt; создает большинство полей формы. Атрибуты элемента отличаются в зависимости от типа поля, для создания которого используется этот элемент.</a:t>
            </a:r>
          </a:p>
          <a:p>
            <a:r>
              <a:rPr lang="en-US" b="1" dirty="0">
                <a:solidFill>
                  <a:schemeClr val="bg1"/>
                </a:solidFill>
              </a:rPr>
              <a:t>&lt;input </a:t>
            </a:r>
            <a:r>
              <a:rPr lang="en-US" b="1" u="sng" dirty="0">
                <a:solidFill>
                  <a:schemeClr val="bg1"/>
                </a:solidFill>
              </a:rPr>
              <a:t>type</a:t>
            </a:r>
            <a:r>
              <a:rPr lang="en-US" b="1" dirty="0">
                <a:solidFill>
                  <a:schemeClr val="bg1"/>
                </a:solidFill>
              </a:rPr>
              <a:t>="</a:t>
            </a:r>
            <a:r>
              <a:rPr lang="ru-RU" b="1" dirty="0">
                <a:solidFill>
                  <a:schemeClr val="bg1"/>
                </a:solidFill>
              </a:rPr>
              <a:t>Определяет тип поля</a:t>
            </a:r>
            <a:r>
              <a:rPr lang="en-US" b="1" dirty="0">
                <a:solidFill>
                  <a:schemeClr val="bg1"/>
                </a:solidFill>
              </a:rPr>
              <a:t>"&gt;</a:t>
            </a:r>
          </a:p>
        </p:txBody>
      </p:sp>
      <p:pic>
        <p:nvPicPr>
          <p:cNvPr id="54285" name="Picture 13"/>
          <p:cNvPicPr>
            <a:picLocks noChangeAspect="1" noChangeArrowheads="1"/>
          </p:cNvPicPr>
          <p:nvPr/>
        </p:nvPicPr>
        <p:blipFill>
          <a:blip r:embed="rId3" cstate="print"/>
          <a:srcRect l="911" t="2090" r="1630" b="1605"/>
          <a:stretch>
            <a:fillRect/>
          </a:stretch>
        </p:blipFill>
        <p:spPr bwMode="auto">
          <a:xfrm>
            <a:off x="323528" y="1556792"/>
            <a:ext cx="8475342" cy="47525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101566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Элемент </a:t>
            </a:r>
            <a:r>
              <a:rPr lang="en-US" sz="2000" b="1" dirty="0">
                <a:solidFill>
                  <a:schemeClr val="bg1"/>
                </a:solidFill>
              </a:rPr>
              <a:t>&lt;input&gt; &lt;/input &gt;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В </a:t>
            </a:r>
            <a:r>
              <a:rPr lang="en-US" sz="2000" dirty="0">
                <a:solidFill>
                  <a:schemeClr val="bg1"/>
                </a:solidFill>
              </a:rPr>
              <a:t>HTML5 </a:t>
            </a:r>
            <a:r>
              <a:rPr lang="ru-RU" sz="2000" dirty="0">
                <a:solidFill>
                  <a:schemeClr val="bg1"/>
                </a:solidFill>
              </a:rPr>
              <a:t>появились новые элементы, но не все браузеры их поддерживают.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269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3" y="1484784"/>
            <a:ext cx="8917939" cy="4437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3245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Кнопка </a:t>
            </a:r>
            <a:r>
              <a:rPr lang="ru-RU" sz="2000" b="1" dirty="0">
                <a:solidFill>
                  <a:schemeClr val="bg1"/>
                </a:solidFill>
              </a:rPr>
              <a:t>BUTTON</a:t>
            </a:r>
            <a:r>
              <a:rPr lang="ru-RU" sz="2000" dirty="0">
                <a:solidFill>
                  <a:schemeClr val="bg1"/>
                </a:solidFill>
              </a:rPr>
              <a:t> 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предназначена для тех случаев, когда надо исполнять какой-нибудь </a:t>
            </a:r>
            <a:r>
              <a:rPr lang="ru-RU" sz="2000" dirty="0" err="1">
                <a:solidFill>
                  <a:schemeClr val="bg1"/>
                </a:solidFill>
              </a:rPr>
              <a:t>скрипт</a:t>
            </a:r>
            <a:r>
              <a:rPr lang="ru-RU" sz="2000" dirty="0">
                <a:solidFill>
                  <a:schemeClr val="bg1"/>
                </a:solidFill>
              </a:rPr>
              <a:t>. То есть на кнопку вешается событие </a:t>
            </a:r>
            <a:r>
              <a:rPr lang="ru-RU" sz="2000" b="1" dirty="0" err="1">
                <a:solidFill>
                  <a:schemeClr val="bg1"/>
                </a:solidFill>
              </a:rPr>
              <a:t>OnСlick</a:t>
            </a:r>
            <a:r>
              <a:rPr lang="ru-RU" sz="2000" dirty="0">
                <a:solidFill>
                  <a:schemeClr val="bg1"/>
                </a:solidFill>
              </a:rPr>
              <a:t> и вызывается нужная функция. 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Атрибут </a:t>
            </a:r>
            <a:r>
              <a:rPr lang="ru-RU" sz="2000" b="1" dirty="0" err="1">
                <a:solidFill>
                  <a:schemeClr val="bg1"/>
                </a:solidFill>
              </a:rPr>
              <a:t>value</a:t>
            </a:r>
            <a:r>
              <a:rPr lang="ru-RU" sz="2000" dirty="0">
                <a:solidFill>
                  <a:schemeClr val="bg1"/>
                </a:solidFill>
              </a:rPr>
              <a:t> задает надпись на кнопке. 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Атрибут </a:t>
            </a:r>
            <a:r>
              <a:rPr lang="ru-RU" sz="2000" b="1" dirty="0" err="1">
                <a:solidFill>
                  <a:schemeClr val="bg1"/>
                </a:solidFill>
              </a:rPr>
              <a:t>onclick</a:t>
            </a:r>
            <a:r>
              <a:rPr lang="ru-RU" sz="2000" dirty="0">
                <a:solidFill>
                  <a:schemeClr val="bg1"/>
                </a:solidFill>
              </a:rPr>
              <a:t> задает JavaScript-обработчик, который вызывается при щелчке на кнопке. 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Атрибут </a:t>
            </a:r>
            <a:r>
              <a:rPr lang="ru-RU" sz="2000" b="1" dirty="0" err="1">
                <a:solidFill>
                  <a:schemeClr val="bg1"/>
                </a:solidFill>
              </a:rPr>
              <a:t>name</a:t>
            </a:r>
            <a:r>
              <a:rPr lang="en-US" sz="2000" b="1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служит для JavaScript-именования кнопки (на сервер не передается).</a:t>
            </a:r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Пример</a:t>
            </a:r>
          </a:p>
          <a:p>
            <a:r>
              <a:rPr lang="ru-RU" sz="2000" dirty="0">
                <a:solidFill>
                  <a:schemeClr val="bg1"/>
                </a:solidFill>
              </a:rPr>
              <a:t>&lt;</a:t>
            </a:r>
            <a:r>
              <a:rPr lang="ru-RU" sz="2000" dirty="0" err="1">
                <a:solidFill>
                  <a:schemeClr val="bg1"/>
                </a:solidFill>
              </a:rPr>
              <a:t>input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type=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button</a:t>
            </a:r>
            <a:r>
              <a:rPr lang="ru-RU" sz="2000" dirty="0">
                <a:solidFill>
                  <a:schemeClr val="bg1"/>
                </a:solidFill>
              </a:rPr>
              <a:t>" </a:t>
            </a:r>
            <a:r>
              <a:rPr lang="ru-RU" sz="2000" dirty="0" err="1">
                <a:solidFill>
                  <a:schemeClr val="bg1"/>
                </a:solidFill>
              </a:rPr>
              <a:t>value=</a:t>
            </a:r>
            <a:r>
              <a:rPr lang="ru-RU" sz="2000" dirty="0">
                <a:solidFill>
                  <a:schemeClr val="bg1"/>
                </a:solidFill>
              </a:rPr>
              <a:t>"Кнопка" </a:t>
            </a:r>
            <a:r>
              <a:rPr lang="ru-RU" sz="2000" dirty="0" err="1">
                <a:solidFill>
                  <a:schemeClr val="bg1"/>
                </a:solidFill>
              </a:rPr>
              <a:t>onclick=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alert</a:t>
            </a:r>
            <a:r>
              <a:rPr lang="ru-RU" sz="2000" dirty="0">
                <a:solidFill>
                  <a:schemeClr val="bg1"/>
                </a:solidFill>
              </a:rPr>
              <a:t>('Вы нажали кнопку!')" </a:t>
            </a:r>
            <a:r>
              <a:rPr lang="ru-RU" sz="2000" dirty="0" err="1">
                <a:solidFill>
                  <a:schemeClr val="bg1"/>
                </a:solidFill>
              </a:rPr>
              <a:t>name=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btn</a:t>
            </a:r>
            <a:r>
              <a:rPr lang="ru-RU" sz="2000" dirty="0">
                <a:solidFill>
                  <a:schemeClr val="bg1"/>
                </a:solidFill>
              </a:rPr>
              <a:t>"&gt;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3245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Кнопка </a:t>
            </a:r>
            <a:r>
              <a:rPr lang="ru-RU" sz="2000" b="1" dirty="0">
                <a:solidFill>
                  <a:schemeClr val="bg1"/>
                </a:solidFill>
              </a:rPr>
              <a:t>SUBMIT</a:t>
            </a:r>
          </a:p>
          <a:p>
            <a:r>
              <a:rPr lang="ru-RU" sz="2000" dirty="0">
                <a:solidFill>
                  <a:schemeClr val="bg1"/>
                </a:solidFill>
              </a:rPr>
              <a:t>Эта кнопка предназначена для передачи формы. В большинстве браузеров внешне почти не </a:t>
            </a:r>
            <a:r>
              <a:rPr lang="ru-RU" sz="2000" dirty="0" err="1">
                <a:solidFill>
                  <a:schemeClr val="bg1"/>
                </a:solidFill>
              </a:rPr>
              <a:t>отличима</a:t>
            </a:r>
            <a:r>
              <a:rPr lang="ru-RU" sz="2000" dirty="0">
                <a:solidFill>
                  <a:schemeClr val="bg1"/>
                </a:solidFill>
              </a:rPr>
              <a:t> от кнопки BUTTON. Сама она не передается, а служит только для управления.</a:t>
            </a:r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Атрибут </a:t>
            </a:r>
            <a:r>
              <a:rPr lang="ru-RU" sz="2000" b="1" dirty="0" err="1">
                <a:solidFill>
                  <a:schemeClr val="bg1"/>
                </a:solidFill>
              </a:rPr>
              <a:t>onclick</a:t>
            </a:r>
            <a:r>
              <a:rPr lang="ru-RU" sz="2000" dirty="0">
                <a:solidFill>
                  <a:schemeClr val="bg1"/>
                </a:solidFill>
              </a:rPr>
              <a:t> для кнопки </a:t>
            </a:r>
            <a:r>
              <a:rPr lang="ru-RU" sz="2000" b="1" dirty="0">
                <a:solidFill>
                  <a:schemeClr val="bg1"/>
                </a:solidFill>
              </a:rPr>
              <a:t>SUBMIT</a:t>
            </a:r>
            <a:r>
              <a:rPr lang="ru-RU" sz="2000" dirty="0">
                <a:solidFill>
                  <a:schemeClr val="bg1"/>
                </a:solidFill>
              </a:rPr>
              <a:t> практически не используется. Ведь чтобы передать введенные в форму данные, в общем случае совсем не обязательно нажимать на кнопку </a:t>
            </a:r>
            <a:r>
              <a:rPr lang="ru-RU" sz="2000" b="1" dirty="0">
                <a:solidFill>
                  <a:schemeClr val="bg1"/>
                </a:solidFill>
              </a:rPr>
              <a:t>SUBMIT</a:t>
            </a:r>
            <a:r>
              <a:rPr lang="ru-RU" sz="2000" dirty="0">
                <a:solidFill>
                  <a:schemeClr val="bg1"/>
                </a:solidFill>
              </a:rPr>
              <a:t>. Можно просто нажать на клавиатуре клавишу </a:t>
            </a:r>
            <a:r>
              <a:rPr lang="ru-RU" sz="2000" b="1" dirty="0">
                <a:solidFill>
                  <a:schemeClr val="bg1"/>
                </a:solidFill>
              </a:rPr>
              <a:t>ENTER</a:t>
            </a:r>
            <a:r>
              <a:rPr lang="ru-RU" sz="2000" dirty="0">
                <a:solidFill>
                  <a:schemeClr val="bg1"/>
                </a:solidFill>
              </a:rPr>
              <a:t>, находясь в любом текстовом поле ввода. При этом произойдет передача данных.</a:t>
            </a:r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Пример</a:t>
            </a:r>
          </a:p>
          <a:p>
            <a:r>
              <a:rPr lang="ru-RU" sz="2000" dirty="0">
                <a:solidFill>
                  <a:schemeClr val="bg1"/>
                </a:solidFill>
              </a:rPr>
              <a:t>&lt;</a:t>
            </a:r>
            <a:r>
              <a:rPr lang="ru-RU" sz="2000" dirty="0" err="1">
                <a:solidFill>
                  <a:schemeClr val="bg1"/>
                </a:solidFill>
              </a:rPr>
              <a:t>input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type=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submit</a:t>
            </a:r>
            <a:r>
              <a:rPr lang="ru-RU" sz="2000" dirty="0">
                <a:solidFill>
                  <a:schemeClr val="bg1"/>
                </a:solidFill>
              </a:rPr>
              <a:t>" </a:t>
            </a:r>
            <a:r>
              <a:rPr lang="ru-RU" sz="2000" dirty="0" err="1">
                <a:solidFill>
                  <a:schemeClr val="bg1"/>
                </a:solidFill>
              </a:rPr>
              <a:t>value=</a:t>
            </a:r>
            <a:r>
              <a:rPr lang="ru-RU" sz="2000" dirty="0">
                <a:solidFill>
                  <a:schemeClr val="bg1"/>
                </a:solidFill>
              </a:rPr>
              <a:t>"Принять заказ"&gt;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Если вовсе не указывать </a:t>
            </a:r>
            <a:r>
              <a:rPr lang="en-US" sz="2000" dirty="0">
                <a:solidFill>
                  <a:schemeClr val="bg1"/>
                </a:solidFill>
              </a:rPr>
              <a:t>value </a:t>
            </a:r>
            <a:r>
              <a:rPr lang="ru-RU" sz="2000" dirty="0">
                <a:solidFill>
                  <a:schemeClr val="bg1"/>
                </a:solidFill>
              </a:rPr>
              <a:t>то на кнопке будет надпись по умолчанию </a:t>
            </a:r>
            <a:r>
              <a:rPr lang="ru-RU" sz="2000" b="1" dirty="0">
                <a:solidFill>
                  <a:schemeClr val="bg1"/>
                </a:solidFill>
              </a:rPr>
              <a:t>отправить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&lt;</a:t>
            </a:r>
            <a:r>
              <a:rPr lang="ru-RU" sz="2000" dirty="0" err="1">
                <a:solidFill>
                  <a:schemeClr val="bg1"/>
                </a:solidFill>
              </a:rPr>
              <a:t>input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type=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submit</a:t>
            </a:r>
            <a:r>
              <a:rPr lang="ru-RU" sz="2000" dirty="0">
                <a:solidFill>
                  <a:schemeClr val="bg1"/>
                </a:solidFill>
              </a:rPr>
              <a:t>"&gt;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34778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Атрибут </a:t>
            </a:r>
            <a:r>
              <a:rPr lang="ru-RU" sz="2000" b="1" dirty="0" err="1">
                <a:solidFill>
                  <a:schemeClr val="bg1"/>
                </a:solidFill>
              </a:rPr>
              <a:t>value</a:t>
            </a:r>
            <a:r>
              <a:rPr lang="ru-RU" sz="2000" dirty="0">
                <a:solidFill>
                  <a:schemeClr val="bg1"/>
                </a:solidFill>
              </a:rPr>
              <a:t> дает определенные преимущества при использовании более одной кнопки передачи данных. В этом случае на основании значения полученной переменной сценарий сможет определить, как обрабатывать полученную информацию далее.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В адресной строке мы увидим значение кнопки.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&lt;input type="submit" name="</a:t>
            </a:r>
            <a:r>
              <a:rPr lang="en-US" sz="2000" dirty="0" err="1">
                <a:solidFill>
                  <a:schemeClr val="bg1"/>
                </a:solidFill>
              </a:rPr>
              <a:t>bn</a:t>
            </a:r>
            <a:r>
              <a:rPr lang="en-US" sz="2000" dirty="0">
                <a:solidFill>
                  <a:schemeClr val="bg1"/>
                </a:solidFill>
              </a:rPr>
              <a:t>" value="</a:t>
            </a:r>
            <a:r>
              <a:rPr lang="ru-RU" sz="2000" dirty="0">
                <a:solidFill>
                  <a:schemeClr val="bg1"/>
                </a:solidFill>
              </a:rPr>
              <a:t>Вступить в клуб"&gt;</a:t>
            </a:r>
          </a:p>
          <a:p>
            <a:r>
              <a:rPr lang="ru-RU" sz="2000" dirty="0">
                <a:solidFill>
                  <a:schemeClr val="bg1"/>
                </a:solidFill>
              </a:rPr>
              <a:t>&lt;</a:t>
            </a:r>
            <a:r>
              <a:rPr lang="en-US" sz="2000" dirty="0">
                <a:solidFill>
                  <a:schemeClr val="bg1"/>
                </a:solidFill>
              </a:rPr>
              <a:t>input type="submit" name="</a:t>
            </a:r>
            <a:r>
              <a:rPr lang="en-US" sz="2000" dirty="0" err="1">
                <a:solidFill>
                  <a:schemeClr val="bg1"/>
                </a:solidFill>
              </a:rPr>
              <a:t>bn</a:t>
            </a:r>
            <a:r>
              <a:rPr lang="en-US" sz="2000" dirty="0">
                <a:solidFill>
                  <a:schemeClr val="bg1"/>
                </a:solidFill>
              </a:rPr>
              <a:t>" value="</a:t>
            </a:r>
            <a:r>
              <a:rPr lang="ru-RU" sz="2000" dirty="0">
                <a:solidFill>
                  <a:schemeClr val="bg1"/>
                </a:solidFill>
              </a:rPr>
              <a:t>Отказаться"&gt;</a:t>
            </a:r>
          </a:p>
          <a:p>
            <a:r>
              <a:rPr lang="ru-RU" sz="2000" dirty="0">
                <a:solidFill>
                  <a:schemeClr val="bg1"/>
                </a:solidFill>
              </a:rPr>
              <a:t>&lt;</a:t>
            </a:r>
            <a:r>
              <a:rPr lang="en-US" sz="2000" dirty="0">
                <a:solidFill>
                  <a:schemeClr val="bg1"/>
                </a:solidFill>
              </a:rPr>
              <a:t>input type="submit" name="</a:t>
            </a:r>
            <a:r>
              <a:rPr lang="en-US" sz="2000" dirty="0" err="1">
                <a:solidFill>
                  <a:schemeClr val="bg1"/>
                </a:solidFill>
              </a:rPr>
              <a:t>bn</a:t>
            </a:r>
            <a:r>
              <a:rPr lang="en-US" sz="2000" dirty="0">
                <a:solidFill>
                  <a:schemeClr val="bg1"/>
                </a:solidFill>
              </a:rPr>
              <a:t>" value="</a:t>
            </a:r>
            <a:r>
              <a:rPr lang="ru-RU" sz="2000" dirty="0">
                <a:solidFill>
                  <a:schemeClr val="bg1"/>
                </a:solidFill>
              </a:rPr>
              <a:t>Принять как наблюдателя"&gt;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193899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Атрибут </a:t>
            </a:r>
            <a:r>
              <a:rPr lang="ru-RU" sz="2000" b="1" dirty="0" err="1">
                <a:solidFill>
                  <a:schemeClr val="bg1"/>
                </a:solidFill>
              </a:rPr>
              <a:t>formnovalidate</a:t>
            </a:r>
            <a:r>
              <a:rPr lang="ru-RU" sz="2000" dirty="0">
                <a:solidFill>
                  <a:schemeClr val="bg1"/>
                </a:solidFill>
              </a:rPr>
              <a:t> может быть применен, чтобы предотвратить проверку значений формы.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&lt;input type="text" required=""&gt;&lt;</a:t>
            </a:r>
            <a:r>
              <a:rPr lang="en-US" sz="2000" dirty="0" err="1">
                <a:solidFill>
                  <a:schemeClr val="bg1"/>
                </a:solidFill>
              </a:rPr>
              <a:t>br</a:t>
            </a:r>
            <a:r>
              <a:rPr lang="en-US" sz="2000" dirty="0">
                <a:solidFill>
                  <a:schemeClr val="bg1"/>
                </a:solidFill>
              </a:rPr>
              <a:t>&gt;&lt;</a:t>
            </a:r>
            <a:r>
              <a:rPr lang="en-US" sz="2000" dirty="0" err="1">
                <a:solidFill>
                  <a:schemeClr val="bg1"/>
                </a:solidFill>
              </a:rPr>
              <a:t>br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&lt;input type="submit" value="</a:t>
            </a:r>
            <a:r>
              <a:rPr lang="ru-RU" sz="2000" dirty="0">
                <a:solidFill>
                  <a:schemeClr val="bg1"/>
                </a:solidFill>
              </a:rPr>
              <a:t>Проверка"&gt;</a:t>
            </a:r>
          </a:p>
          <a:p>
            <a:r>
              <a:rPr lang="ru-RU" sz="2000" dirty="0">
                <a:solidFill>
                  <a:schemeClr val="bg1"/>
                </a:solidFill>
              </a:rPr>
              <a:t>&lt;</a:t>
            </a:r>
            <a:r>
              <a:rPr lang="en-US" sz="2000" dirty="0">
                <a:solidFill>
                  <a:schemeClr val="bg1"/>
                </a:solidFill>
              </a:rPr>
              <a:t>input type="submit" </a:t>
            </a:r>
            <a:r>
              <a:rPr lang="en-US" sz="2000" dirty="0" err="1">
                <a:solidFill>
                  <a:schemeClr val="bg1"/>
                </a:solidFill>
              </a:rPr>
              <a:t>formnovalidate</a:t>
            </a:r>
            <a:r>
              <a:rPr lang="en-US" sz="2000" dirty="0">
                <a:solidFill>
                  <a:schemeClr val="bg1"/>
                </a:solidFill>
              </a:rPr>
              <a:t> value="</a:t>
            </a:r>
            <a:r>
              <a:rPr lang="ru-RU" sz="2000" dirty="0">
                <a:solidFill>
                  <a:schemeClr val="bg1"/>
                </a:solidFill>
              </a:rPr>
              <a:t>Не проверять"&gt;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286232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Кнопка </a:t>
            </a:r>
            <a:r>
              <a:rPr lang="ru-RU" sz="2000" b="1" dirty="0">
                <a:solidFill>
                  <a:schemeClr val="bg1"/>
                </a:solidFill>
              </a:rPr>
              <a:t>RESET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Это кнопка очистки формы. При ее нажатии всем измененным элементам возвращается значение по умолчанию. Применяется она достаточно редко. Однако в некоторых случаях может быть весьма полезна.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&lt;input type="reset" value ="</a:t>
            </a:r>
            <a:r>
              <a:rPr lang="ru-RU" sz="2000" dirty="0">
                <a:solidFill>
                  <a:schemeClr val="bg1"/>
                </a:solidFill>
              </a:rPr>
              <a:t>Отчистить форму</a:t>
            </a:r>
            <a:r>
              <a:rPr lang="en-US" sz="2000" dirty="0">
                <a:solidFill>
                  <a:schemeClr val="bg1"/>
                </a:solidFill>
              </a:rPr>
              <a:t>"&gt;</a:t>
            </a:r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&lt;input type="reset"&gt;</a:t>
            </a:r>
            <a:endParaRPr lang="ru-RU" sz="20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3" name="Ссылка на слайд 2">
                <a:extLst>
                  <a:ext uri="{FF2B5EF4-FFF2-40B4-BE49-F238E27FC236}">
                    <a16:creationId xmlns:a16="http://schemas.microsoft.com/office/drawing/2014/main" id="{391A3DC1-4AC0-4DEF-BE79-C90381AB082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9317989"/>
                  </p:ext>
                </p:extLst>
              </p:nvPr>
            </p:nvGraphicFramePr>
            <p:xfrm>
              <a:off x="-3241766" y="5504676"/>
              <a:ext cx="2286000" cy="1714500"/>
            </p:xfrm>
            <a:graphic>
              <a:graphicData uri="http://schemas.microsoft.com/office/powerpoint/2016/slidezoom">
                <pslz:sldZm>
                  <pslz:sldZmObj sldId="570" cId="0">
                    <pslz:zmPr id="{2C767356-4808-44A7-AB4F-8041E95986BC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86000" cy="1714500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Ссылка на слайд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391A3DC1-4AC0-4DEF-BE79-C90381AB082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3241766" y="5504676"/>
                <a:ext cx="2286000" cy="17145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9400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Поле ввода </a:t>
            </a:r>
            <a:r>
              <a:rPr lang="ru-RU" sz="2000" b="1" dirty="0">
                <a:solidFill>
                  <a:schemeClr val="bg1"/>
                </a:solidFill>
              </a:rPr>
              <a:t>TEXT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Текстовое поле ввода используется в формах наиболее часто. Более того, его можно по праву считать основным и главнейшим элементом форм. 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Этот тип используется тегом </a:t>
            </a:r>
            <a:r>
              <a:rPr lang="ru-RU" sz="2000" b="1" dirty="0">
                <a:solidFill>
                  <a:schemeClr val="bg1"/>
                </a:solidFill>
              </a:rPr>
              <a:t>&lt;</a:t>
            </a:r>
            <a:r>
              <a:rPr lang="ru-RU" sz="2000" b="1" dirty="0" err="1">
                <a:solidFill>
                  <a:schemeClr val="bg1"/>
                </a:solidFill>
              </a:rPr>
              <a:t>input</a:t>
            </a:r>
            <a:r>
              <a:rPr lang="ru-RU" sz="2000" b="1" dirty="0">
                <a:solidFill>
                  <a:schemeClr val="bg1"/>
                </a:solidFill>
              </a:rPr>
              <a:t>&gt;</a:t>
            </a:r>
            <a:r>
              <a:rPr lang="ru-RU" sz="2000" dirty="0">
                <a:solidFill>
                  <a:schemeClr val="bg1"/>
                </a:solidFill>
              </a:rPr>
              <a:t> по умолчанию, его можно не указывать, чтобы вывести текстовое поле. 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Однако, если возникнет необходимость задать стиль для селектора </a:t>
            </a:r>
            <a:r>
              <a:rPr lang="ru-RU" sz="2000" b="1" dirty="0" err="1">
                <a:solidFill>
                  <a:schemeClr val="bg1"/>
                </a:solidFill>
              </a:rPr>
              <a:t>input</a:t>
            </a:r>
            <a:r>
              <a:rPr lang="ru-RU" sz="2000" b="1" dirty="0">
                <a:solidFill>
                  <a:schemeClr val="bg1"/>
                </a:solidFill>
              </a:rPr>
              <a:t>[</a:t>
            </a:r>
            <a:r>
              <a:rPr lang="ru-RU" sz="2000" b="1" dirty="0" err="1">
                <a:solidFill>
                  <a:schemeClr val="bg1"/>
                </a:solidFill>
              </a:rPr>
              <a:t>type=</a:t>
            </a:r>
            <a:r>
              <a:rPr lang="ru-RU" sz="2000" b="1" dirty="0">
                <a:solidFill>
                  <a:schemeClr val="bg1"/>
                </a:solidFill>
              </a:rPr>
              <a:t>"</a:t>
            </a:r>
            <a:r>
              <a:rPr lang="ru-RU" sz="2000" b="1" dirty="0" err="1">
                <a:solidFill>
                  <a:schemeClr val="bg1"/>
                </a:solidFill>
              </a:rPr>
              <a:t>text</a:t>
            </a:r>
            <a:r>
              <a:rPr lang="ru-RU" sz="2000" b="1" dirty="0">
                <a:solidFill>
                  <a:schemeClr val="bg1"/>
                </a:solidFill>
              </a:rPr>
              <a:t>"]</a:t>
            </a:r>
            <a:r>
              <a:rPr lang="ru-RU" sz="2000" dirty="0">
                <a:solidFill>
                  <a:schemeClr val="bg1"/>
                </a:solidFill>
              </a:rPr>
              <a:t>, то тогда атрибут </a:t>
            </a:r>
            <a:r>
              <a:rPr lang="ru-RU" sz="2000" b="1" dirty="0" err="1">
                <a:solidFill>
                  <a:schemeClr val="bg1"/>
                </a:solidFill>
              </a:rPr>
              <a:t>type=</a:t>
            </a:r>
            <a:r>
              <a:rPr lang="ru-RU" sz="2000" b="1" dirty="0">
                <a:solidFill>
                  <a:schemeClr val="bg1"/>
                </a:solidFill>
              </a:rPr>
              <a:t>"</a:t>
            </a:r>
            <a:r>
              <a:rPr lang="ru-RU" sz="2000" b="1" dirty="0" err="1">
                <a:solidFill>
                  <a:schemeClr val="bg1"/>
                </a:solidFill>
              </a:rPr>
              <a:t>text</a:t>
            </a:r>
            <a:r>
              <a:rPr lang="ru-RU" sz="2000" b="1" dirty="0">
                <a:solidFill>
                  <a:schemeClr val="bg1"/>
                </a:solidFill>
              </a:rPr>
              <a:t>"</a:t>
            </a:r>
            <a:r>
              <a:rPr lang="ru-RU" sz="2000" dirty="0">
                <a:solidFill>
                  <a:schemeClr val="bg1"/>
                </a:solidFill>
              </a:rPr>
              <a:t> пропускать нельзя. </a:t>
            </a:r>
            <a:br>
              <a:rPr lang="ru-RU" sz="2000" dirty="0">
                <a:solidFill>
                  <a:schemeClr val="bg1"/>
                </a:solidFill>
              </a:rPr>
            </a:br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Имя поля, задаваемое атрибутом </a:t>
            </a:r>
            <a:r>
              <a:rPr lang="ru-RU" sz="2000" b="1" dirty="0" err="1">
                <a:solidFill>
                  <a:schemeClr val="bg1"/>
                </a:solidFill>
              </a:rPr>
              <a:t>name</a:t>
            </a:r>
            <a:r>
              <a:rPr lang="ru-RU" sz="2000" dirty="0">
                <a:solidFill>
                  <a:schemeClr val="bg1"/>
                </a:solidFill>
              </a:rPr>
              <a:t>, всегда обязательно, так как базируясь именно на этом параметре, браузер передает сценарию пару </a:t>
            </a:r>
            <a:r>
              <a:rPr lang="ru-RU" sz="2000" dirty="0" err="1">
                <a:solidFill>
                  <a:schemeClr val="bg1"/>
                </a:solidFill>
              </a:rPr>
              <a:t>имя=значение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&lt;input name="surname" value="</a:t>
            </a:r>
            <a:r>
              <a:rPr lang="en-US" sz="2000" dirty="0" err="1">
                <a:solidFill>
                  <a:schemeClr val="bg1"/>
                </a:solidFill>
              </a:rPr>
              <a:t>Иванов</a:t>
            </a:r>
            <a:r>
              <a:rPr lang="en-US" sz="2000" dirty="0">
                <a:solidFill>
                  <a:schemeClr val="bg1"/>
                </a:solidFill>
              </a:rPr>
              <a:t>"&gt;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en-US" sz="2000" dirty="0">
                <a:solidFill>
                  <a:schemeClr val="bg1"/>
                </a:solidFill>
              </a:rPr>
              <a:t>value – </a:t>
            </a:r>
            <a:r>
              <a:rPr lang="ru-RU" sz="2000" dirty="0">
                <a:solidFill>
                  <a:schemeClr val="bg1"/>
                </a:solidFill>
              </a:rPr>
              <a:t>задает значение по умолчанию.</a:t>
            </a:r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autocomplete</a:t>
            </a:r>
            <a:r>
              <a:rPr lang="en-US" sz="2000" b="1" dirty="0">
                <a:solidFill>
                  <a:schemeClr val="bg1"/>
                </a:solidFill>
              </a:rPr>
              <a:t> - </a:t>
            </a:r>
            <a:r>
              <a:rPr lang="ru-RU" sz="2000" dirty="0">
                <a:solidFill>
                  <a:schemeClr val="bg1"/>
                </a:solidFill>
              </a:rPr>
              <a:t>Этот атрибут помогает заполнять поля форм текстом, который был введён в них ранее. Значения сохраняет и подставляет браузер, при этом </a:t>
            </a:r>
            <a:r>
              <a:rPr lang="ru-RU" sz="2000" dirty="0" err="1">
                <a:solidFill>
                  <a:schemeClr val="bg1"/>
                </a:solidFill>
              </a:rPr>
              <a:t>автозаполнение</a:t>
            </a:r>
            <a:r>
              <a:rPr lang="ru-RU" sz="2000" dirty="0">
                <a:solidFill>
                  <a:schemeClr val="bg1"/>
                </a:solidFill>
              </a:rPr>
              <a:t> по соображениям безопасности может отключаться пользователем в настройках и не может в таком случае управляться атрибутом </a:t>
            </a:r>
            <a:r>
              <a:rPr lang="ru-RU" sz="2000" dirty="0" err="1">
                <a:solidFill>
                  <a:schemeClr val="bg1"/>
                </a:solidFill>
              </a:rPr>
              <a:t>autocomplete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Значения</a:t>
            </a:r>
          </a:p>
          <a:p>
            <a:r>
              <a:rPr lang="en-US" sz="2000" dirty="0">
                <a:solidFill>
                  <a:schemeClr val="bg1"/>
                </a:solidFill>
              </a:rPr>
              <a:t>o</a:t>
            </a:r>
            <a:r>
              <a:rPr lang="ru-RU" sz="2000" dirty="0" err="1">
                <a:solidFill>
                  <a:schemeClr val="bg1"/>
                </a:solidFill>
              </a:rPr>
              <a:t>n</a:t>
            </a:r>
            <a:r>
              <a:rPr lang="en-US" sz="2000" dirty="0">
                <a:solidFill>
                  <a:schemeClr val="bg1"/>
                </a:solidFill>
              </a:rPr>
              <a:t> -</a:t>
            </a:r>
            <a:r>
              <a:rPr lang="ru-RU" sz="2000" dirty="0">
                <a:solidFill>
                  <a:schemeClr val="bg1"/>
                </a:solidFill>
              </a:rPr>
              <a:t>Включает </a:t>
            </a:r>
            <a:r>
              <a:rPr lang="ru-RU" sz="2000" dirty="0" err="1">
                <a:solidFill>
                  <a:schemeClr val="bg1"/>
                </a:solidFill>
              </a:rPr>
              <a:t>автозаполнение</a:t>
            </a:r>
            <a:r>
              <a:rPr lang="ru-RU" sz="2000" dirty="0">
                <a:solidFill>
                  <a:schemeClr val="bg1"/>
                </a:solidFill>
              </a:rPr>
              <a:t> текста.</a:t>
            </a:r>
            <a:r>
              <a:rPr lang="en-US" sz="2000" dirty="0">
                <a:solidFill>
                  <a:schemeClr val="bg1"/>
                </a:solidFill>
              </a:rPr>
              <a:t> o</a:t>
            </a:r>
            <a:r>
              <a:rPr lang="ru-RU" sz="2000" dirty="0" err="1">
                <a:solidFill>
                  <a:schemeClr val="bg1"/>
                </a:solidFill>
              </a:rPr>
              <a:t>ff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ru-RU" sz="2000" dirty="0">
                <a:solidFill>
                  <a:schemeClr val="bg1"/>
                </a:solidFill>
              </a:rPr>
              <a:t>Отключает </a:t>
            </a:r>
            <a:r>
              <a:rPr lang="ru-RU" sz="2000" dirty="0" err="1">
                <a:solidFill>
                  <a:schemeClr val="bg1"/>
                </a:solidFill>
              </a:rPr>
              <a:t>автозаполнение</a:t>
            </a:r>
            <a:r>
              <a:rPr lang="ru-RU" sz="2000" dirty="0">
                <a:solidFill>
                  <a:schemeClr val="bg1"/>
                </a:solidFill>
              </a:rPr>
              <a:t>. Это значение обычно используется для отмены сохранения в браузере важных данных (паролей, номеров банковских карт), а также редко вводимых или уникальных данных (</a:t>
            </a:r>
            <a:r>
              <a:rPr lang="ru-RU" sz="2000" dirty="0" err="1">
                <a:solidFill>
                  <a:schemeClr val="bg1"/>
                </a:solidFill>
              </a:rPr>
              <a:t>капча</a:t>
            </a:r>
            <a:r>
              <a:rPr lang="ru-RU" sz="2000" dirty="0">
                <a:solidFill>
                  <a:schemeClr val="bg1"/>
                </a:solidFill>
              </a:rPr>
              <a:t>).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Обязательный атрибут</a:t>
            </a:r>
          </a:p>
          <a:p>
            <a:r>
              <a:rPr lang="ru-RU" sz="2000" dirty="0">
                <a:solidFill>
                  <a:schemeClr val="bg1"/>
                </a:solidFill>
              </a:rPr>
              <a:t>Нет.</a:t>
            </a:r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Значение по умолчанию</a:t>
            </a:r>
          </a:p>
          <a:p>
            <a:r>
              <a:rPr lang="ru-RU" sz="2000" dirty="0">
                <a:solidFill>
                  <a:schemeClr val="bg1"/>
                </a:solidFill>
              </a:rPr>
              <a:t>Зависит от настроек браузера.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624786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autofocus - </a:t>
            </a:r>
            <a:r>
              <a:rPr lang="ru-RU" sz="2000" dirty="0">
                <a:solidFill>
                  <a:schemeClr val="bg1"/>
                </a:solidFill>
              </a:rPr>
              <a:t>Автоматически устанавливает фокус в поле формы. В таком поле можно сразу набирать текст без явного щелчка по нему курсором мыши.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Значения</a:t>
            </a:r>
          </a:p>
          <a:p>
            <a:r>
              <a:rPr lang="ru-RU" sz="2000" dirty="0">
                <a:solidFill>
                  <a:schemeClr val="bg1"/>
                </a:solidFill>
              </a:rPr>
              <a:t>Нет.</a:t>
            </a:r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Значение по умолчанию</a:t>
            </a:r>
          </a:p>
          <a:p>
            <a:r>
              <a:rPr lang="ru-RU" sz="2000" dirty="0">
                <a:solidFill>
                  <a:schemeClr val="bg1"/>
                </a:solidFill>
              </a:rPr>
              <a:t>По умолчанию атрибут </a:t>
            </a:r>
            <a:r>
              <a:rPr lang="ru-RU" sz="2000" dirty="0" err="1">
                <a:solidFill>
                  <a:schemeClr val="bg1"/>
                </a:solidFill>
              </a:rPr>
              <a:t>autofocus</a:t>
            </a:r>
            <a:r>
              <a:rPr lang="ru-RU" sz="2000" dirty="0">
                <a:solidFill>
                  <a:schemeClr val="bg1"/>
                </a:solidFill>
              </a:rPr>
              <a:t> не установлен.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form - </a:t>
            </a:r>
            <a:r>
              <a:rPr lang="ru-RU" sz="2000" dirty="0">
                <a:solidFill>
                  <a:schemeClr val="bg1"/>
                </a:solidFill>
              </a:rPr>
              <a:t>Связывает поле с формой по её идентификатору. Такая связь необходима в случае, когда поле располагается за пределами </a:t>
            </a:r>
            <a:r>
              <a:rPr lang="ru-RU" sz="2000" b="1" dirty="0">
                <a:solidFill>
                  <a:schemeClr val="bg1"/>
                </a:solidFill>
              </a:rPr>
              <a:t>&lt;form&gt;</a:t>
            </a:r>
            <a:r>
              <a:rPr lang="ru-RU" sz="2000" dirty="0">
                <a:solidFill>
                  <a:schemeClr val="bg1"/>
                </a:solidFill>
              </a:rPr>
              <a:t>, например, при создании её программно или по соображениям дизайна.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Значения</a:t>
            </a:r>
          </a:p>
          <a:p>
            <a:r>
              <a:rPr lang="ru-RU" sz="2000" dirty="0">
                <a:solidFill>
                  <a:schemeClr val="bg1"/>
                </a:solidFill>
              </a:rPr>
              <a:t>Идентификатор формы (значение атрибута id тега </a:t>
            </a:r>
            <a:r>
              <a:rPr lang="ru-RU" sz="2000" b="1" dirty="0">
                <a:solidFill>
                  <a:schemeClr val="bg1"/>
                </a:solidFill>
              </a:rPr>
              <a:t>&lt;form&gt;</a:t>
            </a:r>
            <a:r>
              <a:rPr lang="ru-RU" sz="2000" dirty="0">
                <a:solidFill>
                  <a:schemeClr val="bg1"/>
                </a:solidFill>
              </a:rPr>
              <a:t>).</a:t>
            </a:r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Значение по умолчанию</a:t>
            </a:r>
          </a:p>
          <a:p>
            <a:r>
              <a:rPr lang="ru-RU" sz="2000" dirty="0">
                <a:solidFill>
                  <a:schemeClr val="bg1"/>
                </a:solidFill>
              </a:rPr>
              <a:t>Нет.</a:t>
            </a:r>
            <a:endParaRPr lang="en-US" sz="2000" b="1" dirty="0">
              <a:solidFill>
                <a:schemeClr val="bg1"/>
              </a:solidFill>
            </a:endParaRPr>
          </a:p>
        </p:txBody>
      </p:sp>
      <p:cxnSp>
        <p:nvCxnSpPr>
          <p:cNvPr id="4" name="Прямая соединительная линия 3"/>
          <p:cNvCxnSpPr/>
          <p:nvPr/>
        </p:nvCxnSpPr>
        <p:spPr>
          <a:xfrm>
            <a:off x="-180528" y="3212976"/>
            <a:ext cx="94330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840230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b="1" dirty="0" err="1">
                <a:solidFill>
                  <a:schemeClr val="bg1"/>
                </a:solidFill>
              </a:rPr>
              <a:t>maxlength</a:t>
            </a:r>
            <a:r>
              <a:rPr lang="en-US" sz="2000" b="1" dirty="0">
                <a:solidFill>
                  <a:schemeClr val="bg1"/>
                </a:solidFill>
              </a:rPr>
              <a:t> - </a:t>
            </a:r>
            <a:r>
              <a:rPr lang="ru-RU" sz="2000" dirty="0">
                <a:solidFill>
                  <a:schemeClr val="bg1"/>
                </a:solidFill>
              </a:rPr>
              <a:t>Устанавливает максимальное число символов, которое может быть введено в текстовом поле. Когда это количество достигается при наборе, дальнейший ввод становится невозможным.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Значения</a:t>
            </a:r>
          </a:p>
          <a:p>
            <a:r>
              <a:rPr lang="ru-RU" sz="2000" dirty="0">
                <a:solidFill>
                  <a:schemeClr val="bg1"/>
                </a:solidFill>
              </a:rPr>
              <a:t>Любое целое положительное число.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Значение по умолчанию</a:t>
            </a:r>
          </a:p>
          <a:p>
            <a:r>
              <a:rPr lang="ru-RU" sz="2000" dirty="0">
                <a:solidFill>
                  <a:schemeClr val="bg1"/>
                </a:solidFill>
              </a:rPr>
              <a:t>Ввод символов не ограничен.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name - </a:t>
            </a:r>
            <a:r>
              <a:rPr lang="ru-RU" sz="2000" dirty="0">
                <a:solidFill>
                  <a:schemeClr val="bg1"/>
                </a:solidFill>
              </a:rPr>
              <a:t>Определяет уникальное имя элемента формы. Как правило, это имя используется при отправке данных на сервер или для доступа к введенным данным поля через </a:t>
            </a:r>
            <a:r>
              <a:rPr lang="ru-RU" sz="2000" dirty="0" err="1">
                <a:solidFill>
                  <a:schemeClr val="bg1"/>
                </a:solidFill>
              </a:rPr>
              <a:t>скрипты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Значения</a:t>
            </a:r>
          </a:p>
          <a:p>
            <a:r>
              <a:rPr lang="ru-RU" sz="2000" dirty="0">
                <a:solidFill>
                  <a:schemeClr val="bg1"/>
                </a:solidFill>
              </a:rPr>
              <a:t>В качестве имени используется набор символов, включая числа и буквы. </a:t>
            </a:r>
            <a:r>
              <a:rPr lang="ru-RU" sz="2000" dirty="0" err="1">
                <a:solidFill>
                  <a:schemeClr val="bg1"/>
                </a:solidFill>
              </a:rPr>
              <a:t>JavaScript</a:t>
            </a:r>
            <a:r>
              <a:rPr lang="ru-RU" sz="2000" dirty="0">
                <a:solidFill>
                  <a:schemeClr val="bg1"/>
                </a:solidFill>
              </a:rPr>
              <a:t> чувствителен к регистру, поэтому при обращении к элементу по имени соблюдайте ту же форму написания, что и в атрибуте </a:t>
            </a:r>
            <a:r>
              <a:rPr lang="ru-RU" sz="2000" dirty="0" err="1">
                <a:solidFill>
                  <a:schemeClr val="bg1"/>
                </a:solidFill>
              </a:rPr>
              <a:t>name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Значение по умолчанию</a:t>
            </a:r>
          </a:p>
          <a:p>
            <a:r>
              <a:rPr lang="ru-RU" sz="2000" dirty="0">
                <a:solidFill>
                  <a:schemeClr val="bg1"/>
                </a:solidFill>
              </a:rPr>
              <a:t>Нет.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pattern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placeholder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required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size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width</a:t>
            </a: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-289048" y="2924944"/>
            <a:ext cx="94330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pattern - </a:t>
            </a:r>
            <a:r>
              <a:rPr lang="ru-RU" sz="2000" dirty="0">
                <a:solidFill>
                  <a:schemeClr val="bg1"/>
                </a:solidFill>
              </a:rPr>
              <a:t>Указывает регулярное выражение, согласно которому требуется вводить и проверять данные в поле формы. Если присутствует атрибут </a:t>
            </a:r>
            <a:r>
              <a:rPr lang="ru-RU" sz="2000" dirty="0" err="1">
                <a:solidFill>
                  <a:schemeClr val="bg1"/>
                </a:solidFill>
              </a:rPr>
              <a:t>pattern</a:t>
            </a:r>
            <a:r>
              <a:rPr lang="ru-RU" sz="2000" dirty="0">
                <a:solidFill>
                  <a:schemeClr val="bg1"/>
                </a:solidFill>
              </a:rPr>
              <a:t>, то форма не будет отправляться, пока поле не будет заполнено правильно.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&lt;input type="text" pattern="2-[0-9]{3}-[0-9]{3}"&gt;</a:t>
            </a: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1971460"/>
          <a:ext cx="8640960" cy="4368898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565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99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[0-9]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Одна цифра от 0 до 9.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[^0-9]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Любой символ кроме цифры.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[A-Z]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Только заглавная латинская буква.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[A-Za-z]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Только латинская буква в любом регистре.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[</a:t>
                      </a:r>
                      <a:r>
                        <a:rPr lang="ru-RU" sz="1400" dirty="0" err="1">
                          <a:solidFill>
                            <a:schemeClr val="bg1"/>
                          </a:solidFill>
                        </a:rPr>
                        <a:t>А-Яа-яЁё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]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Только русская буква в любом регистре.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[A-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Za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-z</a:t>
                      </a:r>
                      <a:r>
                        <a:rPr lang="ru-RU" sz="1400" dirty="0" err="1">
                          <a:solidFill>
                            <a:schemeClr val="bg1"/>
                          </a:solidFill>
                        </a:rPr>
                        <a:t>А-Яа-яЁё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]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Любая буква русского и латинского алфавита.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[0-9]{3}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Три цифры.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[A-</a:t>
                      </a:r>
                      <a:r>
                        <a:rPr lang="en-US" sz="1400" dirty="0" err="1">
                          <a:solidFill>
                            <a:schemeClr val="bg1"/>
                          </a:solidFill>
                        </a:rPr>
                        <a:t>Za</a:t>
                      </a:r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-z]{6,}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Не менее шести латинских букв.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[0-9]{,3}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Не более трёх цифр.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[0-9]{5,10}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От пяти до десяти цифр.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^[a-zA-Z]+$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Любое слово на латинице.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^[А-Яа-яЁё\</a:t>
                      </a:r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s]+$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Любое слово на русском включая пробелы.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^[ 0-9]+$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Любое число.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[0-9]{6}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Почтовый индекс.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\d+(,\d{2})?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Число в формате 1,34 (разделитель запятая).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\d+(\.\d{2})?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ru-RU" sz="1400">
                          <a:solidFill>
                            <a:schemeClr val="bg1"/>
                          </a:solidFill>
                        </a:rPr>
                        <a:t>Число в формате 2.10 (разделитель точка).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56994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\d{1,3}\.\d{1,3}\.\d{1,3}\.\d{1,3}</a:t>
                      </a:r>
                    </a:p>
                  </a:txBody>
                  <a:tcPr marL="19617" marR="19617" marT="19617" marB="19617" anchor="ctr"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IP-</a:t>
                      </a:r>
                      <a:r>
                        <a:rPr lang="ru-RU" sz="1400" dirty="0">
                          <a:solidFill>
                            <a:schemeClr val="bg1"/>
                          </a:solidFill>
                        </a:rPr>
                        <a:t>адрес</a:t>
                      </a:r>
                    </a:p>
                  </a:txBody>
                  <a:tcPr marL="19617" marR="19617" marT="19617" marB="19617"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655564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placeholder - </a:t>
            </a:r>
            <a:r>
              <a:rPr lang="ru-RU" sz="2000" dirty="0">
                <a:solidFill>
                  <a:schemeClr val="bg1"/>
                </a:solidFill>
              </a:rPr>
              <a:t>Выводит текст внутри поля формы, который исчезает при вводе текста.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&lt;input type="</a:t>
            </a:r>
            <a:r>
              <a:rPr lang="en-US" sz="2000" b="1" dirty="0" err="1">
                <a:solidFill>
                  <a:schemeClr val="bg1"/>
                </a:solidFill>
              </a:rPr>
              <a:t>tel</a:t>
            </a:r>
            <a:r>
              <a:rPr lang="en-US" sz="2000" b="1" dirty="0">
                <a:solidFill>
                  <a:schemeClr val="bg1"/>
                </a:solidFill>
              </a:rPr>
              <a:t>" pattern="\d+(,\d{2})?" placeholder="</a:t>
            </a:r>
            <a:r>
              <a:rPr lang="ru-RU" sz="2000" b="1" dirty="0">
                <a:solidFill>
                  <a:schemeClr val="bg1"/>
                </a:solidFill>
              </a:rPr>
              <a:t>Введите 1,58 </a:t>
            </a:r>
            <a:r>
              <a:rPr lang="en-US" sz="2000" b="1" dirty="0">
                <a:solidFill>
                  <a:schemeClr val="bg1"/>
                </a:solidFill>
              </a:rPr>
              <a:t>"&gt;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required - </a:t>
            </a:r>
            <a:r>
              <a:rPr lang="ru-RU" sz="2000" dirty="0">
                <a:solidFill>
                  <a:schemeClr val="bg1"/>
                </a:solidFill>
              </a:rPr>
              <a:t>Устанавливает поле формы обязательным для заполнения перед отправкой формы на сервер. Если обязательное поле пустое, браузер выведет сообщение, а форма отправлена не будет. Вид и содержание сообщения зависит от браузера и меняться пользователем не может.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Size</a:t>
            </a:r>
            <a:r>
              <a:rPr lang="ru-RU" sz="2000" b="1" dirty="0">
                <a:solidFill>
                  <a:schemeClr val="bg1"/>
                </a:solidFill>
              </a:rPr>
              <a:t> - </a:t>
            </a:r>
            <a:r>
              <a:rPr lang="ru-RU" sz="2000" dirty="0">
                <a:solidFill>
                  <a:schemeClr val="bg1"/>
                </a:solidFill>
              </a:rPr>
              <a:t>Ширина текстового поля, которое определяется числом символов </a:t>
            </a:r>
            <a:r>
              <a:rPr lang="ru-RU" sz="2000" dirty="0" err="1">
                <a:solidFill>
                  <a:schemeClr val="bg1"/>
                </a:solidFill>
              </a:rPr>
              <a:t>моноширинного</a:t>
            </a:r>
            <a:r>
              <a:rPr lang="ru-RU" sz="2000" dirty="0">
                <a:solidFill>
                  <a:schemeClr val="bg1"/>
                </a:solidFill>
              </a:rPr>
              <a:t> шрифта. Иными словами, ширина задается количеством близстоящих букв одинаковой ширины по горизонтали. Если размер шрифта изменяется с помощью стилей, ширина также соответственно меняется.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b="1" dirty="0">
                <a:solidFill>
                  <a:schemeClr val="bg1"/>
                </a:solidFill>
              </a:rPr>
              <a:t>Значения</a:t>
            </a:r>
          </a:p>
          <a:p>
            <a:r>
              <a:rPr lang="ru-RU" sz="2000" dirty="0">
                <a:solidFill>
                  <a:schemeClr val="bg1"/>
                </a:solidFill>
              </a:rPr>
              <a:t>Любое целое положительное число.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Значение по умолчанию</a:t>
            </a:r>
          </a:p>
          <a:p>
            <a:r>
              <a:rPr lang="ru-RU" sz="2000" dirty="0">
                <a:solidFill>
                  <a:schemeClr val="bg1"/>
                </a:solidFill>
              </a:rPr>
              <a:t>20</a:t>
            </a:r>
            <a:endParaRPr lang="en-US" sz="2000" b="1" dirty="0">
              <a:solidFill>
                <a:schemeClr val="bg1"/>
              </a:solidFill>
            </a:endParaRPr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-289048" y="1700808"/>
            <a:ext cx="94330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" name="Прямая соединительная линия 3"/>
          <p:cNvCxnSpPr/>
          <p:nvPr/>
        </p:nvCxnSpPr>
        <p:spPr>
          <a:xfrm>
            <a:off x="-289048" y="3501008"/>
            <a:ext cx="94330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255454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Скрытое поле </a:t>
            </a:r>
            <a:r>
              <a:rPr lang="ru-RU" sz="2000" b="1" dirty="0">
                <a:solidFill>
                  <a:schemeClr val="bg1"/>
                </a:solidFill>
              </a:rPr>
              <a:t>HIDDEN</a:t>
            </a:r>
            <a:endParaRPr lang="en-US" sz="2000" b="1" dirty="0">
              <a:solidFill>
                <a:schemeClr val="bg1"/>
              </a:solidFill>
            </a:endParaRP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Это специальный (скрытый) тип текстового поля. Если один сценарий обрабатывает несколько разных форм, то в скрытом поле каждой формы можно указать идентификатор, который позволит определить, с какой формой вы имеете дело.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&lt;input type="hidden" name="</a:t>
            </a:r>
            <a:r>
              <a:rPr lang="en-US" sz="2000" dirty="0" err="1">
                <a:solidFill>
                  <a:schemeClr val="bg1"/>
                </a:solidFill>
              </a:rPr>
              <a:t>NumForm</a:t>
            </a:r>
            <a:r>
              <a:rPr lang="en-US" sz="2000" dirty="0">
                <a:solidFill>
                  <a:schemeClr val="bg1"/>
                </a:solidFill>
              </a:rPr>
              <a:t>" value ="1"&gt;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31700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Поле ввода пароля </a:t>
            </a:r>
            <a:r>
              <a:rPr lang="ru-RU" sz="2000" b="1" dirty="0">
                <a:solidFill>
                  <a:schemeClr val="bg1"/>
                </a:solidFill>
              </a:rPr>
              <a:t>PASSWORD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Поле ввода пароля очень похоже на простое текстовое поле. Отличается оно тем, что вместо вводимых символов в нем отображаются точки. Такая возможность очень важна, когда нужно ввести секретную информацию, типа пароля, которую не должны видеть другие.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&lt;input type="password" name="pass" placeholder="</a:t>
            </a:r>
            <a:r>
              <a:rPr lang="ru-RU" sz="2000" dirty="0">
                <a:solidFill>
                  <a:schemeClr val="bg1"/>
                </a:solidFill>
              </a:rPr>
              <a:t>Придумайте пароль" </a:t>
            </a:r>
            <a:r>
              <a:rPr lang="en-US" sz="2000" dirty="0">
                <a:solidFill>
                  <a:schemeClr val="bg1"/>
                </a:solidFill>
              </a:rPr>
              <a:t>pattern="[A-</a:t>
            </a:r>
            <a:r>
              <a:rPr lang="en-US" sz="2000" dirty="0" err="1">
                <a:solidFill>
                  <a:schemeClr val="bg1"/>
                </a:solidFill>
              </a:rPr>
              <a:t>Za</a:t>
            </a:r>
            <a:r>
              <a:rPr lang="en-US" sz="2000" dirty="0">
                <a:solidFill>
                  <a:schemeClr val="bg1"/>
                </a:solidFill>
              </a:rPr>
              <a:t>-z</a:t>
            </a:r>
            <a:r>
              <a:rPr lang="ru-RU" sz="2000" dirty="0" err="1">
                <a:solidFill>
                  <a:schemeClr val="bg1"/>
                </a:solidFill>
              </a:rPr>
              <a:t>А-Яа-яЁё</a:t>
            </a:r>
            <a:r>
              <a:rPr lang="ru-RU" sz="2000">
                <a:solidFill>
                  <a:schemeClr val="bg1"/>
                </a:solidFill>
              </a:rPr>
              <a:t>]{6,}"&gt;</a:t>
            </a:r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3245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Флажок </a:t>
            </a:r>
            <a:r>
              <a:rPr lang="ru-RU" sz="2000" b="1" dirty="0">
                <a:solidFill>
                  <a:schemeClr val="bg1"/>
                </a:solidFill>
              </a:rPr>
              <a:t>CHECKBOX</a:t>
            </a:r>
            <a:endParaRPr lang="en-US" sz="2000" b="1" dirty="0">
              <a:solidFill>
                <a:schemeClr val="bg1"/>
              </a:solidFill>
            </a:endParaRP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Когда флажок установлен, его значение, заданное атрибутом </a:t>
            </a:r>
            <a:r>
              <a:rPr lang="ru-RU" sz="2000" b="1" dirty="0" err="1">
                <a:solidFill>
                  <a:schemeClr val="bg1"/>
                </a:solidFill>
              </a:rPr>
              <a:t>value</a:t>
            </a:r>
            <a:r>
              <a:rPr lang="ru-RU" sz="2000" dirty="0">
                <a:solidFill>
                  <a:schemeClr val="bg1"/>
                </a:solidFill>
              </a:rPr>
              <a:t>, передается программе сценария. Если он не установлен, то его значение не передается совсем.</a:t>
            </a:r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Флажок может быть сразу установлен по умолчанию, если указан атрибут </a:t>
            </a:r>
            <a:r>
              <a:rPr lang="ru-RU" sz="2000" b="1" dirty="0" err="1">
                <a:solidFill>
                  <a:schemeClr val="bg1"/>
                </a:solidFill>
              </a:rPr>
              <a:t>checked</a:t>
            </a:r>
            <a:r>
              <a:rPr lang="ru-RU" sz="2000" dirty="0">
                <a:solidFill>
                  <a:schemeClr val="bg1"/>
                </a:solidFill>
              </a:rPr>
              <a:t>. По умолчанию атрибут </a:t>
            </a:r>
            <a:r>
              <a:rPr lang="ru-RU" sz="2000" b="1" dirty="0" err="1">
                <a:solidFill>
                  <a:schemeClr val="bg1"/>
                </a:solidFill>
              </a:rPr>
              <a:t>value</a:t>
            </a:r>
            <a:r>
              <a:rPr lang="ru-RU" sz="2000" dirty="0">
                <a:solidFill>
                  <a:schemeClr val="bg1"/>
                </a:solidFill>
              </a:rPr>
              <a:t> имеет значение </a:t>
            </a:r>
            <a:r>
              <a:rPr lang="ru-RU" sz="2000" b="1" dirty="0" err="1">
                <a:solidFill>
                  <a:schemeClr val="bg1"/>
                </a:solidFill>
              </a:rPr>
              <a:t>on</a:t>
            </a:r>
            <a:r>
              <a:rPr lang="ru-RU" sz="2000" dirty="0">
                <a:solidFill>
                  <a:schemeClr val="bg1"/>
                </a:solidFill>
              </a:rPr>
              <a:t> (установлен). Так как атрибут </a:t>
            </a:r>
            <a:r>
              <a:rPr lang="ru-RU" sz="2000" b="1" dirty="0" err="1">
                <a:solidFill>
                  <a:schemeClr val="bg1"/>
                </a:solidFill>
              </a:rPr>
              <a:t>value</a:t>
            </a:r>
            <a:r>
              <a:rPr lang="ru-RU" sz="2000" dirty="0">
                <a:solidFill>
                  <a:schemeClr val="bg1"/>
                </a:solidFill>
              </a:rPr>
              <a:t> здесь задает не надпись на флажке, а его внутреннее значение, передаваемое программе сценария, то если надо что-то подписать, пишите рядом с флажком или используйте тег &lt;label&gt;.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&lt;input type="checkbox" name="check" id="Receipt" value="Yes" checked&gt;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checked</a:t>
            </a:r>
            <a:r>
              <a:rPr lang="en-US" sz="2000" dirty="0">
                <a:solidFill>
                  <a:schemeClr val="bg1"/>
                </a:solidFill>
              </a:rPr>
              <a:t> – </a:t>
            </a:r>
            <a:r>
              <a:rPr lang="ru-RU" sz="2000" dirty="0">
                <a:solidFill>
                  <a:schemeClr val="bg1"/>
                </a:solidFill>
              </a:rPr>
              <a:t>устанавливает галочку в нужный вариант по умолчанию</a:t>
            </a:r>
          </a:p>
        </p:txBody>
      </p:sp>
    </p:spTree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13986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Переключатель </a:t>
            </a:r>
            <a:r>
              <a:rPr lang="ru-RU" sz="2000" b="1" dirty="0">
                <a:solidFill>
                  <a:schemeClr val="bg1"/>
                </a:solidFill>
              </a:rPr>
              <a:t>RADIO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Переключатель напоминает флажок, поскольку он тоже может находиться во включенном или выключенном состоянии.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По смыслу всегда предполагается, что в форме имеется несколько переключателей с одинаковым атрибутом </a:t>
            </a:r>
            <a:r>
              <a:rPr lang="ru-RU" b="1" dirty="0" err="1">
                <a:solidFill>
                  <a:schemeClr val="bg1"/>
                </a:solidFill>
              </a:rPr>
              <a:t>name</a:t>
            </a:r>
            <a:r>
              <a:rPr lang="ru-RU" dirty="0">
                <a:solidFill>
                  <a:schemeClr val="bg1"/>
                </a:solidFill>
              </a:rPr>
              <a:t>. У каждого из них свое значение атрибута </a:t>
            </a:r>
            <a:r>
              <a:rPr lang="ru-RU" b="1" dirty="0" err="1">
                <a:solidFill>
                  <a:schemeClr val="bg1"/>
                </a:solidFill>
              </a:rPr>
              <a:t>value</a:t>
            </a:r>
            <a:r>
              <a:rPr lang="ru-RU" dirty="0">
                <a:solidFill>
                  <a:schemeClr val="bg1"/>
                </a:solidFill>
              </a:rPr>
              <a:t>. 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Группа переключателей с одним и тем же именем в форме ведет себя таким образом, что только один из них может быть включенным. При передаче данных передается значение только выбранного переключателя.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Один переключатель из группы может быть изначально выбран по умолчанию с помощью атрибута </a:t>
            </a:r>
            <a:r>
              <a:rPr lang="ru-RU" b="1" dirty="0" err="1">
                <a:solidFill>
                  <a:schemeClr val="bg1"/>
                </a:solidFill>
              </a:rPr>
              <a:t>checked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Для того что бы осуществить переключение между выбором нужно для </a:t>
            </a:r>
            <a:r>
              <a:rPr lang="en-US" dirty="0">
                <a:solidFill>
                  <a:schemeClr val="bg1"/>
                </a:solidFill>
              </a:rPr>
              <a:t>radio</a:t>
            </a:r>
            <a:r>
              <a:rPr lang="ru-RU" dirty="0">
                <a:solidFill>
                  <a:schemeClr val="bg1"/>
                </a:solidFill>
              </a:rPr>
              <a:t> прописать одинаковый</a:t>
            </a:r>
            <a:r>
              <a:rPr lang="en-US" dirty="0">
                <a:solidFill>
                  <a:schemeClr val="bg1"/>
                </a:solidFill>
              </a:rPr>
              <a:t> name</a:t>
            </a:r>
            <a:r>
              <a:rPr lang="ru-RU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Файл </a:t>
            </a:r>
            <a:r>
              <a:rPr lang="ru-RU" sz="2000" b="1" dirty="0">
                <a:solidFill>
                  <a:schemeClr val="bg1"/>
                </a:solidFill>
              </a:rPr>
              <a:t>FILE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Позволяет передать сценарию любой файл. 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&lt;input type="file" name="file"&gt;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Атрибут </a:t>
            </a:r>
            <a:r>
              <a:rPr lang="en-US" sz="2000" b="1" dirty="0">
                <a:solidFill>
                  <a:schemeClr val="bg1"/>
                </a:solidFill>
              </a:rPr>
              <a:t>accept</a:t>
            </a:r>
            <a:r>
              <a:rPr lang="ru-RU" sz="2000" dirty="0">
                <a:solidFill>
                  <a:schemeClr val="bg1"/>
                </a:solidFill>
              </a:rPr>
              <a:t> - Определяет тип файла, разрешенных для отправки на сервер. Указывается только для &lt;</a:t>
            </a:r>
            <a:r>
              <a:rPr lang="en-US" sz="2000" dirty="0">
                <a:solidFill>
                  <a:schemeClr val="bg1"/>
                </a:solidFill>
              </a:rPr>
              <a:t>input type="file"&gt;. </a:t>
            </a:r>
            <a:r>
              <a:rPr lang="ru-RU" sz="2000" dirty="0">
                <a:solidFill>
                  <a:schemeClr val="bg1"/>
                </a:solidFill>
              </a:rPr>
              <a:t>Возможные значения: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accept=".gif", accept=".</a:t>
            </a:r>
            <a:r>
              <a:rPr lang="en-US" sz="2000" dirty="0" err="1">
                <a:solidFill>
                  <a:schemeClr val="bg1"/>
                </a:solidFill>
              </a:rPr>
              <a:t>pdf</a:t>
            </a:r>
            <a:r>
              <a:rPr lang="en-US" sz="2000" dirty="0">
                <a:solidFill>
                  <a:schemeClr val="bg1"/>
                </a:solidFill>
              </a:rPr>
              <a:t>", accept=".doc"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audio/* — </a:t>
            </a:r>
            <a:r>
              <a:rPr lang="ru-RU" sz="2000" dirty="0">
                <a:solidFill>
                  <a:schemeClr val="bg1"/>
                </a:solidFill>
              </a:rPr>
              <a:t>разрешает загрузку </a:t>
            </a:r>
            <a:r>
              <a:rPr lang="ru-RU" sz="2000" dirty="0" err="1">
                <a:solidFill>
                  <a:schemeClr val="bg1"/>
                </a:solidFill>
              </a:rPr>
              <a:t>аудиофайлов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video/* — </a:t>
            </a:r>
            <a:r>
              <a:rPr lang="ru-RU" sz="2000" dirty="0">
                <a:solidFill>
                  <a:schemeClr val="bg1"/>
                </a:solidFill>
              </a:rPr>
              <a:t>разрешает загрузку </a:t>
            </a:r>
            <a:r>
              <a:rPr lang="ru-RU" sz="2000" dirty="0" err="1">
                <a:solidFill>
                  <a:schemeClr val="bg1"/>
                </a:solidFill>
              </a:rPr>
              <a:t>видеофайлов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image/* — </a:t>
            </a:r>
            <a:r>
              <a:rPr lang="ru-RU" sz="2000" dirty="0">
                <a:solidFill>
                  <a:schemeClr val="bg1"/>
                </a:solidFill>
              </a:rPr>
              <a:t>разрешает загрузку изображений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Атрибут </a:t>
            </a:r>
            <a:r>
              <a:rPr lang="en-US" sz="2000" b="1" dirty="0">
                <a:solidFill>
                  <a:schemeClr val="bg1"/>
                </a:solidFill>
              </a:rPr>
              <a:t>multiple</a:t>
            </a:r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ru-RU" sz="2000" dirty="0">
                <a:solidFill>
                  <a:schemeClr val="bg1"/>
                </a:solidFill>
              </a:rPr>
              <a:t>– позволяет выбрать сразу несколько файлов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Файлы отправляются только методом </a:t>
            </a:r>
            <a:r>
              <a:rPr lang="en-US" sz="2000" dirty="0">
                <a:solidFill>
                  <a:schemeClr val="bg1"/>
                </a:solidFill>
              </a:rPr>
              <a:t>POST!</a:t>
            </a:r>
            <a:endParaRPr lang="ru-RU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224676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Картинка вместо кнопки </a:t>
            </a:r>
            <a:r>
              <a:rPr lang="en-US" sz="2000" b="1" dirty="0">
                <a:solidFill>
                  <a:schemeClr val="bg1"/>
                </a:solidFill>
              </a:rPr>
              <a:t>image</a:t>
            </a:r>
            <a:endParaRPr lang="ru-RU" sz="2000" b="1" dirty="0">
              <a:solidFill>
                <a:schemeClr val="bg1"/>
              </a:solidFill>
            </a:endParaRP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&lt;input class="</a:t>
            </a:r>
            <a:r>
              <a:rPr lang="en-US" sz="2000" dirty="0" err="1">
                <a:solidFill>
                  <a:schemeClr val="bg1"/>
                </a:solidFill>
              </a:rPr>
              <a:t>img</a:t>
            </a:r>
            <a:r>
              <a:rPr lang="en-US" sz="2000" dirty="0">
                <a:solidFill>
                  <a:schemeClr val="bg1"/>
                </a:solidFill>
              </a:rPr>
              <a:t>" type="image" </a:t>
            </a:r>
            <a:r>
              <a:rPr lang="en-US" sz="2000" dirty="0" err="1">
                <a:solidFill>
                  <a:schemeClr val="bg1"/>
                </a:solidFill>
              </a:rPr>
              <a:t>src</a:t>
            </a:r>
            <a:r>
              <a:rPr lang="en-US" sz="2000" dirty="0">
                <a:solidFill>
                  <a:schemeClr val="bg1"/>
                </a:solidFill>
              </a:rPr>
              <a:t>="https://ya-webdesign.com/images/go-sign-png-3.png"&gt;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type="image"</a:t>
            </a:r>
            <a:r>
              <a:rPr lang="ru-RU" sz="2000" dirty="0">
                <a:solidFill>
                  <a:schemeClr val="bg1"/>
                </a:solidFill>
              </a:rPr>
              <a:t> при нажатии происходит отправка формы. Аналог </a:t>
            </a:r>
            <a:r>
              <a:rPr lang="en-US" sz="2000" dirty="0">
                <a:solidFill>
                  <a:schemeClr val="bg1"/>
                </a:solidFill>
              </a:rPr>
              <a:t>submit</a:t>
            </a:r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317009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&lt;input type="submit"&gt; - </a:t>
            </a:r>
            <a:r>
              <a:rPr lang="ru-RU" sz="2000" dirty="0">
                <a:solidFill>
                  <a:schemeClr val="bg1"/>
                </a:solidFill>
              </a:rPr>
              <a:t>создает кнопку.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&lt;</a:t>
            </a:r>
            <a:r>
              <a:rPr lang="ru-RU" sz="2000" b="1" dirty="0" err="1">
                <a:solidFill>
                  <a:schemeClr val="bg1"/>
                </a:solidFill>
              </a:rPr>
              <a:t>button</a:t>
            </a:r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en-US" sz="2000" b="1" dirty="0">
                <a:solidFill>
                  <a:schemeClr val="bg1"/>
                </a:solidFill>
              </a:rPr>
              <a:t>type="submit"&gt;&lt;/button&gt;</a:t>
            </a:r>
            <a:r>
              <a:rPr lang="en-US" sz="2000" dirty="0"/>
              <a:t>&gt;</a:t>
            </a:r>
            <a:r>
              <a:rPr lang="en-US" sz="2000" b="1" dirty="0">
                <a:solidFill>
                  <a:schemeClr val="bg1"/>
                </a:solidFill>
              </a:rPr>
              <a:t> - </a:t>
            </a:r>
            <a:r>
              <a:rPr lang="ru-RU" sz="2000" dirty="0">
                <a:solidFill>
                  <a:schemeClr val="bg1"/>
                </a:solidFill>
              </a:rPr>
              <a:t>создает кнопку.</a:t>
            </a:r>
          </a:p>
          <a:p>
            <a:r>
              <a:rPr lang="ru-RU" sz="2000" dirty="0" err="1">
                <a:solidFill>
                  <a:schemeClr val="bg1"/>
                </a:solidFill>
              </a:rPr>
              <a:t>button</a:t>
            </a:r>
            <a:r>
              <a:rPr lang="ru-RU" sz="2000" dirty="0">
                <a:solidFill>
                  <a:schemeClr val="bg1"/>
                </a:solidFill>
              </a:rPr>
              <a:t> — </a:t>
            </a:r>
            <a:r>
              <a:rPr lang="ru-RU" sz="2000" dirty="0" err="1">
                <a:solidFill>
                  <a:schemeClr val="bg1"/>
                </a:solidFill>
              </a:rPr>
              <a:t>кликабельная</a:t>
            </a:r>
            <a:r>
              <a:rPr lang="ru-RU" sz="2000" dirty="0">
                <a:solidFill>
                  <a:schemeClr val="bg1"/>
                </a:solidFill>
              </a:rPr>
              <a:t> кнопка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 err="1">
                <a:solidFill>
                  <a:schemeClr val="bg1"/>
                </a:solidFill>
              </a:rPr>
              <a:t>reset</a:t>
            </a:r>
            <a:r>
              <a:rPr lang="ru-RU" sz="2000" dirty="0">
                <a:solidFill>
                  <a:schemeClr val="bg1"/>
                </a:solidFill>
              </a:rPr>
              <a:t> — кнопка сброса, возвращает первоначальное значение</a:t>
            </a:r>
            <a:br>
              <a:rPr lang="ru-RU" sz="2000" dirty="0">
                <a:solidFill>
                  <a:schemeClr val="bg1"/>
                </a:solidFill>
              </a:rPr>
            </a:br>
            <a:r>
              <a:rPr lang="ru-RU" sz="2000" dirty="0" err="1">
                <a:solidFill>
                  <a:schemeClr val="bg1"/>
                </a:solidFill>
              </a:rPr>
              <a:t>submit</a:t>
            </a:r>
            <a:r>
              <a:rPr lang="ru-RU" sz="2000" dirty="0">
                <a:solidFill>
                  <a:schemeClr val="bg1"/>
                </a:solidFill>
              </a:rPr>
              <a:t> — кнопка для отправки данных формы.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По функционалу это одно и тоже. Разница в том, что в </a:t>
            </a:r>
            <a:r>
              <a:rPr lang="en-US" sz="2000" b="1" dirty="0">
                <a:solidFill>
                  <a:schemeClr val="bg1"/>
                </a:solidFill>
              </a:rPr>
              <a:t>button </a:t>
            </a:r>
            <a:r>
              <a:rPr lang="ru-RU" sz="2000" dirty="0">
                <a:solidFill>
                  <a:schemeClr val="bg1"/>
                </a:solidFill>
              </a:rPr>
              <a:t>можно написать любую разметку</a:t>
            </a:r>
            <a:r>
              <a:rPr lang="en-US" sz="2000" dirty="0">
                <a:solidFill>
                  <a:schemeClr val="bg1"/>
                </a:solidFill>
              </a:rPr>
              <a:t>.</a:t>
            </a:r>
            <a:r>
              <a:rPr lang="ru-RU" sz="2000" dirty="0">
                <a:solidFill>
                  <a:schemeClr val="bg1"/>
                </a:solidFill>
              </a:rPr>
              <a:t> А еще у </a:t>
            </a:r>
            <a:r>
              <a:rPr lang="en-US" sz="2000" b="1" dirty="0">
                <a:solidFill>
                  <a:schemeClr val="bg1"/>
                </a:solidFill>
              </a:rPr>
              <a:t>button </a:t>
            </a:r>
            <a:r>
              <a:rPr lang="ru-RU" sz="2000" dirty="0">
                <a:solidFill>
                  <a:schemeClr val="bg1"/>
                </a:solidFill>
              </a:rPr>
              <a:t>по умолчанию тип </a:t>
            </a:r>
            <a:r>
              <a:rPr lang="ru-RU" sz="2000" dirty="0" err="1">
                <a:solidFill>
                  <a:schemeClr val="bg1"/>
                </a:solidFill>
              </a:rPr>
              <a:t>сабмит</a:t>
            </a:r>
            <a:r>
              <a:rPr lang="ru-RU" sz="2000" dirty="0">
                <a:solidFill>
                  <a:schemeClr val="bg1"/>
                </a:solidFill>
              </a:rPr>
              <a:t>. Так что надо специально прописывать &lt;</a:t>
            </a:r>
            <a:r>
              <a:rPr lang="ru-RU" sz="2000" dirty="0" err="1">
                <a:solidFill>
                  <a:schemeClr val="bg1"/>
                </a:solidFill>
              </a:rPr>
              <a:t>button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type=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button</a:t>
            </a:r>
            <a:r>
              <a:rPr lang="ru-RU" sz="2000" dirty="0">
                <a:solidFill>
                  <a:schemeClr val="bg1"/>
                </a:solidFill>
              </a:rPr>
              <a:t>"&gt;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32453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Элемент &lt;</a:t>
            </a:r>
            <a:r>
              <a:rPr lang="ru-RU" sz="2000" dirty="0" err="1">
                <a:solidFill>
                  <a:schemeClr val="bg1"/>
                </a:solidFill>
              </a:rPr>
              <a:t>textarea</a:t>
            </a:r>
            <a:r>
              <a:rPr lang="ru-RU" sz="2000" dirty="0">
                <a:solidFill>
                  <a:schemeClr val="bg1"/>
                </a:solidFill>
              </a:rPr>
              <a:t>&gt;...&lt;/</a:t>
            </a:r>
            <a:r>
              <a:rPr lang="ru-RU" sz="2000" dirty="0" err="1">
                <a:solidFill>
                  <a:schemeClr val="bg1"/>
                </a:solidFill>
              </a:rPr>
              <a:t>textarea</a:t>
            </a:r>
            <a:r>
              <a:rPr lang="ru-RU" sz="2000" dirty="0">
                <a:solidFill>
                  <a:schemeClr val="bg1"/>
                </a:solidFill>
              </a:rPr>
              <a:t>&gt; 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Используется вместо элемента &lt;</a:t>
            </a:r>
            <a:r>
              <a:rPr lang="ru-RU" sz="2000" dirty="0" err="1">
                <a:solidFill>
                  <a:schemeClr val="bg1"/>
                </a:solidFill>
              </a:rPr>
              <a:t>input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type=</a:t>
            </a:r>
            <a:r>
              <a:rPr lang="ru-RU" sz="2000" dirty="0">
                <a:solidFill>
                  <a:schemeClr val="bg1"/>
                </a:solidFill>
              </a:rPr>
              <a:t>"</a:t>
            </a:r>
            <a:r>
              <a:rPr lang="ru-RU" sz="2000" dirty="0" err="1">
                <a:solidFill>
                  <a:schemeClr val="bg1"/>
                </a:solidFill>
              </a:rPr>
              <a:t>text</a:t>
            </a:r>
            <a:r>
              <a:rPr lang="ru-RU" sz="2000" dirty="0">
                <a:solidFill>
                  <a:schemeClr val="bg1"/>
                </a:solidFill>
              </a:rPr>
              <a:t>"&gt;, когда нужно создать большие текстовые поля. 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Текст, отображаемый как исходное значение, помещается внутрь тега. </a:t>
            </a:r>
          </a:p>
          <a:p>
            <a:r>
              <a:rPr lang="ru-RU" sz="2000" dirty="0">
                <a:solidFill>
                  <a:schemeClr val="bg1"/>
                </a:solidFill>
              </a:rPr>
              <a:t>Размеры поля устанавливаются при помощи атрибутов </a:t>
            </a:r>
            <a:r>
              <a:rPr lang="ru-RU" sz="2000" dirty="0" err="1">
                <a:solidFill>
                  <a:schemeClr val="bg1"/>
                </a:solidFill>
              </a:rPr>
              <a:t>cols</a:t>
            </a:r>
            <a:r>
              <a:rPr lang="ru-RU" sz="2000" dirty="0">
                <a:solidFill>
                  <a:schemeClr val="bg1"/>
                </a:solidFill>
              </a:rPr>
              <a:t> – размеры по горизонтали, </a:t>
            </a:r>
            <a:r>
              <a:rPr lang="ru-RU" sz="2000" dirty="0" err="1">
                <a:solidFill>
                  <a:schemeClr val="bg1"/>
                </a:solidFill>
              </a:rPr>
              <a:t>rows</a:t>
            </a:r>
            <a:r>
              <a:rPr lang="ru-RU" sz="2000" dirty="0">
                <a:solidFill>
                  <a:schemeClr val="bg1"/>
                </a:solidFill>
              </a:rPr>
              <a:t> – размеры по вертикали. Высоту поля можно задать свойством </a:t>
            </a:r>
            <a:r>
              <a:rPr lang="ru-RU" sz="2000" dirty="0" err="1">
                <a:solidFill>
                  <a:schemeClr val="bg1"/>
                </a:solidFill>
              </a:rPr>
              <a:t>height</a:t>
            </a:r>
            <a:r>
              <a:rPr lang="ru-RU" sz="2000" dirty="0">
                <a:solidFill>
                  <a:schemeClr val="bg1"/>
                </a:solidFill>
              </a:rPr>
              <a:t>. Все размеры считаются исходя из размера одного символа </a:t>
            </a:r>
            <a:r>
              <a:rPr lang="ru-RU" sz="2000" dirty="0" err="1">
                <a:solidFill>
                  <a:schemeClr val="bg1"/>
                </a:solidFill>
              </a:rPr>
              <a:t>моноширинного</a:t>
            </a:r>
            <a:r>
              <a:rPr lang="ru-RU" sz="2000" dirty="0">
                <a:solidFill>
                  <a:schemeClr val="bg1"/>
                </a:solidFill>
              </a:rPr>
              <a:t> шрифта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Что бы пользователь не смог изменить размер поля в </a:t>
            </a:r>
            <a:r>
              <a:rPr lang="en-US" sz="2000" dirty="0" err="1">
                <a:solidFill>
                  <a:schemeClr val="bg1"/>
                </a:solidFill>
              </a:rPr>
              <a:t>css</a:t>
            </a:r>
            <a:r>
              <a:rPr lang="ru-RU" sz="2000" dirty="0">
                <a:solidFill>
                  <a:schemeClr val="bg1"/>
                </a:solidFill>
              </a:rPr>
              <a:t> нужно прописать для поля </a:t>
            </a:r>
            <a:r>
              <a:rPr lang="en-US" sz="2000" dirty="0" err="1">
                <a:solidFill>
                  <a:schemeClr val="bg1"/>
                </a:solidFill>
              </a:rPr>
              <a:t>textarea</a:t>
            </a:r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dirty="0">
                <a:solidFill>
                  <a:schemeClr val="bg1"/>
                </a:solidFill>
              </a:rPr>
              <a:t>width: 200px;</a:t>
            </a:r>
          </a:p>
          <a:p>
            <a:r>
              <a:rPr lang="en-US" sz="2000" dirty="0">
                <a:solidFill>
                  <a:schemeClr val="bg1"/>
                </a:solidFill>
              </a:rPr>
              <a:t>height: 150px;</a:t>
            </a:r>
          </a:p>
          <a:p>
            <a:r>
              <a:rPr lang="en-US" sz="2000" dirty="0">
                <a:solidFill>
                  <a:schemeClr val="bg1"/>
                </a:solidFill>
              </a:rPr>
              <a:t>resize: none;</a:t>
            </a:r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563231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Списки дают возможность расположить большое количество пунктов компактно. 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Раскрывающиеся списки создаются при помощи элемента &lt;</a:t>
            </a:r>
            <a:r>
              <a:rPr lang="ru-RU" sz="2000" dirty="0" err="1">
                <a:solidFill>
                  <a:schemeClr val="bg1"/>
                </a:solidFill>
              </a:rPr>
              <a:t>select</a:t>
            </a:r>
            <a:r>
              <a:rPr lang="ru-RU" sz="2000" dirty="0">
                <a:solidFill>
                  <a:schemeClr val="bg1"/>
                </a:solidFill>
              </a:rPr>
              <a:t>&gt;...&lt;/</a:t>
            </a:r>
            <a:r>
              <a:rPr lang="ru-RU" sz="2000" dirty="0" err="1">
                <a:solidFill>
                  <a:schemeClr val="bg1"/>
                </a:solidFill>
              </a:rPr>
              <a:t>select</a:t>
            </a:r>
            <a:r>
              <a:rPr lang="ru-RU" sz="2000" dirty="0">
                <a:solidFill>
                  <a:schemeClr val="bg1"/>
                </a:solidFill>
              </a:rPr>
              <a:t>&gt;. 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Они позволяют выбрать одно или несколько значений из предложенного множества. 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По умолчанию в поле списка отображается его первый элемент.</a:t>
            </a:r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Для добавления в список пунктов используются элементы &lt;</a:t>
            </a:r>
            <a:r>
              <a:rPr lang="ru-RU" sz="2000" dirty="0" err="1">
                <a:solidFill>
                  <a:schemeClr val="bg1"/>
                </a:solidFill>
              </a:rPr>
              <a:t>option</a:t>
            </a:r>
            <a:r>
              <a:rPr lang="ru-RU" sz="2000" dirty="0">
                <a:solidFill>
                  <a:schemeClr val="bg1"/>
                </a:solidFill>
              </a:rPr>
              <a:t>&gt;...&lt;/</a:t>
            </a:r>
            <a:r>
              <a:rPr lang="ru-RU" sz="2000" dirty="0" err="1">
                <a:solidFill>
                  <a:schemeClr val="bg1"/>
                </a:solidFill>
              </a:rPr>
              <a:t>option</a:t>
            </a:r>
            <a:r>
              <a:rPr lang="ru-RU" sz="2000" dirty="0">
                <a:solidFill>
                  <a:schemeClr val="bg1"/>
                </a:solidFill>
              </a:rPr>
              <a:t>&gt;, которые располагаются внутри &lt;</a:t>
            </a:r>
            <a:r>
              <a:rPr lang="ru-RU" sz="2000" dirty="0" err="1">
                <a:solidFill>
                  <a:schemeClr val="bg1"/>
                </a:solidFill>
              </a:rPr>
              <a:t>select</a:t>
            </a:r>
            <a:r>
              <a:rPr lang="ru-RU" sz="2000" dirty="0">
                <a:solidFill>
                  <a:schemeClr val="bg1"/>
                </a:solidFill>
              </a:rPr>
              <a:t>&gt;.</a:t>
            </a:r>
            <a:endParaRPr lang="en-US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Для систематизации списков применяется элемент &lt;</a:t>
            </a:r>
            <a:r>
              <a:rPr lang="ru-RU" sz="2000" dirty="0" err="1">
                <a:solidFill>
                  <a:schemeClr val="bg1"/>
                </a:solidFill>
              </a:rPr>
              <a:t>optgroup</a:t>
            </a:r>
            <a:r>
              <a:rPr lang="ru-RU" sz="2000" dirty="0">
                <a:solidFill>
                  <a:schemeClr val="bg1"/>
                </a:solidFill>
              </a:rPr>
              <a:t>&gt;...&lt;/</a:t>
            </a:r>
            <a:r>
              <a:rPr lang="ru-RU" sz="2000" dirty="0" err="1">
                <a:solidFill>
                  <a:schemeClr val="bg1"/>
                </a:solidFill>
              </a:rPr>
              <a:t>optgroup</a:t>
            </a:r>
            <a:r>
              <a:rPr lang="ru-RU" sz="2000" dirty="0">
                <a:solidFill>
                  <a:schemeClr val="bg1"/>
                </a:solidFill>
              </a:rPr>
              <a:t>&gt;, который создает заголовки в списках.</a:t>
            </a:r>
          </a:p>
        </p:txBody>
      </p:sp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836712"/>
            <a:ext cx="8640960" cy="501675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&lt;select name="</a:t>
            </a:r>
            <a:r>
              <a:rPr lang="en-US" sz="2000" dirty="0" err="1">
                <a:solidFill>
                  <a:schemeClr val="bg1"/>
                </a:solidFill>
              </a:rPr>
              <a:t>selc</a:t>
            </a:r>
            <a:r>
              <a:rPr lang="en-US" sz="2000" dirty="0">
                <a:solidFill>
                  <a:schemeClr val="bg1"/>
                </a:solidFill>
              </a:rPr>
              <a:t>"&gt;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optgroup</a:t>
            </a:r>
            <a:r>
              <a:rPr lang="en-US" sz="2000" dirty="0">
                <a:solidFill>
                  <a:schemeClr val="bg1"/>
                </a:solidFill>
              </a:rPr>
              <a:t> label="</a:t>
            </a:r>
            <a:r>
              <a:rPr lang="ru-RU" sz="2000" dirty="0">
                <a:solidFill>
                  <a:schemeClr val="bg1"/>
                </a:solidFill>
              </a:rPr>
              <a:t>Рост</a:t>
            </a:r>
            <a:r>
              <a:rPr lang="en-US" sz="2000" dirty="0">
                <a:solidFill>
                  <a:schemeClr val="bg1"/>
                </a:solidFill>
              </a:rPr>
              <a:t>"&gt;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&lt;option label="150-160cm" value="1"&gt;&lt;/option&gt;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&lt;option label="160-170cm" value="2"&gt;&lt;/option&gt;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&lt;option label="170-180cm" value="3"&gt;&lt;/option&gt;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&lt;option label="180-200cm" value="4"&gt;&lt;/option&gt;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optgroup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</a:t>
            </a:r>
            <a:r>
              <a:rPr lang="en-US" sz="2000" dirty="0" err="1">
                <a:solidFill>
                  <a:schemeClr val="bg1"/>
                </a:solidFill>
              </a:rPr>
              <a:t>optgroup</a:t>
            </a:r>
            <a:r>
              <a:rPr lang="en-US" sz="2000" dirty="0">
                <a:solidFill>
                  <a:schemeClr val="bg1"/>
                </a:solidFill>
              </a:rPr>
              <a:t> label="</a:t>
            </a:r>
            <a:r>
              <a:rPr lang="ru-RU" sz="2000" dirty="0">
                <a:solidFill>
                  <a:schemeClr val="bg1"/>
                </a:solidFill>
              </a:rPr>
              <a:t>Вес</a:t>
            </a:r>
            <a:r>
              <a:rPr lang="en-US" sz="2000" dirty="0">
                <a:solidFill>
                  <a:schemeClr val="bg1"/>
                </a:solidFill>
              </a:rPr>
              <a:t>"&gt;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&lt;option label="30-50</a:t>
            </a:r>
            <a:r>
              <a:rPr lang="ru-RU" sz="2000" dirty="0">
                <a:solidFill>
                  <a:schemeClr val="bg1"/>
                </a:solidFill>
              </a:rPr>
              <a:t>кг" </a:t>
            </a:r>
            <a:r>
              <a:rPr lang="en-US" sz="2000" dirty="0">
                <a:solidFill>
                  <a:schemeClr val="bg1"/>
                </a:solidFill>
              </a:rPr>
              <a:t>value="3050"&gt;&lt;/option&gt;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&lt;option label="50-70</a:t>
            </a:r>
            <a:r>
              <a:rPr lang="ru-RU" sz="2000" dirty="0">
                <a:solidFill>
                  <a:schemeClr val="bg1"/>
                </a:solidFill>
              </a:rPr>
              <a:t>кг" </a:t>
            </a:r>
            <a:r>
              <a:rPr lang="en-US" sz="2000" dirty="0">
                <a:solidFill>
                  <a:schemeClr val="bg1"/>
                </a:solidFill>
              </a:rPr>
              <a:t>value="5070"&gt;&lt;/option&gt;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&lt;option label="70-100</a:t>
            </a:r>
            <a:r>
              <a:rPr lang="ru-RU" sz="2000" dirty="0">
                <a:solidFill>
                  <a:schemeClr val="bg1"/>
                </a:solidFill>
              </a:rPr>
              <a:t>кг" </a:t>
            </a:r>
            <a:r>
              <a:rPr lang="en-US" sz="2000" dirty="0">
                <a:solidFill>
                  <a:schemeClr val="bg1"/>
                </a:solidFill>
              </a:rPr>
              <a:t>value="70100"&gt;&lt;/option&gt;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</a:t>
            </a:r>
            <a:r>
              <a:rPr lang="en-US" sz="2000" dirty="0" err="1">
                <a:solidFill>
                  <a:schemeClr val="bg1"/>
                </a:solidFill>
              </a:rPr>
              <a:t>optgroup</a:t>
            </a:r>
            <a:r>
              <a:rPr lang="en-US" sz="2000" dirty="0">
                <a:solidFill>
                  <a:schemeClr val="bg1"/>
                </a:solidFill>
              </a:rPr>
              <a:t>&gt;</a:t>
            </a:r>
          </a:p>
          <a:p>
            <a:r>
              <a:rPr lang="en-US" sz="2000" dirty="0">
                <a:solidFill>
                  <a:schemeClr val="bg1"/>
                </a:solidFill>
              </a:rPr>
              <a:t>&lt;/select&gt;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При добавлении </a:t>
            </a:r>
            <a:r>
              <a:rPr lang="en-US" sz="2000" dirty="0">
                <a:solidFill>
                  <a:schemeClr val="bg1"/>
                </a:solidFill>
              </a:rPr>
              <a:t>multiple</a:t>
            </a:r>
            <a:r>
              <a:rPr lang="ru-RU" sz="2000" dirty="0">
                <a:solidFill>
                  <a:schemeClr val="bg1"/>
                </a:solidFill>
              </a:rPr>
              <a:t> в списке можно выбирать несколько значений!</a:t>
            </a:r>
          </a:p>
        </p:txBody>
      </p:sp>
    </p:spTree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60648"/>
            <a:ext cx="8640960" cy="34778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&lt;input type="color" name="color"&gt;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Генерирует палитры цветов в поддерживающих браузерах, давая пользователям возможность выбирать значения цветов в шестнадцатеричном формате.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&lt;input type="date" name="</a:t>
            </a:r>
            <a:r>
              <a:rPr lang="en-US" sz="2000" b="1" dirty="0" err="1">
                <a:solidFill>
                  <a:schemeClr val="bg1"/>
                </a:solidFill>
              </a:rPr>
              <a:t>dr</a:t>
            </a:r>
            <a:r>
              <a:rPr lang="en-US" sz="2000" b="1" dirty="0">
                <a:solidFill>
                  <a:schemeClr val="bg1"/>
                </a:solidFill>
              </a:rPr>
              <a:t>"&gt;</a:t>
            </a:r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Позволяет вводить дату в формате </a:t>
            </a:r>
            <a:r>
              <a:rPr lang="ru-RU" sz="2000" dirty="0" err="1">
                <a:solidFill>
                  <a:schemeClr val="bg1"/>
                </a:solidFill>
              </a:rPr>
              <a:t>дд.мм.гггг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</a:p>
          <a:p>
            <a:endParaRPr lang="ru-RU" sz="2000" b="1" dirty="0">
              <a:solidFill>
                <a:schemeClr val="bg1"/>
              </a:solidFill>
            </a:endParaRPr>
          </a:p>
          <a:p>
            <a:r>
              <a:rPr lang="en-US" sz="2000" b="1" dirty="0">
                <a:solidFill>
                  <a:schemeClr val="bg1"/>
                </a:solidFill>
              </a:rPr>
              <a:t>&lt;input type="email" name="email" required&gt;</a:t>
            </a:r>
            <a:endParaRPr lang="ru-RU" sz="2000" b="1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Позволяет проверять поле на наличие </a:t>
            </a:r>
            <a:r>
              <a:rPr lang="en-US" sz="2000" dirty="0">
                <a:solidFill>
                  <a:schemeClr val="bg1"/>
                </a:solidFill>
              </a:rPr>
              <a:t>@</a:t>
            </a:r>
            <a:r>
              <a:rPr lang="ru-RU" sz="2000" dirty="0">
                <a:solidFill>
                  <a:schemeClr val="bg1"/>
                </a:solidFill>
              </a:rPr>
              <a:t>. Без </a:t>
            </a:r>
            <a:r>
              <a:rPr lang="en-US" sz="2000" b="1" dirty="0">
                <a:solidFill>
                  <a:schemeClr val="bg1"/>
                </a:solidFill>
              </a:rPr>
              <a:t>required</a:t>
            </a:r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ru-RU" sz="2000" dirty="0" err="1">
                <a:solidFill>
                  <a:schemeClr val="bg1"/>
                </a:solidFill>
              </a:rPr>
              <a:t>безполезен</a:t>
            </a:r>
            <a:r>
              <a:rPr lang="ru-RU" sz="2000" dirty="0">
                <a:solidFill>
                  <a:schemeClr val="bg1"/>
                </a:solidFill>
              </a:rPr>
              <a:t>!</a:t>
            </a:r>
          </a:p>
        </p:txBody>
      </p:sp>
    </p:spTree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163121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Элемент </a:t>
            </a:r>
            <a:r>
              <a:rPr lang="en-US" sz="2000" b="1" dirty="0">
                <a:solidFill>
                  <a:schemeClr val="bg1"/>
                </a:solidFill>
              </a:rPr>
              <a:t>&lt;input&gt; &lt;/input &gt;</a:t>
            </a:r>
          </a:p>
          <a:p>
            <a:endParaRPr lang="en-US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Элемент &lt;</a:t>
            </a:r>
            <a:r>
              <a:rPr lang="ru-RU" sz="2000" dirty="0" err="1">
                <a:solidFill>
                  <a:schemeClr val="bg1"/>
                </a:solidFill>
              </a:rPr>
              <a:t>input</a:t>
            </a:r>
            <a:r>
              <a:rPr lang="ru-RU" sz="2000" dirty="0">
                <a:solidFill>
                  <a:schemeClr val="bg1"/>
                </a:solidFill>
              </a:rPr>
              <a:t>&gt; создает большинство полей формы. Атрибуты элемента отличаются в зависимости от типа поля, для создания которого используется этот элемент.</a:t>
            </a:r>
            <a:endParaRPr 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2420890"/>
          <a:ext cx="8640960" cy="1407865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72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57">
                <a:tc>
                  <a:txBody>
                    <a:bodyPr/>
                    <a:lstStyle/>
                    <a:p>
                      <a:pPr algn="l"/>
                      <a:r>
                        <a:rPr lang="ru-RU" sz="100" dirty="0">
                          <a:solidFill>
                            <a:schemeClr val="bg1"/>
                          </a:solidFill>
                        </a:rPr>
                        <a:t>Атрибут</a:t>
                      </a:r>
                    </a:p>
                  </a:txBody>
                  <a:tcPr marL="4280" marR="4280" marT="1998" marB="199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">
                          <a:solidFill>
                            <a:schemeClr val="bg1"/>
                          </a:solidFill>
                        </a:rPr>
                        <a:t>Значение / описание</a:t>
                      </a:r>
                    </a:p>
                  </a:txBody>
                  <a:tcPr marL="4280" marR="4280" marT="1998" marB="199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225">
                <a:tc>
                  <a:txBody>
                    <a:bodyPr/>
                    <a:lstStyle/>
                    <a:p>
                      <a:r>
                        <a:rPr kumimoji="0" lang="en-US" sz="1800" dirty="0">
                          <a:solidFill>
                            <a:schemeClr val="bg1"/>
                          </a:solidFill>
                        </a:rPr>
                        <a:t>maxlength</a:t>
                      </a:r>
                      <a:endParaRPr kumimoji="0" lang="en-US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80" marR="4280" marT="1427" marB="1427" anchor="ctr"/>
                </a:tc>
                <a:tc>
                  <a:txBody>
                    <a:bodyPr/>
                    <a:lstStyle/>
                    <a:p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Атрибут задает максимальное количество символов, вводимых в поле. Значение по умолчанию 524288 символов.</a:t>
                      </a:r>
                    </a:p>
                  </a:txBody>
                  <a:tcPr marL="4280" marR="4280" marT="1427" marB="14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854">
                <a:tc>
                  <a:txBody>
                    <a:bodyPr/>
                    <a:lstStyle/>
                    <a:p>
                      <a:r>
                        <a:rPr kumimoji="0" lang="en-US" sz="1800" dirty="0">
                          <a:solidFill>
                            <a:schemeClr val="bg1"/>
                          </a:solidFill>
                        </a:rPr>
                        <a:t>multiple</a:t>
                      </a:r>
                      <a:endParaRPr kumimoji="0" lang="en-US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80" marR="4280" marT="1427" marB="1427" anchor="ctr"/>
                </a:tc>
                <a:tc>
                  <a:txBody>
                    <a:bodyPr/>
                    <a:lstStyle/>
                    <a:p>
                      <a:r>
                        <a:rPr kumimoji="0" lang="ru-RU" sz="1800" dirty="0">
                          <a:solidFill>
                            <a:schemeClr val="bg1"/>
                          </a:solidFill>
                        </a:rPr>
                        <a:t>Позволяет пользователю ввести несколько значений атрибутов, разделяя их запятой. Применяется в отношении файлов и адресов электронной почты. Указывается без значения атрибута.</a:t>
                      </a:r>
                      <a:endParaRPr kumimoji="0" lang="ru-RU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80" marR="4280" marT="1427" marB="14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559215"/>
          <a:ext cx="8640960" cy="305949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728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127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557">
                <a:tc>
                  <a:txBody>
                    <a:bodyPr/>
                    <a:lstStyle/>
                    <a:p>
                      <a:pPr algn="l"/>
                      <a:r>
                        <a:rPr lang="ru-RU" sz="100" dirty="0">
                          <a:solidFill>
                            <a:schemeClr val="bg1"/>
                          </a:solidFill>
                        </a:rPr>
                        <a:t>Атрибут</a:t>
                      </a:r>
                    </a:p>
                  </a:txBody>
                  <a:tcPr marL="4280" marR="4280" marT="1998" marB="1998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ru-RU" sz="100">
                          <a:solidFill>
                            <a:schemeClr val="bg1"/>
                          </a:solidFill>
                        </a:rPr>
                        <a:t>Значение / описание</a:t>
                      </a:r>
                    </a:p>
                  </a:txBody>
                  <a:tcPr marL="4280" marR="4280" marT="1998" marB="1998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67">
                <a:tc>
                  <a:txBody>
                    <a:bodyPr/>
                    <a:lstStyle/>
                    <a:p>
                      <a:r>
                        <a:rPr kumimoji="0" lang="en-US" sz="1800" dirty="0">
                          <a:solidFill>
                            <a:schemeClr val="bg1"/>
                          </a:solidFill>
                        </a:rPr>
                        <a:t>autofocus</a:t>
                      </a:r>
                      <a:endParaRPr kumimoji="0" lang="en-US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80" marR="4280" marT="1427" marB="1427" anchor="ctr"/>
                </a:tc>
                <a:tc>
                  <a:txBody>
                    <a:bodyPr/>
                    <a:lstStyle/>
                    <a:p>
                      <a:r>
                        <a:rPr kumimoji="0" lang="ru-RU" sz="1800" dirty="0">
                          <a:solidFill>
                            <a:schemeClr val="bg1"/>
                          </a:solidFill>
                        </a:rPr>
                        <a:t>Позволяет сделать так, чтобы в загружаемой форме то или иное поле ввода уже имело фокус (было выбрано), являясь готовым к вводу значения.</a:t>
                      </a:r>
                      <a:endParaRPr kumimoji="0" lang="ru-RU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80" marR="4280" marT="1427" marB="142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67">
                <a:tc>
                  <a:txBody>
                    <a:bodyPr/>
                    <a:lstStyle/>
                    <a:p>
                      <a:r>
                        <a:rPr kumimoji="0" lang="en-US" sz="1800" dirty="0">
                          <a:solidFill>
                            <a:schemeClr val="bg1"/>
                          </a:solidFill>
                        </a:rPr>
                        <a:t>checked</a:t>
                      </a:r>
                      <a:endParaRPr kumimoji="0" lang="en-US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80" marR="4280" marT="1427" marB="1427" anchor="ctr"/>
                </a:tc>
                <a:tc>
                  <a:txBody>
                    <a:bodyPr/>
                    <a:lstStyle/>
                    <a:p>
                      <a:r>
                        <a:rPr kumimoji="0" lang="ru-RU" sz="1800" dirty="0">
                          <a:solidFill>
                            <a:schemeClr val="bg1"/>
                          </a:solidFill>
                        </a:rPr>
                        <a:t>Атрибут проверяет, установлен ли флажок по умолчанию при загрузке страницы для полей типа 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</a:rPr>
                        <a:t>type=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</a:rPr>
                        <a:t>"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</a:rPr>
                        <a:t>checkbox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</a:rPr>
                        <a:t>" и 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</a:rPr>
                        <a:t>type=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</a:rPr>
                        <a:t>"</a:t>
                      </a:r>
                      <a:r>
                        <a:rPr kumimoji="0" lang="ru-RU" sz="1800" dirty="0" err="1">
                          <a:solidFill>
                            <a:schemeClr val="bg1"/>
                          </a:solidFill>
                        </a:rPr>
                        <a:t>radio</a:t>
                      </a:r>
                      <a:r>
                        <a:rPr kumimoji="0" lang="ru-RU" sz="1800" dirty="0">
                          <a:solidFill>
                            <a:schemeClr val="bg1"/>
                          </a:solidFill>
                        </a:rPr>
                        <a:t>".</a:t>
                      </a:r>
                      <a:endParaRPr kumimoji="0" lang="ru-RU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80" marR="4280" marT="1427" marB="142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139">
                <a:tc>
                  <a:txBody>
                    <a:bodyPr/>
                    <a:lstStyle/>
                    <a:p>
                      <a:r>
                        <a:rPr kumimoji="0" lang="en-US" sz="1800" dirty="0">
                          <a:solidFill>
                            <a:schemeClr val="bg1"/>
                          </a:solidFill>
                        </a:rPr>
                        <a:t>disabled</a:t>
                      </a:r>
                      <a:endParaRPr kumimoji="0" lang="en-US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80" marR="4280" marT="1427" marB="1427" anchor="ctr"/>
                </a:tc>
                <a:tc>
                  <a:txBody>
                    <a:bodyPr/>
                    <a:lstStyle/>
                    <a:p>
                      <a:r>
                        <a:rPr kumimoji="0" lang="ru-RU" sz="1800" dirty="0">
                          <a:solidFill>
                            <a:schemeClr val="bg1"/>
                          </a:solidFill>
                        </a:rPr>
                        <a:t>Отключает возможность редактирования и копирования содержимого поля.</a:t>
                      </a:r>
                      <a:endParaRPr kumimoji="0" lang="ru-RU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80" marR="4280" marT="1427" marB="142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027">
                <a:tc>
                  <a:txBody>
                    <a:bodyPr/>
                    <a:lstStyle/>
                    <a:p>
                      <a:r>
                        <a:rPr kumimoji="0" lang="en-US" sz="1800" dirty="0" err="1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readonly</a:t>
                      </a:r>
                      <a:endParaRPr kumimoji="0" lang="en-US" sz="1800" dirty="0">
                        <a:solidFill>
                          <a:schemeClr val="bg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80" marR="4280" marT="1427" marB="1427" anchor="ctr"/>
                </a:tc>
                <a:tc>
                  <a:txBody>
                    <a:bodyPr/>
                    <a:lstStyle/>
                    <a:p>
                      <a:r>
                        <a:rPr kumimoji="0" lang="ru-RU" sz="18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Не позволяет пользователю изменять значения элементов формы, выделение и копирование текста при этом доступно. Указывается без значения атрибута.</a:t>
                      </a:r>
                    </a:p>
                  </a:txBody>
                  <a:tcPr marL="4280" marR="4280" marT="1427" marB="142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708920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4</a:t>
            </a:r>
            <a:r>
              <a:rPr lang="en-US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.</a:t>
            </a:r>
            <a:r>
              <a:rPr lang="ru-RU" sz="40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 Фреймы и их структура (теоретические сведения)</a:t>
            </a: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409342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2000" dirty="0">
                <a:solidFill>
                  <a:schemeClr val="bg1"/>
                </a:solidFill>
              </a:rPr>
              <a:t>Тег </a:t>
            </a:r>
            <a:r>
              <a:rPr lang="ru-RU" sz="2000" b="1" dirty="0">
                <a:solidFill>
                  <a:schemeClr val="bg1"/>
                </a:solidFill>
              </a:rPr>
              <a:t>&lt;</a:t>
            </a:r>
            <a:r>
              <a:rPr lang="ru-RU" sz="2000" b="1" dirty="0" err="1">
                <a:solidFill>
                  <a:schemeClr val="bg1"/>
                </a:solidFill>
              </a:rPr>
              <a:t>iframe</a:t>
            </a:r>
            <a:r>
              <a:rPr lang="ru-RU" sz="2000" b="1" dirty="0">
                <a:solidFill>
                  <a:schemeClr val="bg1"/>
                </a:solidFill>
              </a:rPr>
              <a:t>&gt;</a:t>
            </a:r>
            <a:r>
              <a:rPr lang="ru-RU" sz="2000" dirty="0">
                <a:solidFill>
                  <a:schemeClr val="bg1"/>
                </a:solidFill>
              </a:rPr>
              <a:t> (</a:t>
            </a:r>
            <a:r>
              <a:rPr lang="ru-RU" sz="2000" i="1" dirty="0">
                <a:solidFill>
                  <a:schemeClr val="bg1"/>
                </a:solidFill>
              </a:rPr>
              <a:t>HTML </a:t>
            </a:r>
            <a:r>
              <a:rPr lang="ru-RU" sz="2000" i="1" dirty="0" err="1">
                <a:solidFill>
                  <a:schemeClr val="bg1"/>
                </a:solidFill>
              </a:rPr>
              <a:t>Inline</a:t>
            </a:r>
            <a:r>
              <a:rPr lang="ru-RU" sz="2000" i="1" dirty="0">
                <a:solidFill>
                  <a:schemeClr val="bg1"/>
                </a:solidFill>
              </a:rPr>
              <a:t> </a:t>
            </a:r>
            <a:r>
              <a:rPr lang="ru-RU" sz="2000" i="1" dirty="0" err="1">
                <a:solidFill>
                  <a:schemeClr val="bg1"/>
                </a:solidFill>
              </a:rPr>
              <a:t>Frame</a:t>
            </a:r>
            <a:r>
              <a:rPr lang="ru-RU" sz="2000" i="1" dirty="0">
                <a:solidFill>
                  <a:schemeClr val="bg1"/>
                </a:solidFill>
              </a:rPr>
              <a:t> </a:t>
            </a:r>
            <a:r>
              <a:rPr lang="ru-RU" sz="2000" i="1" dirty="0" err="1">
                <a:solidFill>
                  <a:schemeClr val="bg1"/>
                </a:solidFill>
              </a:rPr>
              <a:t>Element</a:t>
            </a:r>
            <a:r>
              <a:rPr lang="ru-RU" sz="2000" dirty="0">
                <a:solidFill>
                  <a:schemeClr val="bg1"/>
                </a:solidFill>
              </a:rPr>
              <a:t>) определяет встроенную в </a:t>
            </a:r>
            <a:r>
              <a:rPr lang="ru-RU" sz="2000" dirty="0" err="1">
                <a:solidFill>
                  <a:schemeClr val="bg1"/>
                </a:solidFill>
              </a:rPr>
              <a:t>веб-страницу</a:t>
            </a:r>
            <a:r>
              <a:rPr lang="ru-RU" sz="2000" dirty="0">
                <a:solidFill>
                  <a:schemeClr val="bg1"/>
                </a:solidFill>
              </a:rPr>
              <a:t> область, которая может отображать содержимое отдельно взятого документа (например, </a:t>
            </a:r>
            <a:r>
              <a:rPr lang="ru-RU" sz="2000" b="1" dirty="0">
                <a:solidFill>
                  <a:schemeClr val="bg1"/>
                </a:solidFill>
              </a:rPr>
              <a:t>*.</a:t>
            </a:r>
            <a:r>
              <a:rPr lang="ru-RU" sz="2000" b="1" dirty="0" err="1">
                <a:solidFill>
                  <a:schemeClr val="bg1"/>
                </a:solidFill>
              </a:rPr>
              <a:t>pdf</a:t>
            </a:r>
            <a:r>
              <a:rPr lang="ru-RU" sz="2000" dirty="0">
                <a:solidFill>
                  <a:schemeClr val="bg1"/>
                </a:solidFill>
              </a:rPr>
              <a:t>), </a:t>
            </a:r>
            <a:r>
              <a:rPr lang="ru-RU" sz="2000" dirty="0" err="1">
                <a:solidFill>
                  <a:schemeClr val="bg1"/>
                </a:solidFill>
              </a:rPr>
              <a:t>медиа-контента</a:t>
            </a:r>
            <a:r>
              <a:rPr lang="ru-RU" sz="2000" dirty="0">
                <a:solidFill>
                  <a:schemeClr val="bg1"/>
                </a:solidFill>
              </a:rPr>
              <a:t> или другого </a:t>
            </a:r>
            <a:r>
              <a:rPr lang="ru-RU" sz="2000" dirty="0" err="1">
                <a:solidFill>
                  <a:schemeClr val="bg1"/>
                </a:solidFill>
              </a:rPr>
              <a:t>веб-сайта</a:t>
            </a:r>
            <a:r>
              <a:rPr lang="ru-RU" sz="2000" dirty="0">
                <a:solidFill>
                  <a:schemeClr val="bg1"/>
                </a:solidFill>
              </a:rPr>
              <a:t> в заданном пространстве. 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Содержимое внутри области существует независимо от окружающей страницы.</a:t>
            </a:r>
          </a:p>
          <a:p>
            <a:endParaRPr lang="ru-RU" sz="2000" dirty="0">
              <a:solidFill>
                <a:schemeClr val="bg1"/>
              </a:solidFill>
            </a:endParaRPr>
          </a:p>
          <a:p>
            <a:endParaRPr lang="ru-RU" sz="2000" dirty="0">
              <a:solidFill>
                <a:schemeClr val="bg1"/>
              </a:solidFill>
            </a:endParaRPr>
          </a:p>
          <a:p>
            <a:r>
              <a:rPr lang="ru-RU" sz="2000" dirty="0">
                <a:solidFill>
                  <a:schemeClr val="bg1"/>
                </a:solidFill>
              </a:rPr>
              <a:t>Синтаксис для добавления фрейма:</a:t>
            </a:r>
          </a:p>
          <a:p>
            <a:r>
              <a:rPr lang="ru-RU" sz="2000" b="1" dirty="0">
                <a:solidFill>
                  <a:schemeClr val="bg1"/>
                </a:solidFill>
              </a:rPr>
              <a:t>&lt;</a:t>
            </a:r>
            <a:r>
              <a:rPr lang="ru-RU" sz="2000" b="1" dirty="0" err="1">
                <a:solidFill>
                  <a:schemeClr val="bg1"/>
                </a:solidFill>
              </a:rPr>
              <a:t>iframe</a:t>
            </a:r>
            <a:r>
              <a:rPr lang="ru-RU" sz="2000" dirty="0">
                <a:solidFill>
                  <a:schemeClr val="bg1"/>
                </a:solidFill>
              </a:rPr>
              <a:t> </a:t>
            </a:r>
            <a:r>
              <a:rPr lang="ru-RU" sz="2000" b="1" dirty="0" err="1">
                <a:solidFill>
                  <a:schemeClr val="bg1"/>
                </a:solidFill>
              </a:rPr>
              <a:t>src</a:t>
            </a:r>
            <a:r>
              <a:rPr lang="ru-RU" sz="2000" b="1" dirty="0">
                <a:solidFill>
                  <a:schemeClr val="bg1"/>
                </a:solidFill>
              </a:rPr>
              <a:t> = "URL"  </a:t>
            </a:r>
            <a:r>
              <a:rPr lang="en-US" sz="2000" b="1" dirty="0">
                <a:solidFill>
                  <a:schemeClr val="bg1"/>
                </a:solidFill>
              </a:rPr>
              <a:t>width</a:t>
            </a:r>
            <a:r>
              <a:rPr lang="ru-RU" sz="2000" b="1" dirty="0">
                <a:solidFill>
                  <a:schemeClr val="bg1"/>
                </a:solidFill>
              </a:rPr>
              <a:t>= " " </a:t>
            </a:r>
            <a:r>
              <a:rPr lang="en-US" sz="2000" b="1" dirty="0">
                <a:solidFill>
                  <a:schemeClr val="bg1"/>
                </a:solidFill>
              </a:rPr>
              <a:t>height</a:t>
            </a:r>
            <a:r>
              <a:rPr lang="ru-RU" sz="2000" b="1" dirty="0">
                <a:solidFill>
                  <a:schemeClr val="bg1"/>
                </a:solidFill>
              </a:rPr>
              <a:t>= " " &gt; &lt;/</a:t>
            </a:r>
            <a:r>
              <a:rPr lang="ru-RU" sz="2000" b="1" dirty="0" err="1">
                <a:solidFill>
                  <a:schemeClr val="bg1"/>
                </a:solidFill>
              </a:rPr>
              <a:t>iframe</a:t>
            </a:r>
            <a:r>
              <a:rPr lang="ru-RU" sz="2000" b="1" dirty="0">
                <a:solidFill>
                  <a:schemeClr val="bg1"/>
                </a:solidFill>
              </a:rPr>
              <a:t>&gt;, </a:t>
            </a:r>
            <a:r>
              <a:rPr lang="ru-RU" sz="2000" dirty="0">
                <a:solidFill>
                  <a:schemeClr val="bg1"/>
                </a:solidFill>
              </a:rPr>
              <a:t>где </a:t>
            </a:r>
            <a:r>
              <a:rPr lang="ru-RU" sz="2000" b="1" dirty="0" err="1">
                <a:solidFill>
                  <a:schemeClr val="bg1"/>
                </a:solidFill>
              </a:rPr>
              <a:t>src</a:t>
            </a:r>
            <a:r>
              <a:rPr lang="ru-RU" sz="2000" dirty="0">
                <a:solidFill>
                  <a:schemeClr val="bg1"/>
                </a:solidFill>
              </a:rPr>
              <a:t> атрибут, который определяет местоположение документа или </a:t>
            </a:r>
            <a:r>
              <a:rPr lang="ru-RU" sz="2000" dirty="0" err="1">
                <a:solidFill>
                  <a:schemeClr val="bg1"/>
                </a:solidFill>
              </a:rPr>
              <a:t>веб-сайта</a:t>
            </a:r>
            <a:r>
              <a:rPr lang="ru-RU" sz="2000" dirty="0">
                <a:solidFill>
                  <a:schemeClr val="bg1"/>
                </a:solidFill>
              </a:rPr>
              <a:t>.</a:t>
            </a: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20688"/>
            <a:ext cx="8640960" cy="590931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1400" b="1" dirty="0">
                <a:solidFill>
                  <a:schemeClr val="bg1"/>
                </a:solidFill>
              </a:rPr>
              <a:t>Достоинства фреймов</a:t>
            </a:r>
          </a:p>
          <a:p>
            <a:endParaRPr lang="ru-RU" sz="1400" b="1" dirty="0">
              <a:solidFill>
                <a:schemeClr val="bg1"/>
              </a:solidFill>
            </a:endParaRPr>
          </a:p>
          <a:p>
            <a:r>
              <a:rPr lang="ru-RU" sz="1400" b="1" dirty="0">
                <a:solidFill>
                  <a:schemeClr val="bg1"/>
                </a:solidFill>
              </a:rPr>
              <a:t>Простота</a:t>
            </a:r>
          </a:p>
          <a:p>
            <a:r>
              <a:rPr lang="ru-RU" sz="1400" dirty="0">
                <a:solidFill>
                  <a:schemeClr val="bg1"/>
                </a:solidFill>
              </a:rPr>
              <a:t>С помощью фреймов </a:t>
            </a:r>
            <a:r>
              <a:rPr lang="ru-RU" sz="1400" dirty="0" err="1">
                <a:solidFill>
                  <a:schemeClr val="bg1"/>
                </a:solidFill>
              </a:rPr>
              <a:t>веб-страница</a:t>
            </a:r>
            <a:r>
              <a:rPr lang="ru-RU" sz="1400" dirty="0">
                <a:solidFill>
                  <a:schemeClr val="bg1"/>
                </a:solidFill>
              </a:rPr>
              <a:t> разграничивается на две области, которые содержат навигацию по сайту и его </a:t>
            </a:r>
            <a:r>
              <a:rPr lang="ru-RU" sz="1400" dirty="0" err="1">
                <a:solidFill>
                  <a:schemeClr val="bg1"/>
                </a:solidFill>
              </a:rPr>
              <a:t>контент</a:t>
            </a:r>
            <a:r>
              <a:rPr lang="ru-RU" sz="1400" dirty="0">
                <a:solidFill>
                  <a:schemeClr val="bg1"/>
                </a:solidFill>
              </a:rPr>
              <a:t>. Механизм фреймов позволяет открывать документ в одном фрейме, по ссылке, нажатой в совершенно другом фрейме. Такое разделение </a:t>
            </a:r>
            <a:r>
              <a:rPr lang="ru-RU" sz="1400" dirty="0" err="1">
                <a:solidFill>
                  <a:schemeClr val="bg1"/>
                </a:solidFill>
              </a:rPr>
              <a:t>веб-страницы</a:t>
            </a:r>
            <a:r>
              <a:rPr lang="ru-RU" sz="1400" dirty="0">
                <a:solidFill>
                  <a:schemeClr val="bg1"/>
                </a:solidFill>
              </a:rPr>
              <a:t> на составляющие интуитивно понятно и логически обусловлено.</a:t>
            </a:r>
          </a:p>
          <a:p>
            <a:endParaRPr lang="ru-RU" sz="1400" dirty="0">
              <a:solidFill>
                <a:schemeClr val="bg1"/>
              </a:solidFill>
            </a:endParaRPr>
          </a:p>
          <a:p>
            <a:r>
              <a:rPr lang="ru-RU" sz="1400" b="1" dirty="0">
                <a:solidFill>
                  <a:schemeClr val="bg1"/>
                </a:solidFill>
              </a:rPr>
              <a:t>Быстрота</a:t>
            </a:r>
          </a:p>
          <a:p>
            <a:r>
              <a:rPr lang="ru-RU" sz="1400" dirty="0">
                <a:solidFill>
                  <a:schemeClr val="bg1"/>
                </a:solidFill>
              </a:rPr>
              <a:t>Для верстки без фреймов характерно размещение на одной странице и навигации и содержания. Это увеличивает объем каждой страницы и в сумме может существенно повлиять на объем загружаемой с сайта информации. А так как фреймы используют разделение информации на части, страницы с ними будут загружаться быстрее.</a:t>
            </a:r>
          </a:p>
          <a:p>
            <a:endParaRPr lang="ru-RU" sz="1400" dirty="0">
              <a:solidFill>
                <a:schemeClr val="bg1"/>
              </a:solidFill>
            </a:endParaRPr>
          </a:p>
          <a:p>
            <a:r>
              <a:rPr lang="ru-RU" sz="1400" b="1" dirty="0">
                <a:solidFill>
                  <a:schemeClr val="bg1"/>
                </a:solidFill>
              </a:rPr>
              <a:t>Размещение</a:t>
            </a:r>
          </a:p>
          <a:p>
            <a:r>
              <a:rPr lang="ru-RU" sz="1400" dirty="0">
                <a:solidFill>
                  <a:schemeClr val="bg1"/>
                </a:solidFill>
              </a:rPr>
              <a:t>Фреймы предоставляют уникальную возможность — размещение информации точно в нужном месте окна браузера. Так, можно поместить фрейм внизу браузера и независимо от прокручивания содержимого, эта область не изменит своего положения.</a:t>
            </a:r>
          </a:p>
          <a:p>
            <a:endParaRPr lang="ru-RU" sz="1400" dirty="0">
              <a:solidFill>
                <a:schemeClr val="bg1"/>
              </a:solidFill>
            </a:endParaRPr>
          </a:p>
          <a:p>
            <a:r>
              <a:rPr lang="ru-RU" sz="1400" b="1" dirty="0">
                <a:solidFill>
                  <a:schemeClr val="bg1"/>
                </a:solidFill>
              </a:rPr>
              <a:t>Изменение размеров областей</a:t>
            </a:r>
          </a:p>
          <a:p>
            <a:r>
              <a:rPr lang="ru-RU" sz="1400" dirty="0">
                <a:solidFill>
                  <a:schemeClr val="bg1"/>
                </a:solidFill>
              </a:rPr>
              <a:t>Можно изменять размеры фреймов «на лету», чего не позволяет сделать традиционная верстка HTML.</a:t>
            </a:r>
          </a:p>
          <a:p>
            <a:endParaRPr lang="ru-RU" sz="1400" dirty="0">
              <a:solidFill>
                <a:schemeClr val="bg1"/>
              </a:solidFill>
            </a:endParaRPr>
          </a:p>
          <a:p>
            <a:r>
              <a:rPr lang="ru-RU" sz="1400" b="1" dirty="0">
                <a:solidFill>
                  <a:schemeClr val="bg1"/>
                </a:solidFill>
              </a:rPr>
              <a:t>Загрузка</a:t>
            </a:r>
          </a:p>
          <a:p>
            <a:r>
              <a:rPr lang="ru-RU" sz="1400" dirty="0">
                <a:solidFill>
                  <a:schemeClr val="bg1"/>
                </a:solidFill>
              </a:rPr>
              <a:t>Загрузка </a:t>
            </a:r>
            <a:r>
              <a:rPr lang="ru-RU" sz="1400" dirty="0" err="1">
                <a:solidFill>
                  <a:schemeClr val="bg1"/>
                </a:solidFill>
              </a:rPr>
              <a:t>веб-страницы</a:t>
            </a:r>
            <a:r>
              <a:rPr lang="ru-RU" sz="1400" dirty="0">
                <a:solidFill>
                  <a:schemeClr val="bg1"/>
                </a:solidFill>
              </a:rPr>
              <a:t> происходит только в указанное окно, остальные остаются неизменными. С помощью языка </a:t>
            </a:r>
            <a:r>
              <a:rPr lang="ru-RU" sz="1400" dirty="0" err="1">
                <a:solidFill>
                  <a:schemeClr val="bg1"/>
                </a:solidFill>
              </a:rPr>
              <a:t>JavaScript</a:t>
            </a:r>
            <a:r>
              <a:rPr lang="ru-RU" sz="1400" dirty="0">
                <a:solidFill>
                  <a:schemeClr val="bg1"/>
                </a:solidFill>
              </a:rPr>
              <a:t> можно осуществить одновременную загрузку двух и более страниц во фреймы.</a:t>
            </a:r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613712"/>
            <a:ext cx="8640960" cy="5047536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sz="1400" b="1" dirty="0">
                <a:solidFill>
                  <a:schemeClr val="bg1"/>
                </a:solidFill>
              </a:rPr>
              <a:t>Недостатки фреймов</a:t>
            </a:r>
          </a:p>
          <a:p>
            <a:r>
              <a:rPr lang="ru-RU" sz="1400" b="1" dirty="0">
                <a:solidFill>
                  <a:schemeClr val="bg1"/>
                </a:solidFill>
              </a:rPr>
              <a:t>Навигация</a:t>
            </a:r>
          </a:p>
          <a:p>
            <a:r>
              <a:rPr lang="ru-RU" sz="1400" dirty="0">
                <a:solidFill>
                  <a:schemeClr val="bg1"/>
                </a:solidFill>
              </a:rPr>
              <a:t>Пользователь зачастую оказывается на сайте, совершенно не представляя, куда он попал, потому что всего лишь нажал на ссылку, полученную в поисковой системе. Чтобы посетителю сайта было проще разобраться, где он находится, на каждую страницу помещают название сайта, заголовок страницы и навигацию. Фреймы, как правило, нарушают данный принцип, отделяя заголовок сайта от содержания, а навигацию от </a:t>
            </a:r>
            <a:r>
              <a:rPr lang="ru-RU" sz="1400" dirty="0" err="1">
                <a:solidFill>
                  <a:schemeClr val="bg1"/>
                </a:solidFill>
              </a:rPr>
              <a:t>контента</a:t>
            </a:r>
            <a:r>
              <a:rPr lang="ru-RU" sz="1400" dirty="0">
                <a:solidFill>
                  <a:schemeClr val="bg1"/>
                </a:solidFill>
              </a:rPr>
              <a:t>. Представьте, что вы нашли подходящую ссылку в поисковой системе, нажимаете на нее, а в итоге открывается документ без названия и навигации. Чтобы понять, где мы находимся или посмотреть другие материалы, придется редактировать путь в адресной строке, что в любом случае доставляет неудобство.</a:t>
            </a:r>
          </a:p>
          <a:p>
            <a:endParaRPr lang="ru-RU" sz="1400" dirty="0">
              <a:solidFill>
                <a:schemeClr val="bg1"/>
              </a:solidFill>
            </a:endParaRPr>
          </a:p>
          <a:p>
            <a:r>
              <a:rPr lang="ru-RU" sz="1400" b="1" dirty="0">
                <a:solidFill>
                  <a:schemeClr val="bg1"/>
                </a:solidFill>
              </a:rPr>
              <a:t>Плохая индексация поисковыми системами</a:t>
            </a:r>
          </a:p>
          <a:p>
            <a:r>
              <a:rPr lang="ru-RU" sz="1400" dirty="0">
                <a:solidFill>
                  <a:schemeClr val="bg1"/>
                </a:solidFill>
              </a:rPr>
              <a:t>Поисковые системы плохо работают с фреймовой структурой, поскольку на страницах, которые содержат </a:t>
            </a:r>
            <a:r>
              <a:rPr lang="ru-RU" sz="1400" dirty="0" err="1">
                <a:solidFill>
                  <a:schemeClr val="bg1"/>
                </a:solidFill>
              </a:rPr>
              <a:t>контент</a:t>
            </a:r>
            <a:r>
              <a:rPr lang="ru-RU" sz="1400" dirty="0">
                <a:solidFill>
                  <a:schemeClr val="bg1"/>
                </a:solidFill>
              </a:rPr>
              <a:t>, нет ссылок на другие документы.</a:t>
            </a:r>
          </a:p>
          <a:p>
            <a:endParaRPr lang="ru-RU" sz="1400" dirty="0">
              <a:solidFill>
                <a:schemeClr val="bg1"/>
              </a:solidFill>
            </a:endParaRPr>
          </a:p>
          <a:p>
            <a:r>
              <a:rPr lang="ru-RU" sz="1400" b="1" dirty="0">
                <a:solidFill>
                  <a:schemeClr val="bg1"/>
                </a:solidFill>
              </a:rPr>
              <a:t>Внутренние страницы нельзя добавить в «Закладки»</a:t>
            </a:r>
          </a:p>
          <a:p>
            <a:r>
              <a:rPr lang="ru-RU" sz="1400" dirty="0">
                <a:solidFill>
                  <a:schemeClr val="bg1"/>
                </a:solidFill>
              </a:rPr>
              <a:t>Фреймы скрывают адрес страницы, на которой находится посетитель, и всегда показывают только адрес сайта. По этой причине понравившуюся страницу сложно поместить в закладки браузера.</a:t>
            </a:r>
          </a:p>
          <a:p>
            <a:endParaRPr lang="ru-RU" sz="1400" dirty="0">
              <a:solidFill>
                <a:schemeClr val="bg1"/>
              </a:solidFill>
            </a:endParaRPr>
          </a:p>
          <a:p>
            <a:r>
              <a:rPr lang="ru-RU" sz="1400" b="1" dirty="0">
                <a:solidFill>
                  <a:schemeClr val="bg1"/>
                </a:solidFill>
              </a:rPr>
              <a:t>Несовместимость с разными браузерами</a:t>
            </a:r>
          </a:p>
          <a:p>
            <a:r>
              <a:rPr lang="ru-RU" sz="1400" dirty="0">
                <a:solidFill>
                  <a:schemeClr val="bg1"/>
                </a:solidFill>
              </a:rPr>
              <a:t>Параметры фреймов обладают свойством совершенно по разному отображаться в различных браузерах. Причём противоречие между ними настолько явное, что одни и те же параметры интерпретируются браузерами совершенно по-своему.</a:t>
            </a: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2348880"/>
            <a:ext cx="8640960" cy="830997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ru-RU" sz="4800" b="1" u="sng" dirty="0">
                <a:ln w="50800"/>
                <a:solidFill>
                  <a:schemeClr val="bg1">
                    <a:shade val="50000"/>
                  </a:schemeClr>
                </a:solidFill>
              </a:rPr>
              <a:t>Домашнее задание</a:t>
            </a:r>
          </a:p>
        </p:txBody>
      </p:sp>
    </p:spTree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251520" y="476672"/>
            <a:ext cx="8640960" cy="618630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1 страница сверстанная с помощью </a:t>
            </a:r>
            <a:r>
              <a:rPr lang="en-US" dirty="0">
                <a:ln w="50800"/>
                <a:solidFill>
                  <a:schemeClr val="bg1">
                    <a:shade val="50000"/>
                  </a:schemeClr>
                </a:solidFill>
              </a:rPr>
              <a:t>div </a:t>
            </a:r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блоков</a:t>
            </a:r>
          </a:p>
          <a:p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С формой разделенной на 3 логические части</a:t>
            </a:r>
          </a:p>
          <a:p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Имеющие поля</a:t>
            </a:r>
          </a:p>
          <a:p>
            <a:r>
              <a:rPr lang="ru-RU" b="1" dirty="0">
                <a:ln w="50800"/>
                <a:solidFill>
                  <a:schemeClr val="bg1">
                    <a:shade val="50000"/>
                  </a:schemeClr>
                </a:solidFill>
              </a:rPr>
              <a:t>Фамилия, Имя, Отчество </a:t>
            </a:r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с обязательной проверкой и написанием только латиницей или кириллицей, с обязательным указанием подсказки на поле.</a:t>
            </a:r>
          </a:p>
          <a:p>
            <a:endParaRPr lang="ru-RU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Поле </a:t>
            </a:r>
            <a:r>
              <a:rPr lang="ru-RU" b="1" dirty="0">
                <a:ln w="50800"/>
                <a:solidFill>
                  <a:schemeClr val="bg1">
                    <a:shade val="50000"/>
                  </a:schemeClr>
                </a:solidFill>
              </a:rPr>
              <a:t>дата</a:t>
            </a:r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, поле </a:t>
            </a:r>
            <a:r>
              <a:rPr lang="en-US" b="1" dirty="0">
                <a:ln w="50800"/>
                <a:solidFill>
                  <a:schemeClr val="bg1">
                    <a:shade val="50000"/>
                  </a:schemeClr>
                </a:solidFill>
              </a:rPr>
              <a:t>email</a:t>
            </a:r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 с обязательной проверкой поля.</a:t>
            </a:r>
          </a:p>
          <a:p>
            <a:r>
              <a:rPr lang="ru-RU" b="1" dirty="0">
                <a:ln w="50800"/>
                <a:solidFill>
                  <a:schemeClr val="bg1">
                    <a:shade val="50000"/>
                  </a:schemeClr>
                </a:solidFill>
              </a:rPr>
              <a:t>3 </a:t>
            </a:r>
            <a:r>
              <a:rPr lang="ru-RU" b="1" dirty="0" err="1">
                <a:ln w="50800"/>
                <a:solidFill>
                  <a:schemeClr val="bg1">
                    <a:shade val="50000"/>
                  </a:schemeClr>
                </a:solidFill>
              </a:rPr>
              <a:t>радиокнопки</a:t>
            </a:r>
            <a:r>
              <a:rPr lang="ru-RU" b="1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с выбором</a:t>
            </a:r>
          </a:p>
          <a:p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Поле </a:t>
            </a:r>
            <a:r>
              <a:rPr lang="ru-RU" b="1" dirty="0">
                <a:ln w="50800"/>
                <a:solidFill>
                  <a:schemeClr val="bg1">
                    <a:shade val="50000"/>
                  </a:schemeClr>
                </a:solidFill>
              </a:rPr>
              <a:t>пароль</a:t>
            </a:r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 с обязательной проверкой на заполнение поля и с использованием только латиницы и цифр.</a:t>
            </a:r>
          </a:p>
          <a:p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Выпадающий список </a:t>
            </a:r>
            <a:r>
              <a:rPr lang="en-US" b="1" dirty="0">
                <a:ln w="50800"/>
                <a:solidFill>
                  <a:schemeClr val="bg1">
                    <a:shade val="50000"/>
                  </a:schemeClr>
                </a:solidFill>
              </a:rPr>
              <a:t>select </a:t>
            </a:r>
            <a:endParaRPr lang="ru-RU" b="1" dirty="0">
              <a:ln w="50800"/>
              <a:solidFill>
                <a:schemeClr val="bg1">
                  <a:shade val="50000"/>
                </a:schemeClr>
              </a:solidFill>
            </a:endParaRPr>
          </a:p>
          <a:p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Элемент </a:t>
            </a:r>
            <a:r>
              <a:rPr lang="en-US" b="1" dirty="0">
                <a:ln w="50800"/>
                <a:solidFill>
                  <a:schemeClr val="bg1">
                    <a:shade val="50000"/>
                  </a:schemeClr>
                </a:solidFill>
              </a:rPr>
              <a:t>checkbox</a:t>
            </a:r>
            <a:r>
              <a:rPr lang="en-US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с значением по умолчанию и одним значением которое нельзя изменить</a:t>
            </a:r>
          </a:p>
          <a:p>
            <a:r>
              <a:rPr lang="ru-RU" b="1" dirty="0">
                <a:ln w="50800"/>
                <a:solidFill>
                  <a:schemeClr val="bg1">
                    <a:shade val="50000"/>
                  </a:schemeClr>
                </a:solidFill>
              </a:rPr>
              <a:t>2 поля загрузки файлов</a:t>
            </a:r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, одно только фотографии, второе только файлы </a:t>
            </a:r>
            <a:r>
              <a:rPr lang="en-US" dirty="0">
                <a:ln w="50800"/>
                <a:solidFill>
                  <a:schemeClr val="bg1">
                    <a:shade val="50000"/>
                  </a:schemeClr>
                </a:solidFill>
              </a:rPr>
              <a:t>word</a:t>
            </a:r>
          </a:p>
          <a:p>
            <a:r>
              <a:rPr lang="ru-RU" b="1" dirty="0">
                <a:ln w="50800"/>
                <a:solidFill>
                  <a:schemeClr val="bg1">
                    <a:shade val="50000"/>
                  </a:schemeClr>
                </a:solidFill>
              </a:rPr>
              <a:t>Большое текстовое </a:t>
            </a:r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поле с указанием минимальных размеров и ограничением символов в 72</a:t>
            </a:r>
          </a:p>
          <a:p>
            <a:r>
              <a:rPr lang="ru-RU" b="1" dirty="0">
                <a:ln w="50800"/>
                <a:solidFill>
                  <a:schemeClr val="bg1">
                    <a:shade val="50000"/>
                  </a:schemeClr>
                </a:solidFill>
              </a:rPr>
              <a:t>1 кнопка картинкой</a:t>
            </a:r>
          </a:p>
          <a:p>
            <a:r>
              <a:rPr lang="ru-RU" b="1" dirty="0">
                <a:ln w="50800"/>
                <a:solidFill>
                  <a:schemeClr val="bg1">
                    <a:shade val="50000"/>
                  </a:schemeClr>
                </a:solidFill>
              </a:rPr>
              <a:t>1 кнопка сброса значений формы</a:t>
            </a:r>
          </a:p>
          <a:p>
            <a:r>
              <a:rPr lang="ru-RU" b="1" dirty="0">
                <a:ln w="50800"/>
                <a:solidFill>
                  <a:schemeClr val="bg1">
                    <a:shade val="50000"/>
                  </a:schemeClr>
                </a:solidFill>
              </a:rPr>
              <a:t>1 кнопка отправка формы</a:t>
            </a:r>
          </a:p>
          <a:p>
            <a:pPr algn="ctr"/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Под формой видео с </a:t>
            </a:r>
            <a:r>
              <a:rPr lang="en-US" dirty="0" err="1">
                <a:ln w="50800"/>
                <a:solidFill>
                  <a:schemeClr val="bg1">
                    <a:shade val="50000"/>
                  </a:schemeClr>
                </a:solidFill>
              </a:rPr>
              <a:t>youtube</a:t>
            </a:r>
            <a:r>
              <a:rPr lang="en-US" dirty="0">
                <a:ln w="50800"/>
                <a:solidFill>
                  <a:schemeClr val="bg1">
                    <a:shade val="50000"/>
                  </a:schemeClr>
                </a:solidFill>
              </a:rPr>
              <a:t> </a:t>
            </a:r>
            <a:r>
              <a:rPr lang="ru-RU" dirty="0">
                <a:ln w="50800"/>
                <a:solidFill>
                  <a:schemeClr val="bg1">
                    <a:shade val="50000"/>
                  </a:schemeClr>
                </a:solidFill>
              </a:rPr>
              <a:t>во фрейме</a:t>
            </a:r>
          </a:p>
          <a:p>
            <a:pPr algn="ctr"/>
            <a:r>
              <a:rPr lang="ru-RU" b="1" dirty="0">
                <a:ln w="50800"/>
                <a:solidFill>
                  <a:srgbClr val="FF0000"/>
                </a:solidFill>
              </a:rPr>
              <a:t>Все элементы нужно стилизовать посредством </a:t>
            </a:r>
            <a:r>
              <a:rPr lang="en-US" b="1" dirty="0" err="1">
                <a:ln w="50800"/>
                <a:solidFill>
                  <a:srgbClr val="FF0000"/>
                </a:solidFill>
              </a:rPr>
              <a:t>css</a:t>
            </a:r>
            <a:r>
              <a:rPr lang="en-US" b="1" dirty="0">
                <a:ln w="50800"/>
                <a:solidFill>
                  <a:srgbClr val="FF0000"/>
                </a:solidFill>
              </a:rPr>
              <a:t>!!!</a:t>
            </a:r>
          </a:p>
        </p:txBody>
      </p:sp>
    </p:spTree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ssicPhotoAlbum">
  <a:themeElements>
    <a:clrScheme name="Technic">
      <a:dk1>
        <a:sysClr val="windowText" lastClr="000000"/>
      </a:dk1>
      <a:lt1>
        <a:sysClr val="window" lastClr="FFFFFF"/>
      </a:lt1>
      <a:dk2>
        <a:srgbClr val="3B3B3B"/>
      </a:dk2>
      <a:lt2>
        <a:srgbClr val="D4D2D0"/>
      </a:lt2>
      <a:accent1>
        <a:srgbClr val="6EA0B0"/>
      </a:accent1>
      <a:accent2>
        <a:srgbClr val="CCAF0A"/>
      </a:accent2>
      <a:accent3>
        <a:srgbClr val="8D89A4"/>
      </a:accent3>
      <a:accent4>
        <a:srgbClr val="748560"/>
      </a:accent4>
      <a:accent5>
        <a:srgbClr val="9E9273"/>
      </a:accent5>
      <a:accent6>
        <a:srgbClr val="7E848D"/>
      </a:accent6>
      <a:hlink>
        <a:srgbClr val="00C8C3"/>
      </a:hlink>
      <a:folHlink>
        <a:srgbClr val="A116E0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rek">
      <a:fillStyleLst>
        <a:solidFill>
          <a:schemeClr val="phClr"/>
        </a:solidFill>
        <a:gradFill rotWithShape="1">
          <a:gsLst>
            <a:gs pos="0">
              <a:schemeClr val="phClr">
                <a:tint val="30000"/>
                <a:satMod val="250000"/>
              </a:schemeClr>
            </a:gs>
            <a:gs pos="72000">
              <a:schemeClr val="phClr">
                <a:tint val="75000"/>
                <a:satMod val="210000"/>
              </a:schemeClr>
            </a:gs>
            <a:gs pos="100000">
              <a:schemeClr val="phClr">
                <a:tint val="85000"/>
                <a:satMod val="21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5000"/>
                <a:shade val="85000"/>
                <a:satMod val="230000"/>
              </a:schemeClr>
            </a:gs>
            <a:gs pos="25000">
              <a:schemeClr val="phClr">
                <a:tint val="90000"/>
                <a:shade val="70000"/>
                <a:satMod val="220000"/>
              </a:schemeClr>
            </a:gs>
            <a:gs pos="50000">
              <a:schemeClr val="phClr">
                <a:tint val="90000"/>
                <a:shade val="58000"/>
                <a:satMod val="225000"/>
              </a:schemeClr>
            </a:gs>
            <a:gs pos="65000">
              <a:schemeClr val="phClr">
                <a:tint val="90000"/>
                <a:shade val="58000"/>
                <a:satMod val="225000"/>
              </a:schemeClr>
            </a:gs>
            <a:gs pos="80000">
              <a:schemeClr val="phClr">
                <a:tint val="90000"/>
                <a:shade val="69000"/>
                <a:satMod val="220000"/>
              </a:schemeClr>
            </a:gs>
            <a:gs pos="100000">
              <a:schemeClr val="phClr">
                <a:tint val="77000"/>
                <a:shade val="80000"/>
                <a:satMod val="230000"/>
              </a:schemeClr>
            </a:gs>
          </a:gsLst>
          <a:lin ang="5400000" scaled="1"/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0000" h="10000"/>
          </a:sp3d>
        </a:effectStyle>
        <a:effectStyle>
          <a:effectLst>
            <a:outerShdw blurRad="76200" dist="50800" dir="5400000" rotWithShape="0">
              <a:srgbClr val="4E3B30">
                <a:alpha val="60000"/>
              </a:srgbClr>
            </a:outerShdw>
          </a:effectLst>
          <a:scene3d>
            <a:camera prst="obliqueTopLeft" fov="600000">
              <a:rot lat="0" lon="0" rev="0"/>
            </a:camera>
            <a:lightRig rig="balanced" dir="t">
              <a:rot lat="0" lon="0" rev="19200000"/>
            </a:lightRig>
          </a:scene3d>
          <a:sp3d contourW="12700" prstMaterial="matte">
            <a:bevelT w="60000" h="50800"/>
            <a:contourClr>
              <a:schemeClr val="phClr">
                <a:shade val="60000"/>
                <a:satMod val="11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70000"/>
                <a:satMod val="350000"/>
              </a:schemeClr>
            </a:gs>
          </a:gsLst>
          <a:path path="circle">
            <a:fillToRect l="51000" t="-20000" r="20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25000"/>
                <a:satMod val="350000"/>
              </a:schemeClr>
              <a:schemeClr val="phClr">
                <a:tint val="83000"/>
                <a:satMod val="115000"/>
              </a:schemeClr>
            </a:duotone>
          </a:blip>
          <a:tile tx="0" ty="0" sx="120000" sy="120000" flip="xy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Grek" typeface=""/>
        <a:font script="Cyrl"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98000"/>
                <a:satMod val="300000"/>
              </a:schemeClr>
            </a:gs>
            <a:gs pos="25000">
              <a:schemeClr val="phClr">
                <a:tint val="37000"/>
                <a:shade val="98000"/>
                <a:satMod val="300000"/>
              </a:schemeClr>
            </a:gs>
            <a:gs pos="100000">
              <a:schemeClr val="phClr">
                <a:tint val="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75000"/>
                <a:satMod val="160000"/>
              </a:schemeClr>
            </a:gs>
            <a:gs pos="62000">
              <a:schemeClr val="phClr">
                <a:satMod val="125000"/>
              </a:schemeClr>
            </a:gs>
            <a:gs pos="100000">
              <a:schemeClr val="phClr">
                <a:tint val="80000"/>
                <a:satMod val="140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>
              <a:srgbClr val="000000">
                <a:alpha val="45882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6500000"/>
            </a:lightRig>
          </a:scene3d>
          <a:sp3d contourW="12700" prstMaterial="powder">
            <a:bevelT h="50800"/>
            <a:contourClr>
              <a:schemeClr val="phClr"/>
            </a:contourClr>
          </a:sp3d>
        </a:effectStyle>
        <a:effectStyle>
          <a:effectLst>
            <a:reflection blurRad="12700" stA="25000" endPos="28000" dist="38100" dir="5400000" sy="-100000"/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>
            <a:bevelT w="139700" h="381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75000"/>
                <a:satMod val="250000"/>
              </a:schemeClr>
            </a:gs>
            <a:gs pos="20000">
              <a:schemeClr val="phClr">
                <a:shade val="85000"/>
                <a:satMod val="175000"/>
              </a:schemeClr>
            </a:gs>
            <a:gs pos="100000">
              <a:schemeClr val="phClr">
                <a:tint val="70000"/>
                <a:satMod val="175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0000"/>
                <a:satMod val="145000"/>
              </a:schemeClr>
            </a:gs>
            <a:gs pos="30000">
              <a:schemeClr val="phClr">
                <a:shade val="65000"/>
                <a:satMod val="155000"/>
              </a:schemeClr>
            </a:gs>
            <a:gs pos="100000">
              <a:schemeClr val="phClr">
                <a:tint val="60000"/>
                <a:satMod val="170000"/>
              </a:schemeClr>
            </a:gs>
          </a:gsLst>
          <a:lin ang="16200000" scaled="1"/>
        </a:gradFill>
      </a:bgFillStyleLst>
    </a:fmtScheme>
  </a:themeElements>
  <a:objectDefaults/>
  <a:extraClrSchemeLst/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created xsi:type="dcterms:W3CDTF">2026-10-01T06:36:33Z</dcterms:created>
  <dcterms:modified xsi:type="dcterms:W3CDTF">2026-10-01T06:36:33Z</dcterms:modified>
</cp:coreProperties>
</file>