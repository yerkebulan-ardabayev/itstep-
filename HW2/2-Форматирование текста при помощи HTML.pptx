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55" r:id="rId2"/>
    <p:sldId id="364" r:id="rId3"/>
    <p:sldId id="369" r:id="rId4"/>
    <p:sldId id="368" r:id="rId5"/>
    <p:sldId id="370" r:id="rId6"/>
    <p:sldId id="371" r:id="rId7"/>
    <p:sldId id="372" r:id="rId8"/>
    <p:sldId id="373" r:id="rId9"/>
    <p:sldId id="378" r:id="rId10"/>
    <p:sldId id="374" r:id="rId11"/>
    <p:sldId id="375" r:id="rId12"/>
    <p:sldId id="376" r:id="rId13"/>
    <p:sldId id="377" r:id="rId14"/>
    <p:sldId id="380" r:id="rId15"/>
    <p:sldId id="381" r:id="rId16"/>
    <p:sldId id="382" r:id="rId17"/>
    <p:sldId id="379" r:id="rId18"/>
    <p:sldId id="357" r:id="rId19"/>
    <p:sldId id="383" r:id="rId20"/>
    <p:sldId id="384" r:id="rId21"/>
    <p:sldId id="385" r:id="rId22"/>
    <p:sldId id="389" r:id="rId23"/>
    <p:sldId id="386" r:id="rId24"/>
    <p:sldId id="387" r:id="rId25"/>
    <p:sldId id="388" r:id="rId26"/>
    <p:sldId id="390" r:id="rId27"/>
    <p:sldId id="391" r:id="rId28"/>
    <p:sldId id="394" r:id="rId29"/>
    <p:sldId id="392" r:id="rId30"/>
    <p:sldId id="393" r:id="rId31"/>
    <p:sldId id="396" r:id="rId32"/>
    <p:sldId id="395" r:id="rId33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  <a:srgbClr val="111111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024" autoAdjust="0"/>
  </p:normalViewPr>
  <p:slideViewPr>
    <p:cSldViewPr>
      <p:cViewPr varScale="1">
        <p:scale>
          <a:sx n="111" d="100"/>
          <a:sy n="111" d="100"/>
        </p:scale>
        <p:origin x="16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17.11.2021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17.11.2021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17.11.2021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17.11.2021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scheme.ru/web-safe-colors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Зуев Александр</a:t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2.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Форматирование текста при помощи HTML</a:t>
            </a:r>
            <a:endParaRPr lang="ru-RU" sz="48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2.1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Классификация тегов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54868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Линейные (строчные) и блочные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7584" y="2852936"/>
            <a:ext cx="8640960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pt-BR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линейные: &lt;b&gt;, &lt;i&gt;, &lt;u&gt;, &lt;font&gt;;</a:t>
            </a:r>
          </a:p>
          <a:p>
            <a:r>
              <a:rPr lang="pt-BR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блочные: &lt;p&gt;, &lt;h1&gt;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pt-BR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&lt;h6&gt;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endParaRPr lang="ru-RU" sz="32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2.2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Модель форматирования текста: заголовки и абзацы.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54868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2060848"/>
            <a:ext cx="8640960" cy="2585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pt-B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&lt;h1&gt;</a:t>
            </a:r>
            <a:r>
              <a:rPr lang="ru-RU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</a:t>
            </a:r>
            <a:r>
              <a:rPr lang="en-US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первого уровня</a:t>
            </a:r>
            <a:r>
              <a:rPr lang="en-US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&lt;/h1&gt;</a:t>
            </a:r>
          </a:p>
          <a:p>
            <a:pPr algn="ctr"/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&lt;h2&gt;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второго уровня</a:t>
            </a:r>
            <a:r>
              <a:rPr lang="en-US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&lt;/h2&gt;</a:t>
            </a:r>
            <a:endParaRPr lang="en-US" sz="4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&lt;h3&gt;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третьего уровня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&lt;/h3&gt;</a:t>
            </a:r>
          </a:p>
          <a:p>
            <a:pPr algn="ctr"/>
            <a:r>
              <a:rPr lang="pt-BR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&lt;h4&gt;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четвертого уровня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&lt;/h4&gt;</a:t>
            </a:r>
          </a:p>
          <a:p>
            <a:pPr algn="ctr"/>
            <a:r>
              <a:rPr lang="pt-BR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&lt;h5&gt;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пятого уровня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&lt;/h5&gt;</a:t>
            </a:r>
          </a:p>
          <a:p>
            <a:pPr algn="ctr"/>
            <a:r>
              <a:rPr lang="pt-BR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&lt;h6&gt;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шестого уровня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&lt;/h6&gt;</a:t>
            </a:r>
            <a:endParaRPr lang="ru-RU" sz="4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179249"/>
            <a:ext cx="8640960" cy="513986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&lt;h1&gt;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</a:t>
            </a:r>
            <a:r>
              <a:rPr lang="en-US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первого уровня</a:t>
            </a:r>
            <a:r>
              <a:rPr lang="en-US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&lt;/h1&gt;</a:t>
            </a:r>
            <a:endParaRPr lang="ru-RU" sz="32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32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самого верхнего уровня, на странице рекомендуется использовать только один раз, по возможности частично дублируя заглавие страницы.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 &lt;h1&gt; должен быть уникальным для каждой страницы сайта. Рекомендуется прописывать тег в начале статьи, используя ключевое слово в тексте заголовка. 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Размер шрифта в браузере равен 2em, верхний и нижний отступ по умолчанию 0.67em.</a:t>
            </a:r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188640"/>
            <a:ext cx="8640960" cy="64017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pt-BR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&lt;h2&gt;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второго уровня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&lt;/h2&gt;</a:t>
            </a:r>
            <a:endParaRPr lang="ru-RU" sz="32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Им обозначаются подзаголовки тега &lt;h1&gt;. Размер шрифта в браузере равен 1.5em, верхний и нижний отступ по умолчанию 0.83em.</a:t>
            </a: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&lt;h3&gt;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третьего уровня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&lt;/h3&gt;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Показывает подзаголовки тега &lt;h2&gt;. Размер шрифта в браузере равен 1.17em, верхний и нижний отступ по умолчанию 1em.</a:t>
            </a:r>
          </a:p>
          <a:p>
            <a:pPr algn="ctr"/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&lt;h4&gt;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четвертого уровня</a:t>
            </a:r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&lt;/h4&gt;</a:t>
            </a:r>
          </a:p>
          <a:p>
            <a:pPr algn="ctr"/>
            <a:r>
              <a:rPr lang="pt-BR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&lt;h5&gt;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пятого уровня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&lt;/h5&gt;</a:t>
            </a:r>
          </a:p>
          <a:p>
            <a:pPr algn="ctr"/>
            <a:r>
              <a:rPr lang="pt-BR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&lt;h6&gt;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 шестого уровня</a:t>
            </a:r>
            <a:r>
              <a:rPr lang="en-US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&lt;/h6&gt;</a:t>
            </a:r>
            <a:endParaRPr lang="ru-RU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Обозначают подзаголовки четвёртого, пятого и шестого уровня. Размер шрифта в браузере равен 1em / 0.83em / 0.67em, верхний и нижний отступ по умолчанию 1.33em / 1.67em/ 2.33em соответственно.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Единицы измерения: " </a:t>
            </a:r>
            <a:r>
              <a:rPr lang="ru-RU" sz="32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", " </a:t>
            </a:r>
            <a:r>
              <a:rPr lang="ru-RU" sz="32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", "</a:t>
            </a:r>
            <a:r>
              <a:rPr lang="en-US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%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196752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1em – текущий размер шрифта.</a:t>
            </a:r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Можно брать любые пропорции от текущего шрифта: 2em, 0.5em и т.п.</a:t>
            </a:r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Размеры в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– относительные, они определяются по текущему контексту.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Единицы измерения: "</a:t>
            </a:r>
            <a:r>
              <a:rPr lang="ru-RU" sz="32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", " </a:t>
            </a:r>
            <a:r>
              <a:rPr lang="ru-RU" sz="32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", "</a:t>
            </a:r>
            <a:r>
              <a:rPr lang="en-US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%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196752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Пиксель 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– это самая базовая, абсолютная и окончательная единица измерения.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Количество пикселей задаётся в настройках разрешения экрана, один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– это как раз один такой пиксель на экране. Все значения браузер в итоге пересчитает в пиксели.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Пиксели могут быть дробными, например размер можно задать в 16.5px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Достоинства -Главное достоинство пикселя – чёткость и понятность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Недостатки -Другие единицы измерения – в некотором смысле «мощнее», они являются относительными и позволяют устанавливать соотношения между различными размерами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Единицы измерения: " </a:t>
            </a:r>
            <a:r>
              <a:rPr lang="ru-RU" sz="32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", " </a:t>
            </a:r>
            <a:r>
              <a:rPr lang="ru-RU" sz="32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", "</a:t>
            </a:r>
            <a:r>
              <a:rPr lang="en-US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%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196752"/>
            <a:ext cx="8640960" cy="489364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Существуют также «производные» от пикселя единицы измерения: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mm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cm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и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pc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но они давно отправились на свалку истории.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Значения: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1mm (мм) = 3.8px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1cm (см) = 38px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1pt (типографский пункт) = 4/3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1pc (типографская пика) = 16px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как браузер пересчитывает эти значения в пиксели, то смысла в их употреблении нет.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92896"/>
            <a:ext cx="8640960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Почему в сантиметре </a:t>
            </a:r>
            <a:r>
              <a:rPr lang="ru-RU" sz="32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cm</a:t>
            </a:r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</a:t>
            </a:r>
          </a:p>
          <a:p>
            <a:pPr algn="ctr"/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содержится ровно 38 пикселей?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692696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реальной жизни сантиметр – это эталон длины, одна сотая метра. А пиксель может быть разным, в зависимости от экрана.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Но в </a:t>
            </a:r>
            <a:r>
              <a:rPr lang="ru-RU" sz="2400" smtClean="0">
                <a:ln w="50800"/>
                <a:solidFill>
                  <a:schemeClr val="bg1">
                    <a:shade val="50000"/>
                  </a:schemeClr>
                </a:solidFill>
              </a:rPr>
              <a:t>формуле под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пикселем понимается «сферический пиксель в вакууме», точка на «стандартизованном экране», характеристики которого описаны в спецификации.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Поэтому ни о каком соответствии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cm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реальному сантиметру здесь нет и речи. Это полностью синтетическая и производная единица измерения, которая не нужна.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348880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Как прописать заголовку </a:t>
            </a:r>
            <a:r>
              <a:rPr lang="en-US" sz="3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h1 </a:t>
            </a:r>
            <a:r>
              <a:rPr lang="ru-RU" sz="3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размер шрифта?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348880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fr-F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&lt;h1&gt;&lt;font size="</a:t>
            </a:r>
            <a:r>
              <a:rPr lang="ru-RU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6</a:t>
            </a:r>
            <a:r>
              <a:rPr lang="fr-F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</a:t>
            </a:r>
            <a:endParaRPr lang="ru-RU" sz="36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</a:t>
            </a:r>
          </a:p>
          <a:p>
            <a:pPr algn="ctr"/>
            <a:r>
              <a:rPr lang="fr-F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&lt;/font&gt;&lt;/h1&gt;</a:t>
            </a:r>
            <a:endParaRPr lang="ru-RU" sz="36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1124744"/>
            <a:ext cx="8640960" cy="39703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pt-B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&lt;h1&gt;</a:t>
            </a:r>
            <a:r>
              <a:rPr lang="ru-RU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Заголовок</a:t>
            </a:r>
            <a:r>
              <a:rPr lang="pt-B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&lt;/h1&gt;</a:t>
            </a:r>
            <a:endParaRPr lang="ru-RU" sz="36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pt-BR" sz="36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&lt;h1 style="font-size:2em"&gt;</a:t>
            </a:r>
            <a:r>
              <a:rPr lang="ru-RU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Заголовок </a:t>
            </a:r>
            <a:r>
              <a:rPr lang="pt-B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&lt;/h1&gt;</a:t>
            </a:r>
            <a:endParaRPr lang="ru-RU" sz="36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pt-BR" sz="36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&lt;h1 style="font-size:16px"&gt;</a:t>
            </a:r>
            <a:r>
              <a:rPr lang="ru-RU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Заголовок </a:t>
            </a:r>
            <a:r>
              <a:rPr lang="pt-BR" sz="36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&lt;/h1&gt;</a:t>
            </a:r>
            <a:endParaRPr lang="ru-RU" sz="36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Абзац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340768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style="font:16px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32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tahoma</a:t>
            </a:r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Какой-нибудь абзац</a:t>
            </a:r>
            <a:r>
              <a:rPr lang="en-US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&lt;/p&gt;</a:t>
            </a:r>
          </a:p>
          <a:p>
            <a:pPr algn="ctr"/>
            <a:endParaRPr lang="en-US" sz="32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style="font:12px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32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arial</a:t>
            </a:r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“&gt;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Еще абзац</a:t>
            </a:r>
            <a:r>
              <a:rPr lang="en-US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&lt;/p&gt;</a:t>
            </a:r>
          </a:p>
          <a:p>
            <a:pPr algn="ctr"/>
            <a:endParaRPr lang="en-US" sz="32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style="font: 26px </a:t>
            </a:r>
            <a:r>
              <a:rPr lang="en-US" sz="32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monospace</a:t>
            </a:r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 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Снова абзац</a:t>
            </a:r>
            <a:r>
              <a:rPr lang="en-US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&lt;/p&gt;</a:t>
            </a:r>
          </a:p>
          <a:p>
            <a:pPr algn="ctr"/>
            <a:endParaRPr lang="en-US" sz="32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&lt;p&gt;&lt;font size="6" face="monospace"&gt; </a:t>
            </a:r>
            <a:r>
              <a:rPr lang="ru-RU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Снова абзац&lt;/</a:t>
            </a:r>
            <a:r>
              <a:rPr lang="pt-BR" sz="32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font&gt;&lt;/p&gt;</a:t>
            </a:r>
            <a:endParaRPr lang="ru-RU" sz="32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484784"/>
            <a:ext cx="864096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Первый абзац&lt;/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style="font-size: 1em;"&gt;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Второй абзац&lt;/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style="font-size: 16px;"&gt;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Третий абзац&lt;/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style="font-size: 100%;"&gt;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Четвертый абзац&lt;/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style="font-size: 2em;"&gt;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Пятый абзац&lt;/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style="font-size: 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3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</a:t>
            </a:r>
            <a:r>
              <a:rPr lang="en-US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;"&gt;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Шестой абзац&lt;/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style="font-size: 200%;"&gt;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Седьмой абзац&lt;/</a:t>
            </a:r>
            <a:r>
              <a:rPr lang="en-US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  <a:endParaRPr lang="ru-RU" sz="28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Выравнивание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340768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center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текста по центру&lt;/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right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текста по правому краю&lt;/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r"/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left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текста по левому краю&lt;/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just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justify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текста по всей ширине(здесь должно быть как можно больше текста)&lt;/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Выравнивание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980728"/>
            <a:ext cx="8640960" cy="489364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center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заголовка по центру&lt;/h1&gt;</a:t>
            </a:r>
          </a:p>
          <a:p>
            <a:pPr algn="ctr"/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right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заголовка по правому краю&lt;/h1&gt;</a:t>
            </a:r>
          </a:p>
          <a:p>
            <a:pPr algn="r"/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left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заголовка по левому краю&lt;/h1&gt;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just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justify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"&gt;Выравнивание заголовка по всей ширине(здесь должно быть как можно больше текста)&lt;/h1&gt;</a:t>
            </a:r>
          </a:p>
          <a:p>
            <a:pPr algn="just"/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Выравнивание и изменение размера, цвета, и названия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916832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just"/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style="font-size:48px;" align="justify"&gt;&lt;font face="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tahoma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color="red"&gt;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Выравнивание заголовка по всей ширине (здесь должно быть как можно больше текста)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&lt;/font&gt;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h1&gt;</a:t>
            </a:r>
            <a:endParaRPr lang="ru-RU" sz="24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2.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3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Классификация тегов: логическое и физическое форматирования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Теги физического форматирования: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916832"/>
            <a:ext cx="8640960" cy="42165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20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курсивом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жирным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b&gt;&lt;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u&gt;</a:t>
            </a:r>
            <a:r>
              <a:rPr lang="ru-RU" sz="2000" u="sng" dirty="0" smtClean="0">
                <a:ln w="50800"/>
                <a:solidFill>
                  <a:schemeClr val="bg1"/>
                </a:solidFill>
              </a:rPr>
              <a:t>подчеркиванием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u&gt;&lt;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tt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  <a:latin typeface="08 Underground" pitchFamily="2" charset="0"/>
              </a:rPr>
              <a:t>машинописным шрифтом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tt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strike&gt;</a:t>
            </a:r>
            <a:r>
              <a:rPr lang="ru-RU" sz="2000" strike="sngStrike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зачеркнутого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strike&gt;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текста&lt;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s&gt;</a:t>
            </a:r>
            <a:r>
              <a:rPr lang="ru-RU" sz="2000" strike="sngStrike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зачеркнутого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s&gt;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текста&lt;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big&gt;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большим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big&gt;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размера шрифта&lt;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small&gt;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меньшим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small&gt;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размером шрифта&lt;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sup&gt;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нижним 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sup&gt;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индексом&lt;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sub&gt;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верхним&lt;/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sub&gt;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индексом&lt;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 size="5"&gt;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размером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font&gt;, &lt;font color="red"&gt;</a:t>
            </a:r>
            <a:r>
              <a:rPr lang="ru-RU" sz="2000" dirty="0" smtClean="0">
                <a:ln w="50800"/>
                <a:solidFill>
                  <a:srgbClr val="FF0000"/>
                </a:solidFill>
              </a:rPr>
              <a:t>цветом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font&gt;, 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 face="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monospace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  <a:latin typeface="Courier New" pitchFamily="49" charset="0"/>
                <a:cs typeface="Courier New" pitchFamily="49" charset="0"/>
              </a:rPr>
              <a:t>изменением шрифта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font&gt;</a:t>
            </a:r>
            <a:endParaRPr lang="ru-RU" sz="20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Теги логического форматирования: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836712"/>
            <a:ext cx="8640960" cy="59400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текста как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abbr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title=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"Этот текст будет в подсказке"&gt;аббревиатуру&lt;/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abbr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текста как&lt;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acronym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title=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"Этот текст будет в подсказке"&gt; аббревиатуру&lt;/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acronym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текста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cite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&gt;курсивом&lt;/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cite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- используется для отметки цитат или названий книг и статей&lt;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текста машинописным шрифтом используется для отметки кода&lt;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code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&gt;&amp;#60;strong&amp;#62;жирным&amp;#60;/strong&amp;#62;&lt;/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code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текста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del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&gt;перечеркнутым&lt;/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del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- используется для отметки удаленного текста в момент редактирования&lt;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dfn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&gt;курсивом&lt;/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dfn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&gt;для отметки термина который встречается в документе первый раз&lt;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Теги логического форматирования: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836712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ins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&gt;подчеркиванием&lt;/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ins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для отметки изменений, вносимых в документ от версии к версии&lt;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&gt;курсивом&lt;/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kbd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&gt;машинописным шрифтом&lt;/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kbd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отмечает текст как вводимый пользователем с клавиатуры&lt;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q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ковычками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q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для обозначения цитат&lt;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samp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&gt;машинописным шрифтом&lt;/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samp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&gt;для отметки текста, выдаваемого программами&lt;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&gt;жирным&lt;/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для выделения важных фрагментов текста&lt;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Выделение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var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&gt;курсивом&lt;/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var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для отметки имени переменных&lt;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2.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Цвета в 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Web</a:t>
            </a:r>
            <a:endParaRPr lang="ru-RU" sz="4800" b="1" u="sng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Web-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палитра</a:t>
            </a:r>
          </a:p>
        </p:txBody>
      </p:sp>
      <p:pic>
        <p:nvPicPr>
          <p:cNvPr id="2050" name="Picture 2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1340768"/>
            <a:ext cx="4968552" cy="496855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http://zestydesign.co.uk/wp-content/uploads/2016/07/CMYK-versus-RGB-1.png?w=64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2656"/>
            <a:ext cx="9144000" cy="6096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7647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БЕЗОПАСНЫЕ ВЕБ-ЦВЕТА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2780928"/>
            <a:ext cx="8640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  <a:hlinkClick r:id="rId3"/>
              </a:rPr>
              <a:t>https://colorscheme.ru/web-safe-colors.html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83671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Photoshop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2204864"/>
            <a:ext cx="8640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Рассмотрение основных возможностей: открытие изображений, подбор цветов при помощи палитры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Photoshop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инструмент пипетка;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 выбранного цвета в атрибуте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тега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&lt;font&gt;</a:t>
            </a: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 color=“#6633CC”&gt;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&lt;/font&gt;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204864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 и работа в классе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2204864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Отредактировать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страницу с текстом с файла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word</a:t>
            </a:r>
            <a:endParaRPr lang="ru-RU" sz="24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Согласно полученным знаниям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2026-10-01T06:36:38Z</dcterms:created>
  <dcterms:modified xsi:type="dcterms:W3CDTF">2026-10-01T06:36:38Z</dcterms:modified>
</cp:coreProperties>
</file>