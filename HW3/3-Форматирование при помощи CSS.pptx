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355" r:id="rId2"/>
    <p:sldId id="364" r:id="rId3"/>
    <p:sldId id="369" r:id="rId4"/>
    <p:sldId id="376" r:id="rId5"/>
    <p:sldId id="357" r:id="rId6"/>
    <p:sldId id="372" r:id="rId7"/>
    <p:sldId id="373" r:id="rId8"/>
    <p:sldId id="374" r:id="rId9"/>
    <p:sldId id="375" r:id="rId10"/>
    <p:sldId id="368" r:id="rId11"/>
    <p:sldId id="377" r:id="rId12"/>
    <p:sldId id="378" r:id="rId13"/>
    <p:sldId id="379" r:id="rId14"/>
    <p:sldId id="397" r:id="rId15"/>
    <p:sldId id="380" r:id="rId16"/>
    <p:sldId id="398" r:id="rId17"/>
    <p:sldId id="381" r:id="rId18"/>
    <p:sldId id="382" r:id="rId19"/>
    <p:sldId id="388" r:id="rId20"/>
    <p:sldId id="387" r:id="rId21"/>
    <p:sldId id="389" r:id="rId22"/>
    <p:sldId id="383" r:id="rId23"/>
    <p:sldId id="390" r:id="rId24"/>
    <p:sldId id="384" r:id="rId25"/>
    <p:sldId id="385" r:id="rId26"/>
    <p:sldId id="386" r:id="rId27"/>
    <p:sldId id="391" r:id="rId28"/>
    <p:sldId id="392" r:id="rId29"/>
    <p:sldId id="393" r:id="rId30"/>
    <p:sldId id="394" r:id="rId31"/>
    <p:sldId id="395" r:id="rId32"/>
    <p:sldId id="396" r:id="rId33"/>
    <p:sldId id="399" r:id="rId34"/>
    <p:sldId id="400" r:id="rId35"/>
    <p:sldId id="401" r:id="rId36"/>
    <p:sldId id="402" r:id="rId37"/>
    <p:sldId id="403" r:id="rId38"/>
    <p:sldId id="404" r:id="rId39"/>
    <p:sldId id="405" r:id="rId40"/>
    <p:sldId id="406" r:id="rId41"/>
    <p:sldId id="407" r:id="rId42"/>
    <p:sldId id="408" r:id="rId43"/>
    <p:sldId id="409" r:id="rId44"/>
    <p:sldId id="410" r:id="rId45"/>
    <p:sldId id="411" r:id="rId46"/>
    <p:sldId id="413" r:id="rId47"/>
    <p:sldId id="412" r:id="rId48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00FF"/>
    <a:srgbClr val="111111"/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8024" autoAdjust="0"/>
  </p:normalViewPr>
  <p:slideViewPr>
    <p:cSldViewPr>
      <p:cViewPr varScale="1">
        <p:scale>
          <a:sx n="111" d="100"/>
          <a:sy n="111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28.12.2020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28.12.2020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31</a:t>
            </a:fld>
            <a:endParaRPr lang="ru-R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32</a:t>
            </a:fld>
            <a:endParaRPr lang="ru-R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33</a:t>
            </a:fld>
            <a:endParaRPr lang="ru-R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34</a:t>
            </a:fld>
            <a:endParaRPr lang="ru-RU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35</a:t>
            </a:fld>
            <a:endParaRPr lang="ru-R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36</a:t>
            </a:fld>
            <a:endParaRPr lang="ru-R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37</a:t>
            </a:fld>
            <a:endParaRPr lang="ru-RU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38</a:t>
            </a:fld>
            <a:endParaRPr lang="ru-RU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39</a:t>
            </a:fld>
            <a:endParaRPr lang="ru-RU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40</a:t>
            </a:fld>
            <a:endParaRPr lang="ru-RU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41</a:t>
            </a:fld>
            <a:endParaRPr lang="ru-RU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42</a:t>
            </a:fld>
            <a:endParaRPr lang="ru-RU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43</a:t>
            </a:fld>
            <a:endParaRPr lang="ru-RU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44</a:t>
            </a:fld>
            <a:endParaRPr lang="ru-RU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45</a:t>
            </a:fld>
            <a:endParaRPr lang="ru-RU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46</a:t>
            </a:fld>
            <a:endParaRPr lang="ru-RU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47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28.12.2020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28.12.2020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5book.ru/osnovy-css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/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92896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Форматирование при помощи 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endParaRPr lang="ru-RU" sz="48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564904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1. CSS –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каскадные таблицы стилей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Что такое каскадные таблицы стилей (</a:t>
            </a:r>
            <a:r>
              <a:rPr lang="en-US" sz="40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)?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628800"/>
            <a:ext cx="8640960" cy="35394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 – это формальный язык, служащий для описания оформления внешнего вида документа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</a:p>
          <a:p>
            <a:pPr algn="ctr"/>
            <a:endParaRPr lang="en-US" sz="32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Название происходит от английского </a:t>
            </a:r>
            <a:r>
              <a:rPr lang="ru-RU" sz="32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Cascading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Style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Sheets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что означает «каскадные таблицы стилей».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268760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Термин «каскадные таблицы стилей» был предложен в 1994 году. </a:t>
            </a:r>
            <a:endParaRPr lang="en-US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отличие от многих существовавших на тот момент языков стиля, CSS использует наследование от родителя к потомку, поэтому разработчик может определить разные стили, основываясь на уже определённых ранее стилях.</a:t>
            </a:r>
            <a:endParaRPr lang="en-US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середине 1990-х Консорциум Всемирной паутины (W3C) стал проявлять интерес к CSS, и в декабре 1996 года была издана рекомендация CSS1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24744"/>
            <a:ext cx="8640960" cy="44012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Параметры шрифтов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— гарнитуру, размер шрифта, а также его стиль (обычный, полужирный, курсив)</a:t>
            </a:r>
            <a:b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</a:b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Цвет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— 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определения цвета текста, фона, рамок</a:t>
            </a:r>
            <a:b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</a:b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Атрибуты текста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— 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межбуквенный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интервал, расстояние меж символами и высотой строки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Выравнивания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— для текста, изображения, таблицы, и других элементов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Свойство  блока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 внутренние и внешние отступы от рамки, высота, ширина.</a:t>
            </a:r>
          </a:p>
          <a:p>
            <a:endParaRPr lang="ru-RU" sz="2000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260648"/>
            <a:ext cx="1571264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52736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Блочная верстка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 относительное, абсолютное и фиксированное позиционирование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Типы памяти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—установка различных стилей для разных носителей (монитор, принтер)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Звуковые таблицы стилей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 определения голоса, громкости звуковых носителей (например, для слепых посетителей сайта)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Страничные носители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  установка различных стилей для элементов четных и не четных страницах при печати.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Расширенный механизм селекторов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Генерируемый содержание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— позволяет установить текст и картинку, которые будут отображаться до и после нужного элемента.</a:t>
            </a:r>
          </a:p>
          <a:p>
            <a:endParaRPr lang="ru-RU" sz="2000" dirty="0" err="1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260648"/>
            <a:ext cx="1571264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52736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Основанный на CSS2.1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 дополняет существующие свойства и значение и добавляет новые.</a:t>
            </a: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Главной особенностью CSS3 - есть возможность создавать анимацию без использования JS, поддержка линейных и радиальных градиентов, теней, сглаживания и многое другое</a:t>
            </a:r>
          </a:p>
          <a:p>
            <a:pPr fontAlgn="base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Преимущественно используется как средство описания и оформления внешнего вида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написанных с помощью языков разметки HTML и XHTML, но может также применяться к любым XML-документам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260648"/>
            <a:ext cx="1571264" cy="70788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3</a:t>
            </a:r>
            <a:endParaRPr lang="en-US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268760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Назначение:</a:t>
            </a:r>
          </a:p>
          <a:p>
            <a:pPr algn="ctr"/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</a:p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служит для задания структуры</a:t>
            </a:r>
          </a:p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</a:p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 – для форматирования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Встраивание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628800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&lt;head&gt;</a:t>
            </a:r>
          </a:p>
          <a:p>
            <a:pPr fontAlgn="base"/>
            <a:r>
              <a:rPr lang="en-US" sz="2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&lt;link </a:t>
            </a:r>
            <a:r>
              <a:rPr lang="en-US" sz="20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href</a:t>
            </a:r>
            <a:r>
              <a:rPr lang="en-US" sz="2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="style.css" </a:t>
            </a:r>
            <a:r>
              <a:rPr lang="en-US" sz="20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rel</a:t>
            </a:r>
            <a:r>
              <a:rPr lang="en-US" sz="2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en-US" sz="20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stylesheet</a:t>
            </a:r>
            <a:r>
              <a:rPr lang="en-US" sz="2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media="all"&gt;</a:t>
            </a:r>
            <a:endParaRPr lang="ru-RU" sz="2000" b="1" u="sng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&lt;style&gt;</a:t>
            </a:r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 {font-size:48px;}</a:t>
            </a: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&lt;/style&gt;</a:t>
            </a:r>
          </a:p>
          <a:p>
            <a:pPr fontAlgn="base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&lt;/head&gt;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&lt;body&gt;</a:t>
            </a:r>
          </a:p>
          <a:p>
            <a:pPr fontAlgn="base"/>
            <a:r>
              <a:rPr lang="en-US" sz="2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style=“font-size:18px;”&gt;</a:t>
            </a:r>
            <a:r>
              <a:rPr lang="ru-RU" sz="2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&lt;/p&gt;</a:t>
            </a: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&lt;/body&gt;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Создание </a:t>
            </a:r>
            <a:r>
              <a:rPr lang="en-US" sz="40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файла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62880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 {</a:t>
            </a:r>
          </a:p>
          <a:p>
            <a:pPr fontAlgn="base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	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font-size:12px;</a:t>
            </a: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}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Встраивание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для печати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2060848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&lt;head&gt;</a:t>
            </a: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&lt;link 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href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="styleprint.css" 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rel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stylesheet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media="print"&gt;</a:t>
            </a: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&lt;link 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href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="style.css" 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rel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="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stylesheet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media="all"&gt;</a:t>
            </a:r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&lt;/head&gt;</a:t>
            </a:r>
          </a:p>
          <a:p>
            <a:pPr fontAlgn="base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style.css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p{font-size:48px;}</a:t>
            </a:r>
          </a:p>
          <a:p>
            <a:pPr fontAlgn="base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styleprint.css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p{font-size:18px; font-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weight:bold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color:red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564904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Теги без форматирования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Теги без форматирования</a:t>
            </a:r>
            <a:endParaRPr lang="en-US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–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&lt;div&gt;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блочный, </a:t>
            </a:r>
            <a:endParaRPr lang="en-US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–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&lt;span&gt;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линейный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2924944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&lt;body&gt; </a:t>
            </a: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&lt;div style="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color:red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;"&gt;</a:t>
            </a: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color:green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;"&gt;</a:t>
            </a:r>
          </a:p>
          <a:p>
            <a:pPr fontAlgn="base"/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Текст&amp;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nbsp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</a:t>
            </a: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&lt;span style="color: blue"&gt;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Еще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текст&amp;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nbsp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;&lt;/span&gt;</a:t>
            </a:r>
          </a:p>
          <a:p>
            <a:pPr fontAlgn="base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ну и еще какой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нибудь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текст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&lt;/div&gt;</a:t>
            </a:r>
          </a:p>
          <a:p>
            <a:pPr fontAlgn="base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&lt;/body&gt;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3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Аналогия 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 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ru-RU" sz="4800" dirty="0" smtClean="0"/>
              <a:t> 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 примере линейных и блочных тегов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&lt;font&gt;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color, font-size, font-family; </a:t>
            </a:r>
            <a:endParaRPr lang="ru-RU" sz="40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772816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  - 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 color="red" face="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arial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 size ="2"&gt;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&lt;/font&gt;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 –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style=“</a:t>
            </a: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color: red;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цвет шрифта */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famaly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: 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arial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семейство шрифта */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font-size: 18px;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размер шрифта */</a:t>
            </a: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/*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Дополнительно */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font-style: italic;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начертание  шрифта  */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font-weight: bold;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насыщенность шрифта */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</a:t>
            </a:r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font-family;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772817"/>
            <a:ext cx="8640960" cy="224676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  - </a:t>
            </a:r>
            <a:r>
              <a:rPr lang="fr-FR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&lt;font face="monospace"&gt;текст&lt;/font&gt;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 –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style="font-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family:monospace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;"&gt;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Текст&lt;/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&lt;span style="font-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family:arial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;"&gt;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&lt;/span&gt;</a:t>
            </a:r>
          </a:p>
          <a:p>
            <a:pPr fontAlgn="base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font-family;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9512" y="1412776"/>
          <a:ext cx="8856984" cy="489654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61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5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039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Значения:</a:t>
                      </a:r>
                    </a:p>
                  </a:txBody>
                  <a:tcPr marL="82112" marR="82112" marT="43793" marB="43793"/>
                </a:tc>
                <a:tc>
                  <a:txBody>
                    <a:bodyPr/>
                    <a:lstStyle/>
                    <a:p>
                      <a:pPr fontAlgn="t"/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82112" marR="82112" marT="43793" marB="437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765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family-name</a:t>
                      </a:r>
                    </a:p>
                  </a:txBody>
                  <a:tcPr marL="82112" marR="82112" marT="43793" marB="4379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Название (имя) семейства шрифтов, например, 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Times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, 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Courier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, 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Arial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. Рекомендуется указывать вместе с базовым семейством.</a:t>
                      </a:r>
                    </a:p>
                  </a:txBody>
                  <a:tcPr marL="82112" marR="82112" marT="43793" marB="437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766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generic-family</a:t>
                      </a:r>
                    </a:p>
                  </a:txBody>
                  <a:tcPr marL="82112" marR="82112" marT="43793" marB="4379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Базовое семейство.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CSS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определяет пять базовых семейств шрифтов:</a:t>
                      </a:r>
                      <a:br>
                        <a:rPr lang="ru-RU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Шрифты с засечками —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Serif (Times New Roman, Times, Garamond, Georgia)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Рубленые шрифты —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Sans-serif (Helvetica, Geneva, Arial, Verdana, Trebuchet,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Univers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)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Моноширинные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 шрифты —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Monospace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(Courier, Courier New,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Andele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Mono)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Рукописные шрифты —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Cursive (Comic Sans,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Gabriola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Monotype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Corsiva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Author, Zapf Chancery)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Аллегорические шрифты 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Western, Woodblock,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Klingon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82112" marR="82112" marT="43793" marB="437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039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82112" marR="82112" marT="43793" marB="4379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82112" marR="82112" marT="43793" marB="437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039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82112" marR="82112" marT="43793" marB="4379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82112" marR="82112" marT="43793" marB="437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&lt;b&gt;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font-weight;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772816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  - 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&lt;b&gt;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&lt;/b&gt;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 –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style=“font-weight: bold;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насыщенность шрифта */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&lt;span style=“font-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weight:bold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;”&gt;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&lt;/span&gt;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&lt;b&gt;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font-weight;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20" y="1338008"/>
          <a:ext cx="8640960" cy="466966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523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Значения:</a:t>
                      </a:r>
                    </a:p>
                  </a:txBody>
                  <a:tcPr marL="61452" marR="61452" marT="32774" marB="32774"/>
                </a:tc>
                <a:tc>
                  <a:txBody>
                    <a:bodyPr/>
                    <a:lstStyle/>
                    <a:p>
                      <a:pPr fontAlgn="t"/>
                      <a:endParaRPr lang="ru-RU" sz="1600">
                        <a:solidFill>
                          <a:schemeClr val="bg1"/>
                        </a:solidFill>
                      </a:endParaRPr>
                    </a:p>
                  </a:txBody>
                  <a:tcPr marL="61452" marR="61452" marT="32774" marB="3277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497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normal</a:t>
                      </a:r>
                    </a:p>
                  </a:txBody>
                  <a:tcPr marL="61452" marR="61452" marT="32774" marB="3277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Значение по умолчанию, устанавливает нормальную насыщенность шрифта. Эквивалентно значению насыщенности, равной 400.</a:t>
                      </a:r>
                    </a:p>
                  </a:txBody>
                  <a:tcPr marL="61452" marR="61452" marT="32774" marB="3277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51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bold</a:t>
                      </a:r>
                    </a:p>
                  </a:txBody>
                  <a:tcPr marL="61452" marR="61452" marT="32774" marB="3277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Делает шрифт текста полужирным. Эквивалентно значению насыщенности, равной 700.</a:t>
                      </a:r>
                    </a:p>
                  </a:txBody>
                  <a:tcPr marL="61452" marR="61452" marT="32774" marB="3277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523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bolder</a:t>
                      </a:r>
                    </a:p>
                  </a:txBody>
                  <a:tcPr marL="61452" marR="61452" marT="32774" marB="3277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Насыщенность шрифта будет больше, чем у предка.</a:t>
                      </a:r>
                    </a:p>
                  </a:txBody>
                  <a:tcPr marL="61452" marR="61452" marT="32774" marB="3277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523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lighter</a:t>
                      </a:r>
                    </a:p>
                  </a:txBody>
                  <a:tcPr marL="61452" marR="61452" marT="32774" marB="3277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Насыщенность шрифта будет меньше, чем у предка.</a:t>
                      </a:r>
                    </a:p>
                  </a:txBody>
                  <a:tcPr marL="61452" marR="61452" marT="32774" marB="3277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9380"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100, 200, 300, 400, 500, 600, 700, 800, 900</a:t>
                      </a:r>
                    </a:p>
                  </a:txBody>
                  <a:tcPr marL="61452" marR="61452" marT="32774" marB="3277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Значение 100 соответствует самому легкому варианту начертания шрифта, а 900 — самому плотному. При этом, эти числа не определяют конкретной плотности, т.е. 100, 200, 300 и 400 могут соответствовать одному и тому же варианту слабой насыщенности начертания шрифта; 500 и 600 — средней насыщенности, а 700, 800 и 900 могут выводить одинаковое очень насыщенное начертание. Распределение плотности так же зависит от количества уровней насыщенности, определенных в конкретном семействе шрифтов.</a:t>
                      </a:r>
                    </a:p>
                  </a:txBody>
                  <a:tcPr marL="61452" marR="61452" marT="32774" marB="3277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523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61452" marR="61452" marT="32774" marB="3277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61452" marR="61452" marT="32774" marB="3277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523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61452" marR="61452" marT="32774" marB="3277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61452" marR="61452" marT="32774" marB="3277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</a:t>
            </a:r>
            <a:r>
              <a:rPr lang="en-US" sz="40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font-style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  - 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 –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style=“font-style: italic;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начертание  шрифта  */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&lt;span style=“font-style: italic;”&gt;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&lt;/span&gt;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</a:t>
            </a:r>
            <a:r>
              <a:rPr lang="en-US" sz="4000" b="1" i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font-style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51520" y="1654366"/>
          <a:ext cx="8640960" cy="375148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5248"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Значения: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24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normal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Значение по умолчанию, устанавливает для текста обычное начертание шрифта.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24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italic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Выделяет текст курсивом.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24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oblique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Устанавливает наклонное начертание шрифта.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24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248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Наследует значение </a:t>
                      </a:r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свойства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от родительского элемента.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&lt;u&gt;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– 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text-decoration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  - 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&lt;u&gt;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&lt;/u&gt;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 –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style=“text-decoration:  underline;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начертание  шрифта  */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&lt;span style=“text-decoration:  underline;”&gt;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&lt;/span&gt;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Тег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&lt;vertical-align&gt;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  - 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&lt;sup&gt;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&lt;/sup&gt; &lt;sub&gt;текст2&lt;/sub&gt;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 –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style=“vertical-align: super;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Выравнивает элемент по вертикали относительно своего родителя, окружающего текста или ячейки таблицы.  */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Текст3Текст3Текст3&lt;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span style="vertical-align: super;"&gt;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Текст3&lt;/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span&gt;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Текст3Текст3&lt;/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align –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text-align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Было  -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align=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“center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"&gt;Текст3Текст3Текст3Текст3Текст3&lt;/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Стало –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style =“text-align: center;”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/* - Определяет горизонтальное выравнивание текста в пределах элемента.  */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</a:t>
            </a:r>
            <a:r>
              <a:rPr lang="en-US" sz="2000" b="1" smtClean="0">
                <a:ln w="50800"/>
                <a:solidFill>
                  <a:schemeClr val="bg1">
                    <a:shade val="50000"/>
                  </a:schemeClr>
                </a:solidFill>
              </a:rPr>
              <a:t>style="text-align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: center;"&gt;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Текст3Текст3Текст3Текст3Текст3Текст3&lt;/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Атрибут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align – </a:t>
            </a:r>
            <a:r>
              <a:rPr lang="ru-RU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свойства </a:t>
            </a:r>
            <a:r>
              <a:rPr lang="en-US" sz="4000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text-align</a:t>
            </a:r>
            <a:endParaRPr lang="ru-RU" sz="4000" b="1" i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font: font-style font-weight font-size/line-height font-family</a:t>
            </a:r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 {font: italic bold 14px/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150%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Times;}</a:t>
            </a: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!ВАЖНО – самое главное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font-size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font-family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</a:p>
          <a:p>
            <a:pPr fontAlgn="base"/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line-height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- межстрочный интервал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line-height: 150%;</a:t>
            </a:r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fontAlgn="base"/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Дополнительные свойства CSS для форматирования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Расстояние между буквами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letter-spacing</a:t>
            </a:r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79512" y="2348880"/>
          <a:ext cx="8640960" cy="307545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7014">
                <a:tc>
                  <a:txBody>
                    <a:bodyPr/>
                    <a:lstStyle/>
                    <a:p>
                      <a:pPr fontAlgn="t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normal</a:t>
                      </a:r>
                    </a:p>
                  </a:txBody>
                  <a:tcPr marL="121145" marR="121145" marT="64610" marB="6461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 dirty="0">
                          <a:solidFill>
                            <a:schemeClr val="bg1"/>
                          </a:solidFill>
                        </a:rPr>
                        <a:t>Значение по умолчанию, не добавляет дополнительное пространство между буквами и символами.</a:t>
                      </a:r>
                    </a:p>
                  </a:txBody>
                  <a:tcPr marL="121145" marR="121145" marT="64610" marB="646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612">
                <a:tc>
                  <a:txBody>
                    <a:bodyPr/>
                    <a:lstStyle/>
                    <a:p>
                      <a:pPr fontAlgn="t"/>
                      <a:r>
                        <a:rPr lang="ru-RU" sz="1500">
                          <a:solidFill>
                            <a:schemeClr val="bg1"/>
                          </a:solidFill>
                        </a:rPr>
                        <a:t>длина</a:t>
                      </a:r>
                    </a:p>
                  </a:txBody>
                  <a:tcPr marL="121145" marR="121145" marT="64610" marB="6461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>
                          <a:solidFill>
                            <a:schemeClr val="bg1"/>
                          </a:solidFill>
                        </a:rPr>
                        <a:t>Значение задаётся в единицах длины, положительные значения увеличивают промежутки между буквами и символами, отрицательные — уменьшают.</a:t>
                      </a:r>
                    </a:p>
                  </a:txBody>
                  <a:tcPr marL="121145" marR="121145" marT="64610" marB="6461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416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121145" marR="121145" marT="64610" marB="6461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121145" marR="121145" marT="64610" marB="6461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416">
                <a:tc>
                  <a:txBody>
                    <a:bodyPr/>
                    <a:lstStyle/>
                    <a:p>
                      <a:pPr fontAlgn="t"/>
                      <a:r>
                        <a:rPr lang="en-US" sz="150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121145" marR="121145" marT="64610" marB="6461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500" dirty="0">
                          <a:solidFill>
                            <a:schemeClr val="bg1"/>
                          </a:solidFill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121145" marR="121145" marT="64610" marB="6461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Дополнительные свойства CSS для форматирования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Обработка пробелов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white-space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323528" y="2276872"/>
          <a:ext cx="8640960" cy="445371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4845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normal</a:t>
                      </a:r>
                    </a:p>
                  </a:txBody>
                  <a:tcPr marL="80978" marR="80978" marT="43188" marB="431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Значение по умолчанию. Между словами вставляется только по одному пробелу, дополнительные пробелы отбрасываются. Текст переносится только в случае необходимости.</a:t>
                      </a:r>
                    </a:p>
                  </a:txBody>
                  <a:tcPr marL="80978" marR="80978" marT="43188" marB="431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82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nowrap</a:t>
                      </a:r>
                    </a:p>
                  </a:txBody>
                  <a:tcPr marL="80978" marR="80978" marT="43188" marB="431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Запрещает переносы строк, за исключением применения &lt;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br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&gt;.</a:t>
                      </a:r>
                    </a:p>
                  </a:txBody>
                  <a:tcPr marL="80978" marR="80978" marT="43188" marB="431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50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pre</a:t>
                      </a:r>
                    </a:p>
                  </a:txBody>
                  <a:tcPr marL="80978" marR="80978" marT="43188" marB="431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Пробелы в тексте не игнорируются, браузер отображает дополнительные пробелы и переносы строк.</a:t>
                      </a:r>
                    </a:p>
                  </a:txBody>
                  <a:tcPr marL="80978" marR="80978" marT="43188" marB="431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82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pre-wrap</a:t>
                      </a:r>
                    </a:p>
                  </a:txBody>
                  <a:tcPr marL="80978" marR="80978" marT="43188" marB="431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Сохраняет пробелы в тексте, делая разрывы строк там, где это необходимо.</a:t>
                      </a:r>
                    </a:p>
                  </a:txBody>
                  <a:tcPr marL="80978" marR="80978" marT="43188" marB="431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82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pre-line</a:t>
                      </a:r>
                    </a:p>
                  </a:txBody>
                  <a:tcPr marL="80978" marR="80978" marT="43188" marB="431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Удаляет лишние пробелы, за исключением случаев &lt;br&gt;.</a:t>
                      </a:r>
                    </a:p>
                  </a:txBody>
                  <a:tcPr marL="80978" marR="80978" marT="43188" marB="431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82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80978" marR="80978" marT="43188" marB="431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80978" marR="80978" marT="43188" marB="431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828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80978" marR="80978" marT="43188" marB="43188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80978" marR="80978" marT="43188" marB="431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Дополнительные свойства CSS для форматирования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Отступ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text-indent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Устанавливает отступ (выступ) в первой строке элемента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51520" y="2564903"/>
          <a:ext cx="8640960" cy="403245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7346"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длина</a:t>
                      </a: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Значение задаётся в единицах длины 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em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, 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px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 и т.д. Смещает первую строку текста. Можно использовать как положительные, так и отрицательные </a:t>
                      </a:r>
                      <a:r>
                        <a:rPr lang="ru-RU" sz="1800" dirty="0" smtClean="0">
                          <a:solidFill>
                            <a:schemeClr val="bg1"/>
                          </a:solidFill>
                        </a:rPr>
                        <a:t>значения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959"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solidFill>
                            <a:schemeClr val="bg1"/>
                          </a:solidFill>
                        </a:rPr>
                        <a:t>%</a:t>
                      </a: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solidFill>
                            <a:schemeClr val="bg1"/>
                          </a:solidFill>
                        </a:rPr>
                        <a:t>Величина смещения задаётся в процентах, вычисляется относительно ширины родительского блока.</a:t>
                      </a: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57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57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Дополнительные свойства CSS для форматирования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text-transform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управляет преобразованием текста элемента в заглавные или прописные символы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51520" y="2564903"/>
          <a:ext cx="8640960" cy="410445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0891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capitalize</a:t>
                      </a:r>
                      <a:br>
                        <a:rPr kumimoji="0" lang="en-US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Первый символ каждого слова в предложении будет заглавным. Остальные символы свой вид не меняют.</a:t>
                      </a:r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8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lowercase</a:t>
                      </a:r>
                      <a:endParaRPr kumimoji="0" lang="ru-RU" sz="18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Все символы текста становятся строчными (нижний регистр).</a:t>
                      </a: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uppercase</a:t>
                      </a:r>
                      <a:endParaRPr kumimoji="0" lang="ru-RU" sz="18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Все символы текста становятся прописными (верхний регистр).</a:t>
                      </a: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Не меняет регистр символов.</a:t>
                      </a: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891">
                <a:tc>
                  <a:txBody>
                    <a:bodyPr/>
                    <a:lstStyle/>
                    <a:p>
                      <a:pPr fontAlgn="t"/>
                      <a:r>
                        <a:rPr kumimoji="0" lang="en-US" sz="180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inherit</a:t>
                      </a:r>
                      <a:endParaRPr kumimoji="0" lang="en-US" sz="18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586" marR="114586" marT="61113" marB="61113"/>
                </a:tc>
                <a:tc>
                  <a:txBody>
                    <a:bodyPr/>
                    <a:lstStyle/>
                    <a:p>
                      <a:pPr fontAlgn="t"/>
                      <a:r>
                        <a:rPr kumimoji="0" lang="ru-RU" sz="18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114586" marR="114586" marT="61113" marB="611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36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Дополнительные свойства CSS для форматирования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520" y="177281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Расстояние между словами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word-spacing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51520" y="2420888"/>
          <a:ext cx="8640960" cy="382684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normal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Значение по умолчанию, равное 0.25em.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solidFill>
                            <a:schemeClr val="bg1"/>
                          </a:solidFill>
                        </a:rPr>
                        <a:t>длина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Значение устанавливается в единицах длины — 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px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, 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em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. Принимает как положительные, так и отрицательные значения, увеличивая или уменьшая расстояние между словами.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initial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solidFill>
                            <a:schemeClr val="bg1"/>
                          </a:solidFill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inherit</a:t>
                      </a:r>
                    </a:p>
                  </a:txBody>
                  <a:tcPr marL="128970" marR="128970" marT="68784" marB="6878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128970" marR="128970" marT="68784" marB="687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4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 атрибутов </a:t>
            </a:r>
            <a:r>
              <a:rPr lang="ru-RU" sz="48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class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 </a:t>
            </a:r>
            <a:r>
              <a:rPr lang="ru-RU" sz="48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id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для задания стилей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764704"/>
            <a:ext cx="8640960" cy="44012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Селекторы представляют структуру 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веб-страницы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С их помощью создаются правила для форматирования элементов 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веб-страницы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 Селекторами могут быть элементы, их классы и идентификаторы, а также 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псевдоклассы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 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псевдоэлементы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 примеру базовые (селекторы тегов)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&lt;h1&gt;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или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&lt;hr /&gt;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или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&lt;p&gt;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файле записанные как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h1 {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color:red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 {font-size:28px;}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hr {border: 0;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  width: 350px;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  height: 10px;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   background-color: blue;}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764704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Селектор классов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 class=“zagolovok1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”&gt;JSDBGJGBJ&lt;/h1&gt;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class=“book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”&gt;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sdjbfjsdgb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&lt;/p&gt;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&lt;div class=“first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”&gt;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sdgsdg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&lt;/div&gt;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Стили для классов в CSS (впереди обязательно нужно поставить точку)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.zagolovok1 {color:#0033af;}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или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h1.zagolovok1 {color:#0033af;}</a:t>
            </a: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.book {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color:red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или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p.book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{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color:red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.first {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color:green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.book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применяется ко всем классам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book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, 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p.book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только к тегу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p 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 классом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book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764704"/>
            <a:ext cx="8640960" cy="59400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Селектор идентификаторов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&lt;h1 id=“zagolovok1”&gt;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id=“book”&gt;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&lt;div id=“first”&gt;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Стили для идентификаторов в CSS (перед идентификатором ставится значок решетки)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#zagolovok1 {color:#0033af;}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или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h1#zagolovok1 {color:#0033af;}</a:t>
            </a: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#book {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color:red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или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p#book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{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color:red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</a:p>
          <a:p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#first {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color:green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или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div#first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{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color:green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</a:p>
          <a:p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Селектор идентификатора позволяет форматировать один конкретный элемент. Идентификатор </a:t>
            </a:r>
            <a:r>
              <a:rPr lang="ru-RU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id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 должен быть уникальным и на одной странице может встречаться только один раз.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764704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Селектор идентификаторов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id=“book” class=“first”&gt;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&lt;/p&gt;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#book {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color:red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.first {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color:green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Правило для идентификатора всегда имеет больше вес чем класс.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764704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&lt;p class=“first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child book”&gt;</a:t>
            </a:r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&lt;/p&gt;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.first {font-size:42px;}</a:t>
            </a:r>
          </a:p>
          <a:p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.child {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color:green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</a:p>
          <a:p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p.book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{font-</a:t>
            </a:r>
            <a:r>
              <a:rPr lang="en-US" sz="20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style:italic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;}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Стиль может состоять из нескольких классов</a:t>
            </a:r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764704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Универсальный селектор *</a:t>
            </a:r>
          </a:p>
          <a:p>
            <a:endParaRPr lang="ru-RU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*</a:t>
            </a:r>
            <a:r>
              <a:rPr lang="en-US" sz="20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{font-size:24px; color black;}</a:t>
            </a: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Соответствует любому </a:t>
            </a:r>
            <a:r>
              <a:rPr lang="en-US" sz="2000" dirty="0" smtClean="0">
                <a:solidFill>
                  <a:schemeClr val="bg1"/>
                </a:solidFill>
              </a:rPr>
              <a:t>HTML-</a:t>
            </a:r>
            <a:r>
              <a:rPr lang="ru-RU" sz="2000" dirty="0" smtClean="0">
                <a:solidFill>
                  <a:schemeClr val="bg1"/>
                </a:solidFill>
              </a:rPr>
              <a:t>элементу</a:t>
            </a:r>
            <a:endParaRPr lang="en-US" sz="2000" b="1" dirty="0" smtClean="0">
              <a:ln w="50800"/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188640"/>
            <a:ext cx="8640960" cy="55092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i="1" u="sng" dirty="0" smtClean="0">
                <a:solidFill>
                  <a:schemeClr val="bg1"/>
                </a:solidFill>
              </a:rPr>
              <a:t>Приоритет использования стилей (</a:t>
            </a:r>
            <a:r>
              <a:rPr lang="ru-RU" sz="2800" i="1" u="sng" dirty="0" err="1" smtClean="0">
                <a:solidFill>
                  <a:schemeClr val="bg1"/>
                </a:solidFill>
              </a:rPr>
              <a:t>tag</a:t>
            </a:r>
            <a:r>
              <a:rPr lang="ru-RU" sz="2800" i="1" u="sng" dirty="0" smtClean="0">
                <a:solidFill>
                  <a:schemeClr val="bg1"/>
                </a:solidFill>
              </a:rPr>
              <a:t> / </a:t>
            </a:r>
            <a:r>
              <a:rPr lang="ru-RU" sz="2800" i="1" u="sng" dirty="0" err="1" smtClean="0">
                <a:solidFill>
                  <a:schemeClr val="bg1"/>
                </a:solidFill>
              </a:rPr>
              <a:t>class</a:t>
            </a:r>
            <a:r>
              <a:rPr lang="ru-RU" sz="2800" i="1" u="sng" dirty="0" smtClean="0">
                <a:solidFill>
                  <a:schemeClr val="bg1"/>
                </a:solidFill>
              </a:rPr>
              <a:t> / </a:t>
            </a:r>
            <a:r>
              <a:rPr lang="ru-RU" sz="2800" i="1" u="sng" dirty="0" err="1" smtClean="0">
                <a:solidFill>
                  <a:schemeClr val="bg1"/>
                </a:solidFill>
              </a:rPr>
              <a:t>id</a:t>
            </a:r>
            <a:r>
              <a:rPr lang="ru-RU" sz="2800" i="1" u="sng" dirty="0" smtClean="0">
                <a:solidFill>
                  <a:schemeClr val="bg1"/>
                </a:solidFill>
              </a:rPr>
              <a:t> / </a:t>
            </a:r>
            <a:r>
              <a:rPr lang="ru-RU" sz="2800" i="1" u="sng" dirty="0" err="1" smtClean="0">
                <a:solidFill>
                  <a:schemeClr val="bg1"/>
                </a:solidFill>
              </a:rPr>
              <a:t>style</a:t>
            </a:r>
            <a:r>
              <a:rPr lang="ru-RU" sz="2800" i="1" u="sng" dirty="0" smtClean="0">
                <a:solidFill>
                  <a:schemeClr val="bg1"/>
                </a:solidFill>
              </a:rPr>
              <a:t>)</a:t>
            </a:r>
          </a:p>
          <a:p>
            <a:endParaRPr lang="ru-RU" sz="3600" i="1" u="sng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&lt;p id="first" class="</a:t>
            </a:r>
            <a:r>
              <a:rPr lang="en-US" sz="2000" dirty="0" err="1" smtClean="0">
                <a:solidFill>
                  <a:schemeClr val="bg1"/>
                </a:solidFill>
              </a:rPr>
              <a:t>blaack</a:t>
            </a:r>
            <a:r>
              <a:rPr lang="en-US" sz="2000" dirty="0" smtClean="0">
                <a:solidFill>
                  <a:schemeClr val="bg1"/>
                </a:solidFill>
              </a:rPr>
              <a:t>"&gt; </a:t>
            </a:r>
            <a:r>
              <a:rPr lang="ru-RU" sz="2000" dirty="0" smtClean="0">
                <a:solidFill>
                  <a:schemeClr val="bg1"/>
                </a:solidFill>
              </a:rPr>
              <a:t>Любой большой текст</a:t>
            </a:r>
            <a:r>
              <a:rPr lang="en-US" sz="2000" dirty="0" smtClean="0">
                <a:solidFill>
                  <a:schemeClr val="bg1"/>
                </a:solidFill>
              </a:rPr>
              <a:t>&lt;/p&gt; </a:t>
            </a:r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В </a:t>
            </a:r>
            <a:r>
              <a:rPr lang="en-US" sz="2000" dirty="0" err="1" smtClean="0">
                <a:solidFill>
                  <a:schemeClr val="bg1"/>
                </a:solidFill>
              </a:rPr>
              <a:t>ccs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файл запишем</a:t>
            </a:r>
          </a:p>
          <a:p>
            <a:r>
              <a:rPr lang="en-US" sz="2000" dirty="0" err="1" smtClean="0">
                <a:solidFill>
                  <a:schemeClr val="bg1"/>
                </a:solidFill>
              </a:rPr>
              <a:t>p#first.blaack</a:t>
            </a:r>
            <a:r>
              <a:rPr lang="en-US" sz="2000" dirty="0" smtClean="0">
                <a:solidFill>
                  <a:schemeClr val="bg1"/>
                </a:solidFill>
              </a:rPr>
              <a:t> {font-size: 45px; color:#2501d8;}</a:t>
            </a:r>
          </a:p>
          <a:p>
            <a:r>
              <a:rPr lang="en-US" sz="2000" dirty="0" err="1" smtClean="0">
                <a:solidFill>
                  <a:schemeClr val="bg1"/>
                </a:solidFill>
              </a:rPr>
              <a:t>p#first</a:t>
            </a:r>
            <a:r>
              <a:rPr lang="en-US" sz="2000" dirty="0" smtClean="0">
                <a:solidFill>
                  <a:schemeClr val="bg1"/>
                </a:solidFill>
              </a:rPr>
              <a:t> {font-size: 65px; </a:t>
            </a:r>
            <a:r>
              <a:rPr lang="en-US" sz="2000" dirty="0" err="1" smtClean="0">
                <a:solidFill>
                  <a:schemeClr val="bg1"/>
                </a:solidFill>
              </a:rPr>
              <a:t>color:green</a:t>
            </a:r>
            <a:r>
              <a:rPr lang="en-US" sz="2000" dirty="0" smtClean="0">
                <a:solidFill>
                  <a:schemeClr val="bg1"/>
                </a:solidFill>
              </a:rPr>
              <a:t>;}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#first {font-size: 55px; </a:t>
            </a:r>
            <a:r>
              <a:rPr lang="en-US" sz="2000" dirty="0" err="1" smtClean="0">
                <a:solidFill>
                  <a:schemeClr val="bg1"/>
                </a:solidFill>
              </a:rPr>
              <a:t>color:red</a:t>
            </a:r>
            <a:r>
              <a:rPr lang="en-US" sz="2000" dirty="0" smtClean="0">
                <a:solidFill>
                  <a:schemeClr val="bg1"/>
                </a:solidFill>
              </a:rPr>
              <a:t>;}</a:t>
            </a:r>
          </a:p>
          <a:p>
            <a:r>
              <a:rPr lang="en-US" sz="2000" dirty="0" err="1" smtClean="0">
                <a:solidFill>
                  <a:schemeClr val="bg1"/>
                </a:solidFill>
              </a:rPr>
              <a:t>p.blaack</a:t>
            </a:r>
            <a:r>
              <a:rPr lang="en-US" sz="2000" dirty="0" smtClean="0">
                <a:solidFill>
                  <a:schemeClr val="bg1"/>
                </a:solidFill>
              </a:rPr>
              <a:t> {font-size: 95px;color:chartreuse;}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.</a:t>
            </a:r>
            <a:r>
              <a:rPr lang="en-US" sz="2000" dirty="0" err="1" smtClean="0">
                <a:solidFill>
                  <a:schemeClr val="bg1"/>
                </a:solidFill>
              </a:rPr>
              <a:t>blaack</a:t>
            </a:r>
            <a:r>
              <a:rPr lang="en-US" sz="2000" dirty="0" smtClean="0">
                <a:solidFill>
                  <a:schemeClr val="bg1"/>
                </a:solidFill>
              </a:rPr>
              <a:t> {font-size: 75px;color:aqua;}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p {font-size:12px; </a:t>
            </a:r>
            <a:r>
              <a:rPr lang="en-US" sz="2000" dirty="0" err="1" smtClean="0">
                <a:solidFill>
                  <a:schemeClr val="bg1"/>
                </a:solidFill>
              </a:rPr>
              <a:t>color:yellow</a:t>
            </a:r>
            <a:r>
              <a:rPr lang="en-US" sz="2000" dirty="0" smtClean="0">
                <a:solidFill>
                  <a:schemeClr val="bg1"/>
                </a:solidFill>
              </a:rPr>
              <a:t>;}</a:t>
            </a:r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i="1" u="sng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А в </a:t>
            </a:r>
            <a:r>
              <a:rPr lang="en-US" sz="2000" dirty="0" smtClean="0">
                <a:solidFill>
                  <a:schemeClr val="bg1"/>
                </a:solidFill>
              </a:rPr>
              <a:t>html </a:t>
            </a:r>
            <a:r>
              <a:rPr lang="ru-RU" sz="2000" dirty="0" smtClean="0">
                <a:solidFill>
                  <a:schemeClr val="bg1"/>
                </a:solidFill>
              </a:rPr>
              <a:t>между </a:t>
            </a:r>
            <a:r>
              <a:rPr lang="en-US" sz="2000" dirty="0" smtClean="0">
                <a:solidFill>
                  <a:schemeClr val="bg1"/>
                </a:solidFill>
              </a:rPr>
              <a:t>&lt;head&gt; &lt;/head&gt;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&lt;</a:t>
            </a:r>
            <a:r>
              <a:rPr lang="en-US" sz="2000" dirty="0" smtClean="0">
                <a:solidFill>
                  <a:schemeClr val="bg1"/>
                </a:solidFill>
              </a:rPr>
              <a:t>style&gt;p </a:t>
            </a:r>
            <a:r>
              <a:rPr lang="en-US" sz="2000" dirty="0" smtClean="0">
                <a:solidFill>
                  <a:schemeClr val="bg1"/>
                </a:solidFill>
              </a:rPr>
              <a:t>{font-size:12px; </a:t>
            </a:r>
            <a:r>
              <a:rPr lang="en-US" sz="2000" dirty="0" err="1" smtClean="0">
                <a:solidFill>
                  <a:schemeClr val="bg1"/>
                </a:solidFill>
              </a:rPr>
              <a:t>color:darkorange</a:t>
            </a:r>
            <a:r>
              <a:rPr lang="en-US" sz="2000" dirty="0" smtClean="0">
                <a:solidFill>
                  <a:schemeClr val="bg1"/>
                </a:solidFill>
              </a:rPr>
              <a:t>;}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&lt;/style&gt;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188640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i="1" u="sng" dirty="0" smtClean="0">
                <a:solidFill>
                  <a:schemeClr val="bg1"/>
                </a:solidFill>
              </a:rPr>
              <a:t>Приоритет использования стилей (</a:t>
            </a:r>
            <a:r>
              <a:rPr lang="ru-RU" sz="2800" i="1" u="sng" dirty="0" err="1" smtClean="0">
                <a:solidFill>
                  <a:schemeClr val="bg1"/>
                </a:solidFill>
              </a:rPr>
              <a:t>tag</a:t>
            </a:r>
            <a:r>
              <a:rPr lang="ru-RU" sz="2800" i="1" u="sng" dirty="0" smtClean="0">
                <a:solidFill>
                  <a:schemeClr val="bg1"/>
                </a:solidFill>
              </a:rPr>
              <a:t> / </a:t>
            </a:r>
            <a:r>
              <a:rPr lang="ru-RU" sz="2800" i="1" u="sng" dirty="0" err="1" smtClean="0">
                <a:solidFill>
                  <a:schemeClr val="bg1"/>
                </a:solidFill>
              </a:rPr>
              <a:t>class</a:t>
            </a:r>
            <a:r>
              <a:rPr lang="ru-RU" sz="2800" i="1" u="sng" dirty="0" smtClean="0">
                <a:solidFill>
                  <a:schemeClr val="bg1"/>
                </a:solidFill>
              </a:rPr>
              <a:t> / </a:t>
            </a:r>
            <a:r>
              <a:rPr lang="ru-RU" sz="2800" i="1" u="sng" dirty="0" err="1" smtClean="0">
                <a:solidFill>
                  <a:schemeClr val="bg1"/>
                </a:solidFill>
              </a:rPr>
              <a:t>id</a:t>
            </a:r>
            <a:r>
              <a:rPr lang="ru-RU" sz="2800" i="1" u="sng" dirty="0" smtClean="0">
                <a:solidFill>
                  <a:schemeClr val="bg1"/>
                </a:solidFill>
              </a:rPr>
              <a:t> / </a:t>
            </a:r>
            <a:r>
              <a:rPr lang="ru-RU" sz="2800" i="1" u="sng" dirty="0" err="1" smtClean="0">
                <a:solidFill>
                  <a:schemeClr val="bg1"/>
                </a:solidFill>
              </a:rPr>
              <a:t>style</a:t>
            </a:r>
            <a:r>
              <a:rPr lang="ru-RU" sz="2800" i="1" u="sng" dirty="0" smtClean="0">
                <a:solidFill>
                  <a:schemeClr val="bg1"/>
                </a:solidFill>
              </a:rPr>
              <a:t>)</a:t>
            </a:r>
          </a:p>
          <a:p>
            <a:endParaRPr lang="en-US" sz="2000" i="1" u="sng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Теперь в </a:t>
            </a:r>
            <a:r>
              <a:rPr lang="en-US" sz="2000" dirty="0" smtClean="0">
                <a:solidFill>
                  <a:schemeClr val="bg1"/>
                </a:solidFill>
              </a:rPr>
              <a:t>html </a:t>
            </a:r>
            <a:r>
              <a:rPr lang="ru-RU" sz="2000" dirty="0" smtClean="0">
                <a:solidFill>
                  <a:schemeClr val="bg1"/>
                </a:solidFill>
              </a:rPr>
              <a:t>к каждому правилу добавим </a:t>
            </a:r>
            <a:r>
              <a:rPr lang="en-US" sz="2000" dirty="0" smtClean="0">
                <a:solidFill>
                  <a:schemeClr val="bg1"/>
                </a:solidFill>
              </a:rPr>
              <a:t>!important</a:t>
            </a: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Что бы получилось</a:t>
            </a: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&lt;style type="text/</a:t>
            </a:r>
            <a:r>
              <a:rPr lang="en-US" sz="2000" dirty="0" err="1" smtClean="0">
                <a:solidFill>
                  <a:schemeClr val="bg1"/>
                </a:solidFill>
              </a:rPr>
              <a:t>css</a:t>
            </a:r>
            <a:r>
              <a:rPr lang="en-US" sz="2000" dirty="0" smtClean="0">
                <a:solidFill>
                  <a:schemeClr val="bg1"/>
                </a:solidFill>
              </a:rPr>
              <a:t>"&gt;</a:t>
            </a:r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p {font-size:12px</a:t>
            </a:r>
            <a:r>
              <a:rPr lang="ru-RU" sz="2000" dirty="0" smtClean="0">
                <a:solidFill>
                  <a:schemeClr val="bg1"/>
                </a:solidFill>
              </a:rPr>
              <a:t> </a:t>
            </a:r>
            <a:r>
              <a:rPr lang="ru-RU" sz="2000" b="1" dirty="0" smtClean="0">
                <a:solidFill>
                  <a:schemeClr val="bg1"/>
                </a:solidFill>
              </a:rPr>
              <a:t>!</a:t>
            </a:r>
            <a:r>
              <a:rPr lang="en-US" sz="2000" b="1" dirty="0" smtClean="0">
                <a:solidFill>
                  <a:schemeClr val="bg1"/>
                </a:solidFill>
              </a:rPr>
              <a:t>important</a:t>
            </a:r>
            <a:r>
              <a:rPr lang="en-US" sz="2000" dirty="0" smtClean="0">
                <a:solidFill>
                  <a:schemeClr val="bg1"/>
                </a:solidFill>
              </a:rPr>
              <a:t>; </a:t>
            </a:r>
            <a:r>
              <a:rPr lang="en-US" sz="2000" dirty="0" err="1" smtClean="0">
                <a:solidFill>
                  <a:schemeClr val="bg1"/>
                </a:solidFill>
              </a:rPr>
              <a:t>color:darkorange</a:t>
            </a:r>
            <a:r>
              <a:rPr lang="ru-RU" sz="2000" dirty="0" smtClean="0">
                <a:solidFill>
                  <a:schemeClr val="bg1"/>
                </a:solidFill>
              </a:rPr>
              <a:t> </a:t>
            </a:r>
            <a:r>
              <a:rPr lang="ru-RU" sz="2000" b="1" dirty="0" smtClean="0">
                <a:solidFill>
                  <a:schemeClr val="bg1"/>
                </a:solidFill>
              </a:rPr>
              <a:t>!</a:t>
            </a:r>
            <a:r>
              <a:rPr lang="en-US" sz="2000" b="1" dirty="0" smtClean="0">
                <a:solidFill>
                  <a:schemeClr val="bg1"/>
                </a:solidFill>
              </a:rPr>
              <a:t>important</a:t>
            </a:r>
            <a:r>
              <a:rPr lang="en-US" sz="2000" dirty="0" smtClean="0">
                <a:solidFill>
                  <a:schemeClr val="bg1"/>
                </a:solidFill>
              </a:rPr>
              <a:t>;}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&lt;/style&gt;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5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 внешних CSS файлов стилей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Огромное множество </a:t>
            </a:r>
            <a:r>
              <a:rPr lang="en-US" sz="4800" b="1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en-US" sz="4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8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библиотек!!!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https://getbootstrap.com/</a:t>
            </a:r>
            <a:endParaRPr lang="ru-RU" sz="4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Подключение внешнего </a:t>
            </a:r>
            <a:r>
              <a:rPr lang="en-US" sz="4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en-US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файла и возможности библиотек</a:t>
            </a:r>
            <a:endParaRPr lang="en-US" sz="4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en-US" sz="4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4000" dirty="0" smtClean="0">
                <a:ln w="50800"/>
                <a:solidFill>
                  <a:schemeClr val="bg1">
                    <a:shade val="50000"/>
                  </a:schemeClr>
                </a:solidFill>
                <a:hlinkClick r:id="rId3"/>
              </a:rPr>
              <a:t>https://html5book.ru/osnovy-css</a:t>
            </a:r>
            <a:endParaRPr lang="en-US" sz="4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4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6</a:t>
            </a:r>
            <a:r>
              <a:rPr lang="en-US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132856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Отформатировать текст во вложении с помощью </a:t>
            </a:r>
            <a:r>
              <a:rPr lang="en-US" sz="4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en-US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используя классы</a:t>
            </a:r>
            <a:r>
              <a:rPr lang="en-US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 полученные знания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2026-10-01T06:36:39Z</dcterms:created>
  <dcterms:modified xsi:type="dcterms:W3CDTF">2026-10-01T06:36:39Z</dcterms:modified>
</cp:coreProperties>
</file>