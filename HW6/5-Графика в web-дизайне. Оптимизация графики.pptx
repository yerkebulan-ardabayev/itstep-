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55" r:id="rId2"/>
    <p:sldId id="364" r:id="rId3"/>
    <p:sldId id="456" r:id="rId4"/>
    <p:sldId id="357" r:id="rId5"/>
    <p:sldId id="372" r:id="rId6"/>
    <p:sldId id="477" r:id="rId7"/>
    <p:sldId id="457" r:id="rId8"/>
    <p:sldId id="478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90" r:id="rId20"/>
    <p:sldId id="491" r:id="rId21"/>
    <p:sldId id="492" r:id="rId22"/>
    <p:sldId id="493" r:id="rId23"/>
    <p:sldId id="496" r:id="rId24"/>
    <p:sldId id="495" r:id="rId25"/>
    <p:sldId id="497" r:id="rId26"/>
    <p:sldId id="498" r:id="rId27"/>
    <p:sldId id="499" r:id="rId28"/>
    <p:sldId id="500" r:id="rId29"/>
    <p:sldId id="501" r:id="rId30"/>
    <p:sldId id="502" r:id="rId31"/>
    <p:sldId id="503" r:id="rId32"/>
    <p:sldId id="504" r:id="rId33"/>
    <p:sldId id="505" r:id="rId34"/>
    <p:sldId id="506" r:id="rId35"/>
    <p:sldId id="507" r:id="rId36"/>
    <p:sldId id="508" r:id="rId37"/>
    <p:sldId id="509" r:id="rId38"/>
    <p:sldId id="510" r:id="rId39"/>
    <p:sldId id="511" r:id="rId40"/>
    <p:sldId id="512" r:id="rId41"/>
    <p:sldId id="513" r:id="rId42"/>
    <p:sldId id="516" r:id="rId43"/>
    <p:sldId id="517" r:id="rId44"/>
    <p:sldId id="518" r:id="rId45"/>
    <p:sldId id="454" r:id="rId46"/>
    <p:sldId id="455" r:id="rId47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4949"/>
    <a:srgbClr val="CC00CC"/>
    <a:srgbClr val="FF0000"/>
    <a:srgbClr val="00FF00"/>
    <a:srgbClr val="0000FF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82" d="100"/>
          <a:sy n="82" d="100"/>
        </p:scale>
        <p:origin x="14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28.11.2021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28.11.2021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081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28.11.2021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yadi.sk/d/qjKPa_mQfcjCLg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adi.sk/d/LZ9LMRaONMWXQg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tal.com/developers/css/sprite-generator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ritegen.website-performance.org/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Графика в </a:t>
            </a:r>
            <a:r>
              <a:rPr lang="ru-RU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web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-дизайне. Оптимизация графики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Форматы графических файлов в </a:t>
            </a:r>
            <a:r>
              <a:rPr lang="ru-RU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Web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da-DK" sz="5400" b="1" dirty="0">
                <a:ln w="50800"/>
                <a:solidFill>
                  <a:schemeClr val="bg1">
                    <a:shade val="50000"/>
                  </a:schemeClr>
                </a:solidFill>
              </a:rPr>
              <a:t>bmp, tif, gif, jpg, png</a:t>
            </a:r>
            <a:endParaRPr lang="ru-RU" sz="54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64096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BMP</a:t>
            </a:r>
            <a:r>
              <a:rPr lang="ru-RU" dirty="0">
                <a:solidFill>
                  <a:schemeClr val="bg1"/>
                </a:solidFill>
              </a:rPr>
              <a:t> ( англ. </a:t>
            </a:r>
            <a:r>
              <a:rPr lang="ru-RU" i="1" dirty="0" err="1">
                <a:solidFill>
                  <a:schemeClr val="bg1"/>
                </a:solidFill>
              </a:rPr>
              <a:t>bitmap</a:t>
            </a:r>
            <a:r>
              <a:rPr lang="ru-RU" dirty="0">
                <a:solidFill>
                  <a:schemeClr val="bg1"/>
                </a:solidFill>
              </a:rPr>
              <a:t>) — формат хранения растровых изображений. Вообще-то не один грамотный веб-мастер не станет использовать графику в этом формате для оформления своего сайта (равно как и для контентного наполнения) - размеры несжатой битовой карты чрезвычайно объемны. Просто забудьте о том, что браузеры поддерживают </a:t>
            </a:r>
            <a:r>
              <a:rPr lang="ru-RU" dirty="0" err="1">
                <a:solidFill>
                  <a:schemeClr val="bg1"/>
                </a:solidFill>
              </a:rPr>
              <a:t>bmp</a:t>
            </a:r>
            <a:endParaRPr lang="ru-RU" dirty="0">
              <a:solidFill>
                <a:schemeClr val="bg1"/>
              </a:solidFill>
            </a:endParaRPr>
          </a:p>
          <a:p>
            <a:endParaRPr lang="ru-RU" sz="3200" b="1" dirty="0">
              <a:ln w="50800"/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TIFF</a:t>
            </a:r>
            <a:r>
              <a:rPr lang="ru-RU" dirty="0">
                <a:solidFill>
                  <a:schemeClr val="bg1"/>
                </a:solidFill>
              </a:rPr>
              <a:t> (англ. </a:t>
            </a:r>
            <a:r>
              <a:rPr lang="ru-RU" dirty="0" err="1">
                <a:solidFill>
                  <a:schemeClr val="bg1"/>
                </a:solidFill>
              </a:rPr>
              <a:t>Tagged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Image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File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Format</a:t>
            </a:r>
            <a:r>
              <a:rPr lang="ru-RU" dirty="0">
                <a:solidFill>
                  <a:schemeClr val="bg1"/>
                </a:solidFill>
              </a:rPr>
              <a:t>) — формат хранения растровых графических изображений, который стал популярным форматом для хранения изображений с большой глубиной цвета. Этот формат поддерживается всеми браузерами, но из-за весьма крупных размеров в веб-дизайне не используется. Однако, "</a:t>
            </a:r>
            <a:r>
              <a:rPr lang="ru-RU" dirty="0" err="1">
                <a:solidFill>
                  <a:schemeClr val="bg1"/>
                </a:solidFill>
              </a:rPr>
              <a:t>тиффы</a:t>
            </a:r>
            <a:r>
              <a:rPr lang="ru-RU" dirty="0">
                <a:solidFill>
                  <a:schemeClr val="bg1"/>
                </a:solidFill>
              </a:rPr>
              <a:t>" иногда можно встретить в контентном наполнении различных сайтов - например, в качестве демонстрации "на печать" работ различных фотохудожников. 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GIF</a:t>
            </a:r>
            <a:r>
              <a:rPr lang="ru-RU" dirty="0">
                <a:solidFill>
                  <a:schemeClr val="bg1"/>
                </a:solidFill>
              </a:rPr>
              <a:t> (англ. </a:t>
            </a:r>
            <a:r>
              <a:rPr lang="ru-RU" dirty="0" err="1">
                <a:solidFill>
                  <a:schemeClr val="bg1"/>
                </a:solidFill>
              </a:rPr>
              <a:t>Graphics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Interchange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Format</a:t>
            </a:r>
            <a:r>
              <a:rPr lang="ru-RU" dirty="0">
                <a:solidFill>
                  <a:schemeClr val="bg1"/>
                </a:solidFill>
              </a:rPr>
              <a:t> — формат для обмена изображениями). Максимально допустимая глубина цвета - 8 бит (256 цветов). Этот формат очень хорошо подходит для того, что бы отображать на веб-страницах растровую графику. Огромный выбор вариантов компрессии, а так же палитр сделало этот формат одним из самых распространенных в вебе. Ну а возможность делать анимированные картинки (и использовать их в качестве </a:t>
            </a:r>
            <a:r>
              <a:rPr lang="ru-RU" dirty="0" err="1">
                <a:solidFill>
                  <a:schemeClr val="bg1"/>
                </a:solidFill>
              </a:rPr>
              <a:t>банеров</a:t>
            </a:r>
            <a:r>
              <a:rPr lang="ru-RU" dirty="0">
                <a:solidFill>
                  <a:schemeClr val="bg1"/>
                </a:solidFill>
              </a:rPr>
              <a:t>, меню и проч.). Формат совместим на 100% со всеми известными на сегодняшний день операционными системами. 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64096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JPEG</a:t>
            </a:r>
            <a:r>
              <a:rPr lang="ru-RU" dirty="0">
                <a:solidFill>
                  <a:schemeClr val="bg1"/>
                </a:solidFill>
              </a:rPr>
              <a:t> (</a:t>
            </a:r>
            <a:r>
              <a:rPr lang="ru-RU" dirty="0" err="1">
                <a:solidFill>
                  <a:schemeClr val="bg1"/>
                </a:solidFill>
              </a:rPr>
              <a:t>Joint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Photographic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Experts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Group</a:t>
            </a:r>
            <a:r>
              <a:rPr lang="ru-RU" dirty="0">
                <a:solidFill>
                  <a:schemeClr val="bg1"/>
                </a:solidFill>
              </a:rPr>
              <a:t>) — популярный формат графических файлов, широко используемый при создании сайтов и для хранения изображений. JPEG поддерживает 24-битовый цвет и сохраняет яркость и оттенки цветов в фотографиях неизменными. Данный формат называют сжатием с потерями, поскольку алгоритм JPEG выборочно отвергает данные. Метод сжатия может внести искажения в рисунок, особенно если он содержащий текст, мелкие детали или четкие края. Формат JPEG не поддерживает прозрачность. Когда вы сохраняете фотографию в этом формате, прозрачные пиксели заполняются определенным цветом.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PNG-8</a:t>
            </a:r>
            <a:r>
              <a:rPr lang="ru-RU" dirty="0">
                <a:solidFill>
                  <a:schemeClr val="bg1"/>
                </a:solidFill>
              </a:rPr>
              <a:t> (</a:t>
            </a:r>
            <a:r>
              <a:rPr lang="ru-RU" dirty="0" err="1">
                <a:solidFill>
                  <a:schemeClr val="bg1"/>
                </a:solidFill>
              </a:rPr>
              <a:t>Portable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Network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Graphics</a:t>
            </a:r>
            <a:r>
              <a:rPr lang="ru-RU" dirty="0">
                <a:solidFill>
                  <a:schemeClr val="bg1"/>
                </a:solidFill>
              </a:rPr>
              <a:t>) — формат по своему действию аналогичен GIF. Использует улучшенный формат сжатия данных. Используется в областях: текст, логотипы, иллюстрации с четкими краями, изображения с градиентной прозрачностью.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 PNG-24</a:t>
            </a:r>
            <a:r>
              <a:rPr lang="ru-RU" dirty="0">
                <a:solidFill>
                  <a:schemeClr val="bg1"/>
                </a:solidFill>
              </a:rPr>
              <a:t> — формат, аналогичный PNG-8, но использующий 24-битную палитру цвета. Подобно формату JPEG, сохраняет яркость и оттенки цветов в фотографиях. Подобно форматам GIF и PNG-8 сохраняет детали изображения, как, например, в линейных рисунках, логотипах, или иллюстрациях. Применение: фотографии, рисунки, содержащие прозрачные участки, рисунки с большим количеством цветов и четкими краями изображений.</a:t>
            </a:r>
          </a:p>
        </p:txBody>
      </p:sp>
    </p:spTree>
    <p:extLst>
      <p:ext uri="{BB962C8B-B14F-4D97-AF65-F5344CB8AC3E}">
        <p14:creationId xmlns:p14="http://schemas.microsoft.com/office/powerpoint/2010/main" val="8804640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52736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Создаем документ 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(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cntl+n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)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размер 200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на 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200px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Изучим окно создания документа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Открываем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Photoshop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2780928"/>
            <a:ext cx="69151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Рассмотрение инструментов 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Photoshop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49685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Слои в </a:t>
            </a:r>
            <a:r>
              <a:rPr lang="en-US" b="1" dirty="0">
                <a:solidFill>
                  <a:schemeClr val="bg1"/>
                </a:solidFill>
              </a:rPr>
              <a:t>Photoshop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Можно отключать и включать видимость слоев.</a:t>
            </a:r>
          </a:p>
          <a:p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Слои предназначены для удобного редактирования изображения. 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Можно задавать прозрачность и заливку слоя и редактировать слой по маске, добавлять каждому слою отдельно изменения и эффекты.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342900"/>
            <a:ext cx="3552825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Инструменты выделения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88640"/>
            <a:ext cx="4533900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194520"/>
            <a:ext cx="4533900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4107904"/>
            <a:ext cx="4533900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Линейка </a:t>
            </a:r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en-US" b="1" dirty="0" err="1">
                <a:solidFill>
                  <a:schemeClr val="bg1"/>
                </a:solidFill>
              </a:rPr>
              <a:t>ctrl+r</a:t>
            </a:r>
            <a:r>
              <a:rPr lang="en-US" b="1" dirty="0">
                <a:solidFill>
                  <a:schemeClr val="bg1"/>
                </a:solidFill>
              </a:rPr>
              <a:t>) </a:t>
            </a:r>
            <a:r>
              <a:rPr lang="ru-RU" b="1" dirty="0">
                <a:solidFill>
                  <a:schemeClr val="bg1"/>
                </a:solidFill>
              </a:rPr>
              <a:t>и направляющие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908720"/>
            <a:ext cx="6383191" cy="546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Обрезка фотографии</a:t>
            </a:r>
            <a:r>
              <a:rPr lang="en-US" b="1" dirty="0">
                <a:solidFill>
                  <a:schemeClr val="bg1"/>
                </a:solidFill>
              </a:rPr>
              <a:t> (c)</a:t>
            </a:r>
            <a:r>
              <a:rPr lang="ru-RU" b="1" dirty="0">
                <a:solidFill>
                  <a:schemeClr val="bg1"/>
                </a:solidFill>
              </a:rPr>
              <a:t>, кадрирование перспективы, раскройка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7" y="1412776"/>
            <a:ext cx="7106122" cy="3224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Оптимизация изображений в </a:t>
            </a:r>
            <a:r>
              <a:rPr lang="en-US" b="1" dirty="0">
                <a:solidFill>
                  <a:schemeClr val="bg1"/>
                </a:solidFill>
              </a:rPr>
              <a:t>Photoshop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Ctrl+alt+shift+s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340768"/>
            <a:ext cx="7812587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Тег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&lt;</a:t>
            </a:r>
            <a:r>
              <a:rPr lang="en-US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img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/&gt;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и его атрибуты (</a:t>
            </a:r>
            <a:r>
              <a:rPr lang="en-US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src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, alt, width, height, border)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Элемент &lt;</a:t>
            </a:r>
            <a:r>
              <a:rPr lang="ru-RU" b="1" dirty="0" err="1">
                <a:solidFill>
                  <a:schemeClr val="bg1"/>
                </a:solidFill>
              </a:rPr>
              <a:t>img</a:t>
            </a:r>
            <a:r>
              <a:rPr lang="ru-RU" b="1" dirty="0">
                <a:solidFill>
                  <a:schemeClr val="bg1"/>
                </a:solidFill>
              </a:rPr>
              <a:t>&gt; представляет изображение и его резервный </a:t>
            </a:r>
            <a:r>
              <a:rPr lang="ru-RU" b="1" dirty="0" err="1">
                <a:solidFill>
                  <a:schemeClr val="bg1"/>
                </a:solidFill>
              </a:rPr>
              <a:t>контент</a:t>
            </a:r>
            <a:r>
              <a:rPr lang="ru-RU" b="1" dirty="0">
                <a:solidFill>
                  <a:schemeClr val="bg1"/>
                </a:solidFill>
              </a:rPr>
              <a:t>, который добавляется с помощью атрибута </a:t>
            </a:r>
            <a:r>
              <a:rPr lang="ru-RU" b="1" dirty="0" err="1">
                <a:solidFill>
                  <a:schemeClr val="bg1"/>
                </a:solidFill>
              </a:rPr>
              <a:t>alt</a:t>
            </a:r>
            <a:r>
              <a:rPr lang="ru-RU" b="1" dirty="0">
                <a:solidFill>
                  <a:schemeClr val="bg1"/>
                </a:solidFill>
              </a:rPr>
              <a:t>. 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Так как элемент &lt;</a:t>
            </a:r>
            <a:r>
              <a:rPr lang="ru-RU" b="1" dirty="0" err="1">
                <a:solidFill>
                  <a:schemeClr val="bg1"/>
                </a:solidFill>
              </a:rPr>
              <a:t>img</a:t>
            </a:r>
            <a:r>
              <a:rPr lang="ru-RU" b="1" dirty="0">
                <a:solidFill>
                  <a:schemeClr val="bg1"/>
                </a:solidFill>
              </a:rPr>
              <a:t>&gt; является строчным, то рекомендуется располагать его внутри блочного элемента, например, &lt;</a:t>
            </a:r>
            <a:r>
              <a:rPr lang="ru-RU" b="1" dirty="0" err="1">
                <a:solidFill>
                  <a:schemeClr val="bg1"/>
                </a:solidFill>
              </a:rPr>
              <a:t>p</a:t>
            </a:r>
            <a:r>
              <a:rPr lang="ru-RU" b="1" dirty="0">
                <a:solidFill>
                  <a:schemeClr val="bg1"/>
                </a:solidFill>
              </a:rPr>
              <a:t>&gt; или &lt;</a:t>
            </a:r>
            <a:r>
              <a:rPr lang="ru-RU" b="1" dirty="0" err="1">
                <a:solidFill>
                  <a:schemeClr val="bg1"/>
                </a:solidFill>
              </a:rPr>
              <a:t>div</a:t>
            </a:r>
            <a:r>
              <a:rPr lang="ru-RU" b="1" dirty="0">
                <a:solidFill>
                  <a:schemeClr val="bg1"/>
                </a:solidFill>
              </a:rPr>
              <a:t>&gt;.</a:t>
            </a:r>
            <a:endParaRPr lang="en-US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Тег &lt;</a:t>
            </a:r>
            <a:r>
              <a:rPr lang="ru-RU" b="1" dirty="0" err="1">
                <a:solidFill>
                  <a:schemeClr val="bg1"/>
                </a:solidFill>
              </a:rPr>
              <a:t>img</a:t>
            </a:r>
            <a:r>
              <a:rPr lang="ru-RU" b="1" dirty="0">
                <a:solidFill>
                  <a:schemeClr val="bg1"/>
                </a:solidFill>
              </a:rPr>
              <a:t>&gt; имеет обязательный атрибут </a:t>
            </a:r>
            <a:r>
              <a:rPr lang="ru-RU" b="1" dirty="0" err="1">
                <a:solidFill>
                  <a:schemeClr val="bg1"/>
                </a:solidFill>
              </a:rPr>
              <a:t>src</a:t>
            </a:r>
            <a:r>
              <a:rPr lang="ru-RU" b="1" dirty="0">
                <a:solidFill>
                  <a:schemeClr val="bg1"/>
                </a:solidFill>
              </a:rPr>
              <a:t>, значением которого является абсолютный или относительный путь к изображению: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Абсолютный путь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 https://etikket.ru/images/povsednevnii-etiket/etiket-na-ulitse1.jpg 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Когда ссылка представляет из себя полный URL файла или страницы, это и есть абсолютный путь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В основном абсолютный путь используется, тогда, когда нужно сослаться на другой сайт.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Минусы - Когда появится необходимость в смене домена(имени сайта) или например при переносе сайта с локальной машины на сервер.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Плюсы - Кража </a:t>
            </a:r>
            <a:r>
              <a:rPr lang="ru-RU" b="1" dirty="0" err="1">
                <a:solidFill>
                  <a:schemeClr val="bg1"/>
                </a:solidFill>
              </a:rPr>
              <a:t>контента</a:t>
            </a:r>
            <a:r>
              <a:rPr lang="ru-RU" b="1" dirty="0">
                <a:solidFill>
                  <a:schemeClr val="bg1"/>
                </a:solidFill>
              </a:rPr>
              <a:t> с вашего сайта, при использовании абсолютных путей, можно получить обратные ссылки с сайта, на котором находится сворованный </a:t>
            </a:r>
            <a:r>
              <a:rPr lang="ru-RU" b="1" dirty="0" err="1">
                <a:solidFill>
                  <a:schemeClr val="bg1"/>
                </a:solidFill>
              </a:rPr>
              <a:t>контент</a:t>
            </a:r>
            <a:r>
              <a:rPr lang="ru-RU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Относительный путь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 "images/</a:t>
            </a:r>
            <a:r>
              <a:rPr lang="en-US" b="1" dirty="0" err="1">
                <a:solidFill>
                  <a:schemeClr val="bg1"/>
                </a:solidFill>
              </a:rPr>
              <a:t>povsednevnii-etiket</a:t>
            </a:r>
            <a:r>
              <a:rPr lang="en-US" b="1" dirty="0">
                <a:solidFill>
                  <a:schemeClr val="bg1"/>
                </a:solidFill>
              </a:rPr>
              <a:t>/etiket-na-ulitse1.jpg"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="../images/</a:t>
            </a:r>
            <a:r>
              <a:rPr lang="en-US" b="1" dirty="0" err="1">
                <a:solidFill>
                  <a:schemeClr val="bg1"/>
                </a:solidFill>
              </a:rPr>
              <a:t>povsednevnii-etiket</a:t>
            </a:r>
            <a:r>
              <a:rPr lang="en-US" b="1" dirty="0">
                <a:solidFill>
                  <a:schemeClr val="bg1"/>
                </a:solidFill>
              </a:rPr>
              <a:t>/etiket-na-ulitse1.jpg"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В основном относительный путь указывается тогда, когда Вам нужно отправить посетителя на другую страницу Вашего сайта, или вставить объект (например изображение) на одной из страниц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1259632" y="3212976"/>
            <a:ext cx="6624736" cy="3154636"/>
            <a:chOff x="323528" y="2276872"/>
            <a:chExt cx="7560840" cy="3600400"/>
          </a:xfrm>
        </p:grpSpPr>
        <p:cxnSp>
          <p:nvCxnSpPr>
            <p:cNvPr id="5" name="Прямая соединительная линия 4"/>
            <p:cNvCxnSpPr>
              <a:endCxn id="16" idx="1"/>
            </p:cNvCxnSpPr>
            <p:nvPr/>
          </p:nvCxnSpPr>
          <p:spPr>
            <a:xfrm flipV="1">
              <a:off x="5220072" y="2456892"/>
              <a:ext cx="936104" cy="3240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/>
            <p:cNvCxnSpPr/>
            <p:nvPr/>
          </p:nvCxnSpPr>
          <p:spPr>
            <a:xfrm>
              <a:off x="5148064" y="2924944"/>
              <a:ext cx="1296144" cy="720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5220072" y="3068960"/>
              <a:ext cx="1224136" cy="5040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>
              <a:off x="3923928" y="2708920"/>
              <a:ext cx="0" cy="129614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>
            <a:xfrm>
              <a:off x="2627784" y="4005064"/>
              <a:ext cx="0" cy="12961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/>
            <p:nvPr/>
          </p:nvCxnSpPr>
          <p:spPr>
            <a:xfrm>
              <a:off x="4644008" y="4005064"/>
              <a:ext cx="0" cy="12961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/>
            <p:nvPr/>
          </p:nvCxnSpPr>
          <p:spPr>
            <a:xfrm>
              <a:off x="6660232" y="4005064"/>
              <a:ext cx="0" cy="12961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>
              <a:off x="2051720" y="4005064"/>
              <a:ext cx="4608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Загнутый угол 12"/>
            <p:cNvSpPr/>
            <p:nvPr/>
          </p:nvSpPr>
          <p:spPr>
            <a:xfrm>
              <a:off x="323528" y="3717032"/>
              <a:ext cx="1800200" cy="648072"/>
            </a:xfrm>
            <a:prstGeom prst="foldedCorner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/>
                <a:t>Наш сайт</a:t>
              </a: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2627784" y="2564904"/>
              <a:ext cx="2664296" cy="648072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/>
                <a:t>Папка с изображениями</a:t>
              </a:r>
              <a:r>
                <a:rPr lang="en-US" sz="1600" dirty="0"/>
                <a:t> (</a:t>
              </a:r>
              <a:r>
                <a:rPr lang="en-US" sz="1600" dirty="0" err="1"/>
                <a:t>img</a:t>
              </a:r>
              <a:r>
                <a:rPr lang="en-US" sz="1600" dirty="0"/>
                <a:t>)</a:t>
              </a:r>
              <a:endParaRPr lang="ru-RU" sz="1600" dirty="0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1619672" y="5229200"/>
              <a:ext cx="1872208" cy="64807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index.html</a:t>
              </a:r>
              <a:endParaRPr lang="ru-RU" sz="1600" dirty="0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6156176" y="2276872"/>
              <a:ext cx="1728192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price.jpg</a:t>
              </a:r>
              <a:endParaRPr lang="ru-RU" sz="1600" dirty="0"/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5724128" y="5229200"/>
              <a:ext cx="1872208" cy="64807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price.html</a:t>
              </a:r>
              <a:endParaRPr lang="ru-RU" sz="1600" dirty="0"/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3707904" y="5229200"/>
              <a:ext cx="1872208" cy="648072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contacts.html</a:t>
              </a:r>
              <a:endParaRPr lang="ru-RU" sz="1600" dirty="0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6156176" y="2780928"/>
              <a:ext cx="1728192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contacts.jpg</a:t>
              </a:r>
              <a:endParaRPr lang="ru-RU" sz="1600" dirty="0"/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6156176" y="3284984"/>
              <a:ext cx="1728192" cy="43204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index.jpg</a:t>
              </a:r>
              <a:endParaRPr lang="ru-RU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Путь относительно документа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 "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/contacts.jpg"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В основном такой путь используется тогда, когда текущий и связанный документ(страница) находятся в одной директории.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276872"/>
            <a:ext cx="8003494" cy="4424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Путь относительно корня сайта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src</a:t>
            </a:r>
            <a:r>
              <a:rPr lang="en-US" sz="2400" b="1" dirty="0">
                <a:solidFill>
                  <a:schemeClr val="bg1"/>
                </a:solidFill>
              </a:rPr>
              <a:t>= "../</a:t>
            </a:r>
            <a:r>
              <a:rPr lang="en-US" sz="2400" b="1" dirty="0" err="1">
                <a:solidFill>
                  <a:schemeClr val="bg1"/>
                </a:solidFill>
              </a:rPr>
              <a:t>img</a:t>
            </a:r>
            <a:r>
              <a:rPr lang="en-US" sz="2400" b="1" dirty="0">
                <a:solidFill>
                  <a:schemeClr val="bg1"/>
                </a:solidFill>
              </a:rPr>
              <a:t>/price.jpg"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src</a:t>
            </a:r>
            <a:r>
              <a:rPr lang="en-US" sz="2400" b="1" dirty="0">
                <a:solidFill>
                  <a:schemeClr val="bg1"/>
                </a:solidFill>
              </a:rPr>
              <a:t>= "/</a:t>
            </a:r>
            <a:r>
              <a:rPr lang="en-US" sz="2400" b="1" dirty="0" err="1">
                <a:solidFill>
                  <a:schemeClr val="bg1"/>
                </a:solidFill>
              </a:rPr>
              <a:t>img</a:t>
            </a:r>
            <a:r>
              <a:rPr lang="en-US" sz="2400" b="1" dirty="0">
                <a:solidFill>
                  <a:schemeClr val="bg1"/>
                </a:solidFill>
              </a:rPr>
              <a:t>/price.jpg"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 </a:t>
            </a:r>
            <a:r>
              <a:rPr lang="ru-RU" sz="2400" b="1" u="sng" dirty="0">
                <a:solidFill>
                  <a:schemeClr val="bg1"/>
                </a:solidFill>
              </a:rPr>
              <a:t>../</a:t>
            </a:r>
            <a:r>
              <a:rPr lang="ru-RU" sz="2400" b="1" dirty="0">
                <a:solidFill>
                  <a:schemeClr val="bg1"/>
                </a:solidFill>
              </a:rPr>
              <a:t> означает переход на одну директорию(уровень) выше в иерархии каталогов, символ / обозначает переход на один уровень ниже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3429000"/>
            <a:ext cx="5812935" cy="3224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Самый простой способ определить корневой относительный путь — взять абсолютный и отбросить http:// и имя хоста.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https://etikket.ru/images/povsednevnii-etiket/etiket-v-lifte.jpg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src</a:t>
            </a:r>
            <a:r>
              <a:rPr lang="en-US" sz="2400" b="1" dirty="0">
                <a:solidFill>
                  <a:schemeClr val="bg1"/>
                </a:solidFill>
              </a:rPr>
              <a:t>= "/images/</a:t>
            </a:r>
            <a:r>
              <a:rPr lang="en-US" sz="2400" b="1" dirty="0" err="1">
                <a:solidFill>
                  <a:schemeClr val="bg1"/>
                </a:solidFill>
              </a:rPr>
              <a:t>povsednevnii-etiket</a:t>
            </a:r>
            <a:r>
              <a:rPr lang="en-US" sz="2400" b="1" dirty="0">
                <a:solidFill>
                  <a:schemeClr val="bg1"/>
                </a:solidFill>
              </a:rPr>
              <a:t>/etiket-v-lifte.jpg"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Тег </a:t>
            </a:r>
            <a:r>
              <a:rPr lang="en-US" sz="2800" b="1" dirty="0">
                <a:solidFill>
                  <a:schemeClr val="bg1"/>
                </a:solidFill>
              </a:rPr>
              <a:t>alt=""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Альтернативное название картинки если вдруг картинка не прогрузилась, или пользователь выключил показ изображений, или Вы не верно указали адрес изображения.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Служит для текстового описания того что изображено на картинке.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В </a:t>
            </a:r>
            <a:r>
              <a:rPr lang="en-US" b="1" dirty="0" err="1">
                <a:solidFill>
                  <a:schemeClr val="bg1"/>
                </a:solidFill>
              </a:rPr>
              <a:t>seo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оптимизации играет важную роль.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Размер картинки</a:t>
            </a:r>
            <a:r>
              <a:rPr lang="en-US" sz="2800" b="1" dirty="0">
                <a:solidFill>
                  <a:schemeClr val="bg1"/>
                </a:solidFill>
              </a:rPr>
              <a:t> width, height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style="width: 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 err="1">
                <a:solidFill>
                  <a:schemeClr val="bg1"/>
                </a:solidFill>
              </a:rPr>
              <a:t>px</a:t>
            </a:r>
            <a:r>
              <a:rPr lang="en-US" b="1" dirty="0">
                <a:solidFill>
                  <a:schemeClr val="bg1"/>
                </a:solidFill>
              </a:rPr>
              <a:t>;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height:200px;"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width="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height="200"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Без задания размеров изображения отображается на странице в реальном размере. 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Отредактировать размеры изображения можно с помощью атрибутов </a:t>
            </a:r>
            <a:r>
              <a:rPr lang="ru-RU" b="1" dirty="0" err="1">
                <a:solidFill>
                  <a:schemeClr val="bg1"/>
                </a:solidFill>
              </a:rPr>
              <a:t>width</a:t>
            </a:r>
            <a:r>
              <a:rPr lang="ru-RU" b="1" dirty="0">
                <a:solidFill>
                  <a:schemeClr val="bg1"/>
                </a:solidFill>
              </a:rPr>
              <a:t> и </a:t>
            </a:r>
            <a:r>
              <a:rPr lang="ru-RU" b="1" dirty="0" err="1">
                <a:solidFill>
                  <a:schemeClr val="bg1"/>
                </a:solidFill>
              </a:rPr>
              <a:t>height</a:t>
            </a:r>
            <a:r>
              <a:rPr lang="ru-RU" b="1" dirty="0">
                <a:solidFill>
                  <a:schemeClr val="bg1"/>
                </a:solidFill>
              </a:rPr>
              <a:t>. 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Если будет задан только один из атрибутов, то второй будет вычисляться автоматически для сохранения пропорций рисунка.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Тег </a:t>
            </a:r>
            <a:r>
              <a:rPr lang="en-US" sz="2800" b="1" dirty="0">
                <a:solidFill>
                  <a:schemeClr val="bg1"/>
                </a:solidFill>
              </a:rPr>
              <a:t>class </a:t>
            </a:r>
            <a:r>
              <a:rPr lang="ru-RU" sz="2800" b="1" dirty="0">
                <a:solidFill>
                  <a:schemeClr val="bg1"/>
                </a:solidFill>
              </a:rPr>
              <a:t>для изображения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style="width: 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 err="1">
                <a:solidFill>
                  <a:schemeClr val="bg1"/>
                </a:solidFill>
              </a:rPr>
              <a:t>px</a:t>
            </a:r>
            <a:r>
              <a:rPr lang="en-US" b="1" dirty="0">
                <a:solidFill>
                  <a:schemeClr val="bg1"/>
                </a:solidFill>
              </a:rPr>
              <a:t>;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height:200px;"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Тег </a:t>
            </a:r>
            <a:r>
              <a:rPr lang="en-US" b="1" dirty="0">
                <a:solidFill>
                  <a:schemeClr val="bg1"/>
                </a:solidFill>
              </a:rPr>
              <a:t>class</a:t>
            </a:r>
            <a:r>
              <a:rPr lang="ru-RU" b="1" dirty="0">
                <a:solidFill>
                  <a:schemeClr val="bg1"/>
                </a:solidFill>
              </a:rPr>
              <a:t> служит для стилизации изображения, задания максимального размера или просто размера, обрамления рамкой, обтекания текстом и т.д.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img.full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{</a:t>
            </a:r>
          </a:p>
          <a:p>
            <a:r>
              <a:rPr lang="en-US" sz="1600" dirty="0">
                <a:solidFill>
                  <a:schemeClr val="bg1"/>
                </a:solidFill>
              </a:rPr>
              <a:t>width: 200px;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height: 200px;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Тег </a:t>
            </a:r>
            <a:r>
              <a:rPr lang="en-US" sz="2800" b="1" dirty="0">
                <a:solidFill>
                  <a:schemeClr val="bg1"/>
                </a:solidFill>
              </a:rPr>
              <a:t>class </a:t>
            </a:r>
            <a:r>
              <a:rPr lang="ru-RU" sz="2800" b="1" dirty="0">
                <a:solidFill>
                  <a:schemeClr val="bg1"/>
                </a:solidFill>
              </a:rPr>
              <a:t>для изображения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style="width: 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 err="1">
                <a:solidFill>
                  <a:schemeClr val="bg1"/>
                </a:solidFill>
              </a:rPr>
              <a:t>px</a:t>
            </a:r>
            <a:r>
              <a:rPr lang="en-US" b="1" dirty="0">
                <a:solidFill>
                  <a:schemeClr val="bg1"/>
                </a:solidFill>
              </a:rPr>
              <a:t>;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height:200px;"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Тег </a:t>
            </a:r>
            <a:r>
              <a:rPr lang="en-US" b="1" dirty="0">
                <a:solidFill>
                  <a:schemeClr val="bg1"/>
                </a:solidFill>
              </a:rPr>
              <a:t>class</a:t>
            </a:r>
            <a:r>
              <a:rPr lang="ru-RU" b="1" dirty="0">
                <a:solidFill>
                  <a:schemeClr val="bg1"/>
                </a:solidFill>
              </a:rPr>
              <a:t> служит для стилизации изображения, задания максимального размера или просто размера, обрамления рамкой, обтекания текстом и т.д.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129246"/>
              </p:ext>
            </p:extLst>
          </p:nvPr>
        </p:nvGraphicFramePr>
        <p:xfrm>
          <a:off x="174598" y="2996952"/>
          <a:ext cx="8424936" cy="2286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5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border-color: red;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border-width: 8px;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border-style: dotted;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ИЛИ</a:t>
                      </a: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dotted 8px red;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8px dotted red;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red dotted 8px;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red 8px dotted;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Свойство </a:t>
            </a:r>
            <a:r>
              <a:rPr lang="en-US" sz="2800" b="1" dirty="0">
                <a:solidFill>
                  <a:schemeClr val="bg1"/>
                </a:solidFill>
              </a:rPr>
              <a:t>border </a:t>
            </a:r>
            <a:r>
              <a:rPr lang="ru-RU" sz="2800" b="1" dirty="0">
                <a:solidFill>
                  <a:schemeClr val="bg1"/>
                </a:solidFill>
              </a:rPr>
              <a:t>служит для обрамления рамкой любого элемента на сайте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1521" y="1484784"/>
          <a:ext cx="8640960" cy="201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2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border-bottom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border-top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border-left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border-right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ИЛИ</a:t>
                      </a: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dotted 8px red;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8px dotted red;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red dotted 8px;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red 8px dotted;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4077072"/>
          <a:ext cx="8640960" cy="201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2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img.full:hover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border-bottom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border-top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border-left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border-right</a:t>
                      </a:r>
                      <a:endParaRPr kumimoji="0" lang="ru-RU" sz="18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ИЛИ</a:t>
                      </a: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img.full:hover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 dotted 11px green;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8px dotted green;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green dotted 8px;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border: green 8px dotted;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Свойства </a:t>
            </a:r>
            <a:r>
              <a:rPr lang="en-US" sz="2800" b="1" dirty="0">
                <a:solidFill>
                  <a:schemeClr val="bg1"/>
                </a:solidFill>
              </a:rPr>
              <a:t>margin </a:t>
            </a:r>
            <a:r>
              <a:rPr lang="ru-RU" sz="2800" b="1" dirty="0">
                <a:solidFill>
                  <a:schemeClr val="bg1"/>
                </a:solidFill>
              </a:rPr>
              <a:t>и</a:t>
            </a:r>
            <a:r>
              <a:rPr lang="en-US" sz="2800" b="1" dirty="0">
                <a:solidFill>
                  <a:schemeClr val="bg1"/>
                </a:solidFill>
              </a:rPr>
              <a:t> padding</a:t>
            </a:r>
            <a:r>
              <a:rPr lang="ru-RU" sz="2800" b="1" dirty="0">
                <a:solidFill>
                  <a:schemeClr val="bg1"/>
                </a:solidFill>
              </a:rPr>
              <a:t> для изображения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style="width: 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 err="1">
                <a:solidFill>
                  <a:schemeClr val="bg1"/>
                </a:solidFill>
              </a:rPr>
              <a:t>px</a:t>
            </a:r>
            <a:r>
              <a:rPr lang="en-US" b="1" dirty="0">
                <a:solidFill>
                  <a:schemeClr val="bg1"/>
                </a:solidFill>
              </a:rPr>
              <a:t>;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height:200px;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padding: 5px; margin: 10px;"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Тег </a:t>
            </a:r>
            <a:r>
              <a:rPr lang="en-US" b="1" dirty="0">
                <a:solidFill>
                  <a:schemeClr val="bg1"/>
                </a:solidFill>
              </a:rPr>
              <a:t>class</a:t>
            </a:r>
            <a:r>
              <a:rPr lang="ru-RU" b="1" dirty="0">
                <a:solidFill>
                  <a:schemeClr val="bg1"/>
                </a:solidFill>
              </a:rPr>
              <a:t> служит для стилизации изображения, задания максимального размера или просто размера, обрамления рамкой, обтекания текстом и т.д.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en-US" b="1" dirty="0">
                <a:solidFill>
                  <a:schemeClr val="bg1"/>
                </a:solidFill>
              </a:rPr>
              <a:t>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img.full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{</a:t>
            </a:r>
          </a:p>
          <a:p>
            <a:r>
              <a:rPr lang="en-US" sz="1600" dirty="0">
                <a:solidFill>
                  <a:schemeClr val="bg1"/>
                </a:solidFill>
              </a:rPr>
              <a:t>width: 200px;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height: 200px;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7"/>
            <a:ext cx="8424936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Выравнивание изображения относительно текста или картинки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align="left" 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 </a:t>
            </a:r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style="width: </a:t>
            </a:r>
            <a:r>
              <a:rPr lang="ru-RU" b="1" dirty="0">
                <a:solidFill>
                  <a:schemeClr val="bg1"/>
                </a:solidFill>
              </a:rPr>
              <a:t>200</a:t>
            </a:r>
            <a:r>
              <a:rPr lang="en-US" b="1" dirty="0" err="1">
                <a:solidFill>
                  <a:schemeClr val="bg1"/>
                </a:solidFill>
              </a:rPr>
              <a:t>px</a:t>
            </a:r>
            <a:r>
              <a:rPr lang="en-US" b="1" dirty="0">
                <a:solidFill>
                  <a:schemeClr val="bg1"/>
                </a:solidFill>
              </a:rPr>
              <a:t>;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height:200px;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padding: 5px; margin: 10px;"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align="left"; 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2996953"/>
          <a:ext cx="8640960" cy="12576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41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</a:txBody>
                  <a:tcPr marL="37658" marR="37658" marT="37658" marB="37658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Выравнивает изображение по левому краю окна.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</a:txBody>
                  <a:tcPr marL="37658" marR="37658" marT="37658" marB="3765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right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</a:txBody>
                  <a:tcPr marL="37658" marR="37658" marT="37658" marB="37658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Выравнивает изображение по правому краю окна.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</a:txBody>
                  <a:tcPr marL="37658" marR="37658" marT="37658" marB="376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060848"/>
            <a:ext cx="8424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img.full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{</a:t>
            </a:r>
            <a:r>
              <a:rPr lang="en-US" sz="1600" dirty="0" err="1">
                <a:solidFill>
                  <a:schemeClr val="bg1"/>
                </a:solidFill>
              </a:rPr>
              <a:t>float:left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float:right</a:t>
            </a:r>
            <a:r>
              <a:rPr lang="en-US" sz="1600" dirty="0">
                <a:solidFill>
                  <a:schemeClr val="bg1"/>
                </a:solidFill>
              </a:rPr>
              <a:t>;}</a:t>
            </a:r>
            <a:endParaRPr lang="ru-RU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Отмена выравнивания</a:t>
            </a: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clear: none | left | right | both | inherit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332657"/>
            <a:ext cx="84249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Выравнивание изображения относительно текста или картинки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&lt;</a:t>
            </a:r>
            <a:r>
              <a:rPr lang="en-US" b="1" dirty="0" err="1">
                <a:solidFill>
                  <a:schemeClr val="bg1"/>
                </a:solidFill>
              </a:rPr>
              <a:t>img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class="full" </a:t>
            </a:r>
            <a:r>
              <a:rPr lang="en-US" b="1" dirty="0" err="1">
                <a:solidFill>
                  <a:schemeClr val="bg1"/>
                </a:solidFill>
              </a:rPr>
              <a:t>src</a:t>
            </a:r>
            <a:r>
              <a:rPr lang="en-US" b="1" dirty="0">
                <a:solidFill>
                  <a:schemeClr val="bg1"/>
                </a:solidFill>
              </a:rPr>
              <a:t>="images/1_01.jpg" alt="</a:t>
            </a:r>
            <a:r>
              <a:rPr lang="ru-RU" b="1" dirty="0">
                <a:solidFill>
                  <a:schemeClr val="bg1"/>
                </a:solidFill>
              </a:rPr>
              <a:t>Пример кода</a:t>
            </a:r>
            <a:r>
              <a:rPr lang="en-US" b="1" dirty="0">
                <a:solidFill>
                  <a:schemeClr val="bg1"/>
                </a:solidFill>
              </a:rPr>
              <a:t>"</a:t>
            </a:r>
            <a:r>
              <a:rPr lang="ru-RU" b="1" dirty="0">
                <a:solidFill>
                  <a:schemeClr val="bg1"/>
                </a:solidFill>
              </a:rPr>
              <a:t>&gt;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9512" y="3861048"/>
          <a:ext cx="8640960" cy="284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one</a:t>
                      </a:r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Отменяет действие свойства 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clear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, при этом обтекание элемента происходит, как задано с помощью свойства 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float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 или других настроек.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oth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Отменяет обтекание элемента одновременно с правого и левого края. Это значение рекомендуется устанавливать, когда требуется снять обтекание элемента, но неизвестно точно с какой стороны.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eft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Отменяет обтекание с левого края элемента. При этом все другие элементы на этой стороне будут опущены вниз, и располагаться под текущим элементом.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ight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 Отменяет обтекание с правой стороны элемента.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nherit</a:t>
                      </a:r>
                      <a:endParaRPr lang="ru-RU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Устанавливает значение родителя.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1"/>
            <a:ext cx="8424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Отмена выравнивания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html –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&lt;h2&gt;</a:t>
            </a:r>
            <a:r>
              <a:rPr lang="ru-RU" sz="1600" dirty="0">
                <a:solidFill>
                  <a:schemeClr val="bg1"/>
                </a:solidFill>
              </a:rPr>
              <a:t>Тестовая картинка 1&lt;/</a:t>
            </a:r>
            <a:r>
              <a:rPr lang="en-US" sz="1600" dirty="0">
                <a:solidFill>
                  <a:schemeClr val="bg1"/>
                </a:solidFill>
              </a:rPr>
              <a:t>h2&gt;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&lt;div class="left"&gt;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class="full"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="images/1_02.jpg" alt="</a:t>
            </a:r>
            <a:r>
              <a:rPr lang="ru-RU" sz="1600" dirty="0">
                <a:solidFill>
                  <a:schemeClr val="bg1"/>
                </a:solidFill>
              </a:rPr>
              <a:t>Пример кода"&gt;&lt;/</a:t>
            </a:r>
            <a:r>
              <a:rPr lang="en-US" sz="1600" dirty="0">
                <a:solidFill>
                  <a:schemeClr val="bg1"/>
                </a:solidFill>
              </a:rPr>
              <a:t>div&gt;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&lt;p&gt;</a:t>
            </a:r>
            <a:r>
              <a:rPr lang="ru-RU" sz="1600" dirty="0">
                <a:solidFill>
                  <a:schemeClr val="bg1"/>
                </a:solidFill>
              </a:rPr>
              <a:t>небольшой текст</a:t>
            </a:r>
            <a:r>
              <a:rPr lang="en-US" sz="1600" dirty="0">
                <a:solidFill>
                  <a:schemeClr val="bg1"/>
                </a:solidFill>
              </a:rPr>
              <a:t>&lt;/p&gt;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&lt;h2&gt;</a:t>
            </a:r>
            <a:r>
              <a:rPr lang="ru-RU" sz="1600" dirty="0">
                <a:solidFill>
                  <a:schemeClr val="bg1"/>
                </a:solidFill>
              </a:rPr>
              <a:t>Тестовая картинка 2&lt;/</a:t>
            </a:r>
            <a:r>
              <a:rPr lang="en-US" sz="1600" dirty="0">
                <a:solidFill>
                  <a:schemeClr val="bg1"/>
                </a:solidFill>
              </a:rPr>
              <a:t>h2&gt;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&lt;div class="left"&gt;&lt;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class="full"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="images/1_01.jpg" alt="</a:t>
            </a:r>
            <a:r>
              <a:rPr lang="ru-RU" sz="1600" dirty="0">
                <a:solidFill>
                  <a:schemeClr val="bg1"/>
                </a:solidFill>
              </a:rPr>
              <a:t>Пример кода"&gt;&lt;/</a:t>
            </a:r>
            <a:r>
              <a:rPr lang="en-US" sz="1600" dirty="0">
                <a:solidFill>
                  <a:schemeClr val="bg1"/>
                </a:solidFill>
              </a:rPr>
              <a:t>div&gt;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&lt;p&gt;</a:t>
            </a:r>
            <a:r>
              <a:rPr lang="ru-RU" sz="1600" dirty="0">
                <a:solidFill>
                  <a:schemeClr val="bg1"/>
                </a:solidFill>
              </a:rPr>
              <a:t> небольшой текст </a:t>
            </a:r>
            <a:r>
              <a:rPr lang="en-US" sz="1600" dirty="0">
                <a:solidFill>
                  <a:schemeClr val="bg1"/>
                </a:solidFill>
              </a:rPr>
              <a:t>&lt;/p&gt;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Css</a:t>
            </a:r>
            <a:r>
              <a:rPr lang="en-US" sz="1600" dirty="0">
                <a:solidFill>
                  <a:schemeClr val="bg1"/>
                </a:solidFill>
              </a:rPr>
              <a:t> - 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	.left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float: left;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1"/>
            <a:ext cx="842493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Отмена выравнивания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html –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&lt;h2&gt;</a:t>
            </a:r>
            <a:r>
              <a:rPr lang="ru-RU" sz="1600" dirty="0">
                <a:solidFill>
                  <a:schemeClr val="bg1"/>
                </a:solidFill>
              </a:rPr>
              <a:t>Тестовая картинка 1&lt;/</a:t>
            </a:r>
            <a:r>
              <a:rPr lang="en-US" sz="1600" dirty="0">
                <a:solidFill>
                  <a:schemeClr val="bg1"/>
                </a:solidFill>
              </a:rPr>
              <a:t>h2&gt;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&lt;div class="left"&gt;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class="full"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="images/1_02.jpg" alt="</a:t>
            </a:r>
            <a:r>
              <a:rPr lang="ru-RU" sz="1600" dirty="0">
                <a:solidFill>
                  <a:schemeClr val="bg1"/>
                </a:solidFill>
              </a:rPr>
              <a:t>Пример кода"&gt;&lt;/</a:t>
            </a:r>
            <a:r>
              <a:rPr lang="en-US" sz="1600" dirty="0">
                <a:solidFill>
                  <a:schemeClr val="bg1"/>
                </a:solidFill>
              </a:rPr>
              <a:t>div&gt;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&lt;p&gt;</a:t>
            </a:r>
            <a:r>
              <a:rPr lang="ru-RU" sz="1600" dirty="0">
                <a:solidFill>
                  <a:schemeClr val="bg1"/>
                </a:solidFill>
              </a:rPr>
              <a:t>небольшой текст</a:t>
            </a:r>
            <a:r>
              <a:rPr lang="en-US" sz="1600" dirty="0">
                <a:solidFill>
                  <a:schemeClr val="bg1"/>
                </a:solidFill>
              </a:rPr>
              <a:t>&lt;/p&gt;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&lt;div style="</a:t>
            </a:r>
            <a:r>
              <a:rPr lang="en-US" sz="1600" b="1" dirty="0" err="1">
                <a:solidFill>
                  <a:schemeClr val="bg1"/>
                </a:solidFill>
              </a:rPr>
              <a:t>clear:both</a:t>
            </a:r>
            <a:r>
              <a:rPr lang="en-US" sz="1600" b="1" dirty="0">
                <a:solidFill>
                  <a:schemeClr val="bg1"/>
                </a:solidFill>
              </a:rPr>
              <a:t>"&gt;&lt;/div&gt;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&lt;h2&gt;</a:t>
            </a:r>
            <a:r>
              <a:rPr lang="ru-RU" sz="1600" dirty="0">
                <a:solidFill>
                  <a:schemeClr val="bg1"/>
                </a:solidFill>
              </a:rPr>
              <a:t>Тестовая картинка 2&lt;/</a:t>
            </a:r>
            <a:r>
              <a:rPr lang="en-US" sz="1600" dirty="0">
                <a:solidFill>
                  <a:schemeClr val="bg1"/>
                </a:solidFill>
              </a:rPr>
              <a:t>h2&gt;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&lt;div class="left"&gt;&lt;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class="full"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="images/1_01.jpg" alt="</a:t>
            </a:r>
            <a:r>
              <a:rPr lang="ru-RU" sz="1600" dirty="0">
                <a:solidFill>
                  <a:schemeClr val="bg1"/>
                </a:solidFill>
              </a:rPr>
              <a:t>Пример кода"&gt;&lt;/</a:t>
            </a:r>
            <a:r>
              <a:rPr lang="en-US" sz="1600" dirty="0">
                <a:solidFill>
                  <a:schemeClr val="bg1"/>
                </a:solidFill>
              </a:rPr>
              <a:t>div&gt;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&lt;p&gt;</a:t>
            </a:r>
            <a:r>
              <a:rPr lang="ru-RU" sz="1600" dirty="0">
                <a:solidFill>
                  <a:schemeClr val="bg1"/>
                </a:solidFill>
              </a:rPr>
              <a:t> небольшой текст </a:t>
            </a:r>
            <a:r>
              <a:rPr lang="en-US" sz="1600" dirty="0">
                <a:solidFill>
                  <a:schemeClr val="bg1"/>
                </a:solidFill>
              </a:rPr>
              <a:t>&lt;/p&gt;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Css</a:t>
            </a:r>
            <a:r>
              <a:rPr lang="en-US" sz="1600" dirty="0">
                <a:solidFill>
                  <a:schemeClr val="bg1"/>
                </a:solidFill>
              </a:rPr>
              <a:t> - 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	.left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float: left;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4.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Фон страницы – свойство 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background: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1"/>
            <a:ext cx="842493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Задание фона в виде цвета: </a:t>
            </a:r>
            <a:r>
              <a:rPr lang="ru-RU" sz="1600" b="1" dirty="0" err="1">
                <a:solidFill>
                  <a:schemeClr val="bg1"/>
                </a:solidFill>
              </a:rPr>
              <a:t>background-color</a:t>
            </a:r>
            <a:endParaRPr lang="ru-RU" sz="16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Html –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&lt;div class=“one"&gt;  </a:t>
            </a:r>
            <a:r>
              <a:rPr lang="en-US" sz="1600" b="1" dirty="0" err="1">
                <a:solidFill>
                  <a:schemeClr val="bg1"/>
                </a:solidFill>
              </a:rPr>
              <a:t>bla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bla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bla</a:t>
            </a:r>
            <a:r>
              <a:rPr lang="en-US" sz="1600" b="1" dirty="0">
                <a:solidFill>
                  <a:schemeClr val="bg1"/>
                </a:solidFill>
              </a:rPr>
              <a:t> text &lt;/div&gt;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 err="1">
                <a:solidFill>
                  <a:schemeClr val="bg1"/>
                </a:solidFill>
              </a:rPr>
              <a:t>Css</a:t>
            </a:r>
            <a:r>
              <a:rPr lang="en-US" sz="1600" b="1" dirty="0">
                <a:solidFill>
                  <a:schemeClr val="bg1"/>
                </a:solidFill>
              </a:rPr>
              <a:t> – 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.one 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background-color: red;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padding: 20px;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color: white;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font-size: 18px;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font-weight: bold;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.</a:t>
            </a:r>
            <a:r>
              <a:rPr lang="en-US" sz="1600" b="1" dirty="0" err="1">
                <a:solidFill>
                  <a:schemeClr val="bg1"/>
                </a:solidFill>
              </a:rPr>
              <a:t>one:hover</a:t>
            </a:r>
            <a:r>
              <a:rPr lang="en-US" sz="16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background-color: black;  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1"/>
            <a:ext cx="842493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Обязательное задание фона для элемента</a:t>
            </a:r>
            <a:r>
              <a:rPr lang="en-US" sz="1600" b="1" dirty="0">
                <a:solidFill>
                  <a:schemeClr val="bg1"/>
                </a:solidFill>
              </a:rPr>
              <a:t> &lt;body&gt;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body 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background-color: #e2e2e2;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width: 100%;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margin: 0;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min-height: 500px;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 err="1">
                <a:solidFill>
                  <a:schemeClr val="bg1"/>
                </a:solidFill>
              </a:rPr>
              <a:t>body:hover</a:t>
            </a:r>
            <a:r>
              <a:rPr lang="en-US" sz="16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background-color: white;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  <a:r>
              <a:rPr lang="ru-RU" sz="1600" b="1" dirty="0">
                <a:solidFill>
                  <a:schemeClr val="bg1"/>
                </a:solidFill>
              </a:rPr>
              <a:t> 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1"/>
            <a:ext cx="84249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Задание фона в виде изображения</a:t>
            </a:r>
            <a:r>
              <a:rPr lang="en-US" sz="1600" b="1" dirty="0">
                <a:solidFill>
                  <a:schemeClr val="bg1"/>
                </a:solidFill>
              </a:rPr>
              <a:t> background-image</a:t>
            </a:r>
            <a:endParaRPr lang="ru-RU" sz="16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Свойство устанавливает изображение в качестве фона для элемента. 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Фоновым изображением может быть картинка или градиент, который задаётся с помощью функций </a:t>
            </a: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background-image: linear-gradient(), 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background-image: radial-gradient() 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или с помощью функций повтора градиента 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background-image: repeating-linear-gradient(), 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background-image: repeating-radial-gradient()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background: linear-gradient(to bottom left, red 10%, blue 20%);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background: radial-gradient(at left top, #1800ff, #ff0000);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background-image: linear-gradient(to top left, red, blue);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340768"/>
            <a:ext cx="8424936" cy="2880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Задание фона в виде изображения</a:t>
            </a:r>
            <a:r>
              <a:rPr lang="en-US" sz="1600" b="1" dirty="0">
                <a:solidFill>
                  <a:schemeClr val="bg1"/>
                </a:solidFill>
              </a:rPr>
              <a:t> background-image</a:t>
            </a:r>
            <a:endParaRPr lang="ru-RU" sz="16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Свойство устанавливает изображение в качестве фона для элемента. 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body 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background-image: 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(https://orehinfo.ru/images/back1.jpg);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width: 100%;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margin: 0;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min-height: 12000px;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</a:p>
          <a:p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Свойство </a:t>
            </a:r>
            <a:r>
              <a:rPr lang="en-US" sz="1600" b="1" dirty="0">
                <a:solidFill>
                  <a:schemeClr val="bg1"/>
                </a:solidFill>
              </a:rPr>
              <a:t>background-repeat</a:t>
            </a:r>
            <a:r>
              <a:rPr lang="ru-RU" sz="1600" b="1" dirty="0">
                <a:solidFill>
                  <a:schemeClr val="bg1"/>
                </a:solidFill>
              </a:rPr>
              <a:t> определяет, каким образом будет повторяться фоновый рисунок.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1628800"/>
          <a:ext cx="8640960" cy="459934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798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repeat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Весь фон страницы будет заполнен фоновым рисунком. Если при этом задать 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background-position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, то повтор будет осуществляться с указанной позиции. Значение по умолчанию.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no-repeat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Фоновое изображение не будет повторяться.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42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repeat-x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Фоновый рисунок повторяется от левого до правого края 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</a:rPr>
                        <a:t>веб-страницы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 по верхнему краю страницы.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842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repeat-y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Фоновый рисунок повторяется от верхнего до нижнего края веб-страницы по левому краю страницы.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Фоновое изображение не обрезается по границе элемента ни по вертикали, ни по горизонтали. Использование значения  </a:t>
                      </a: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space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приводит к тому, что изображение заполняет с промежутками все пространство элемента по ширине и высоте в целом виде, без обрезки.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space</a:t>
                      </a:r>
                    </a:p>
                  </a:txBody>
                  <a:tcPr marL="93727" marR="93727" marT="49988" marB="49988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Значение </a:t>
                      </a: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приводит к масштабированию фонового изображения по ширине и высоте так, чтобы оно заполняло все пространство элемента целыми частями без обрезки оставляя пустое пространство</a:t>
                      </a:r>
                    </a:p>
                  </a:txBody>
                  <a:tcPr marL="93727" marR="93727" marT="49988" marB="499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Свойство </a:t>
            </a:r>
            <a:r>
              <a:rPr lang="en-US" sz="1600" b="1" dirty="0">
                <a:solidFill>
                  <a:schemeClr val="bg1"/>
                </a:solidFill>
              </a:rPr>
              <a:t>background-position </a:t>
            </a:r>
            <a:r>
              <a:rPr lang="ru-RU" sz="1600" b="1" dirty="0">
                <a:solidFill>
                  <a:schemeClr val="bg1"/>
                </a:solidFill>
              </a:rPr>
              <a:t>определяет начальную позицию фонового изображения в виде горизонтальной и вертикальной координат посредством ключевых слов, точных абсолютных и процентных значений. Значение по умолчанию </a:t>
            </a:r>
            <a:r>
              <a:rPr lang="ru-RU" sz="1600" b="1" dirty="0" err="1">
                <a:solidFill>
                  <a:schemeClr val="bg1"/>
                </a:solidFill>
              </a:rPr>
              <a:t>background-position</a:t>
            </a:r>
            <a:r>
              <a:rPr lang="ru-RU" sz="1600" b="1" dirty="0">
                <a:solidFill>
                  <a:schemeClr val="bg1"/>
                </a:solidFill>
              </a:rPr>
              <a:t>: 0% 0%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1520" y="1844826"/>
          <a:ext cx="8640960" cy="423316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238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left top,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left center,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left bottom,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right top,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right center,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right bottom,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center top,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center </a:t>
                      </a:r>
                      <a:r>
                        <a:rPr kumimoji="0" lang="en-US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center</a:t>
                      </a: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center bottom</a:t>
                      </a:r>
                    </a:p>
                  </a:txBody>
                  <a:tcPr marL="47595" marR="47595" marT="25384" marB="2538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Позиционирование по горизонтали и вертикали задаётся с помощью пары ключевых слов. Если задано одно ключевое слово, второе примет значение </a:t>
                      </a: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center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7595" marR="47595" marT="25384" marB="253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2869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px / em/ %</a:t>
                      </a:r>
                    </a:p>
                  </a:txBody>
                  <a:tcPr marL="47595" marR="47595" marT="25384" marB="2538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Указывается два значения, первое определяет расстояние между левой стороной изображения и левым краем элемента-контейнера (по горизонтали), второе значение указывает расстояние между верхней стороной изображения и верхним краем элемента-контейнера (по вертикали). Также можно использовать отрицательные значения для обрезки части изображения.</a:t>
                      </a:r>
                    </a:p>
                    <a:p>
                      <a:pPr fontAlgn="t"/>
                      <a:b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Процентное значение рассчитывается относительно самого изображения и относительно элемента-контейнера, в котором оно расположено. Например, при задании background-position:50% 50%; центр изображения совпадет с центром элемента-контейнера.</a:t>
                      </a:r>
                      <a:b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Одновременно можно комбинировать значения в </a:t>
                      </a: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px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и %.</a:t>
                      </a:r>
                    </a:p>
                  </a:txBody>
                  <a:tcPr marL="47595" marR="47595" marT="25384" marB="25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58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initial</a:t>
                      </a:r>
                    </a:p>
                  </a:txBody>
                  <a:tcPr marL="47595" marR="47595" marT="25384" marB="2538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47595" marR="47595" marT="25384" marB="253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58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inherit</a:t>
                      </a:r>
                    </a:p>
                  </a:txBody>
                  <a:tcPr marL="47595" marR="47595" marT="25384" marB="2538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47595" marR="47595" marT="25384" marB="253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Также благодаря свойству позиционирования, для одного блока можно использовать несколько фоновых изображений</a:t>
            </a: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background-image: 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(http://studmebel.com.ua/wp-content/uploads/2014/02/ClipArt_26.jpg), 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(https://i.pinimg.com/originals/83/08/1e/83081e1….</a:t>
            </a:r>
            <a:r>
              <a:rPr lang="en-US" sz="1600" b="1" dirty="0" err="1">
                <a:solidFill>
                  <a:schemeClr val="bg1"/>
                </a:solidFill>
              </a:rPr>
              <a:t>png</a:t>
            </a:r>
            <a:r>
              <a:rPr lang="en-US" sz="1600" b="1" dirty="0">
                <a:solidFill>
                  <a:schemeClr val="bg1"/>
                </a:solidFill>
              </a:rPr>
              <a:t>), 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(http://www.clipartbest.com/cliparts/Kcj/grG/KcjgrGXni.png);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background-repeat: repeat-x;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background-position: 0 309px, 0 198px, 0 99px;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background-size: 5%;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Свойство </a:t>
            </a:r>
            <a:r>
              <a:rPr lang="en-US" sz="1600" b="1" dirty="0">
                <a:solidFill>
                  <a:schemeClr val="bg1"/>
                </a:solidFill>
              </a:rPr>
              <a:t>background-attachment</a:t>
            </a:r>
            <a:r>
              <a:rPr lang="ru-RU" sz="1600" b="1" dirty="0">
                <a:solidFill>
                  <a:schemeClr val="bg1"/>
                </a:solidFill>
              </a:rPr>
              <a:t> позволяет фиксировать фоновое изображение при прокрутке страницы.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1" y="1464202"/>
          <a:ext cx="8640960" cy="398102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8286">
                <a:tc>
                  <a:txBody>
                    <a:bodyPr/>
                    <a:lstStyle/>
                    <a:p>
                      <a:pPr fontAlgn="t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scroll</a:t>
                      </a:r>
                    </a:p>
                  </a:txBody>
                  <a:tcPr marL="117411" marR="117411" marT="62619" marB="6261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>
                          <a:solidFill>
                            <a:schemeClr val="bg1"/>
                          </a:solidFill>
                        </a:rPr>
                        <a:t>Фоновое изображение прокручивается вместе с текстом и другим содержимым. Значение по умолчанию.</a:t>
                      </a:r>
                    </a:p>
                  </a:txBody>
                  <a:tcPr marL="117411" marR="117411" marT="62619" marB="626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051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fixed</a:t>
                      </a:r>
                    </a:p>
                  </a:txBody>
                  <a:tcPr marL="117411" marR="117411" marT="62619" marB="6261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>
                          <a:solidFill>
                            <a:schemeClr val="bg1"/>
                          </a:solidFill>
                        </a:rPr>
                        <a:t>Предотвращает перемещение, фиксирует фоновое изображение на заднем плане.</a:t>
                      </a:r>
                    </a:p>
                  </a:txBody>
                  <a:tcPr marL="117411" marR="117411" marT="62619" marB="626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895">
                <a:tc>
                  <a:txBody>
                    <a:bodyPr/>
                    <a:lstStyle/>
                    <a:p>
                      <a:pPr fontAlgn="t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local</a:t>
                      </a:r>
                    </a:p>
                  </a:txBody>
                  <a:tcPr marL="117411" marR="117411" marT="62619" marB="6261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>
                          <a:solidFill>
                            <a:schemeClr val="bg1"/>
                          </a:solidFill>
                        </a:rPr>
                        <a:t>Фоновое изображение прокручивается вместе с содержимым элемента.</a:t>
                      </a:r>
                    </a:p>
                  </a:txBody>
                  <a:tcPr marL="117411" marR="117411" marT="62619" marB="626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895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117411" marR="117411" marT="62619" marB="6261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17411" marR="117411" marT="62619" marB="626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895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117411" marR="117411" marT="62619" marB="6261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17411" marR="117411" marT="62619" marB="626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3608" y="587727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hlinkClick r:id="rId3"/>
              </a:rPr>
              <a:t>Ссылка на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html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0603" y="58772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hlinkClick r:id="rId4"/>
              </a:rPr>
              <a:t>Ссылка на </a:t>
            </a:r>
            <a:r>
              <a:rPr lang="en-US" dirty="0" err="1">
                <a:solidFill>
                  <a:schemeClr val="bg1"/>
                </a:solidFill>
                <a:hlinkClick r:id="rId4"/>
              </a:rPr>
              <a:t>css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Свойство </a:t>
            </a:r>
            <a:r>
              <a:rPr lang="en-US" sz="1600" b="1" dirty="0">
                <a:solidFill>
                  <a:schemeClr val="bg1"/>
                </a:solidFill>
              </a:rPr>
              <a:t>background-size </a:t>
            </a:r>
            <a:r>
              <a:rPr lang="ru-RU" sz="1600" b="1" dirty="0">
                <a:solidFill>
                  <a:schemeClr val="bg1"/>
                </a:solidFill>
              </a:rPr>
              <a:t>позволяет масштабировать фоновое изображение по вертикали и горизонтали описывает, как изображение будет растягиваться и обрезаться, чтобы полностью закрыть собой фоновую область. 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С помощью этого свойства изображение также можно уменьшать по ширине и по высоте.</a:t>
            </a:r>
            <a:r>
              <a:rPr lang="en-US" sz="1600" b="1" dirty="0">
                <a:solidFill>
                  <a:schemeClr val="bg1"/>
                </a:solidFill>
              </a:rPr>
              <a:t> background-size: 300px 150px;</a:t>
            </a:r>
            <a:endParaRPr lang="ru-RU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51520" y="2645872"/>
          <a:ext cx="8640959" cy="397564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126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Значение по умолчанию. Высота и ширина изображения равны его оригинальным размерам.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76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px</a:t>
                      </a:r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en-US" sz="15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/cm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Размер задается парой значений, первое значение устанавливает ширину изображения, второе — высоту. Для того, чтобы фон масштабировался вместе с текстом, размеры изображения нужно задавать в </a:t>
                      </a:r>
                      <a:r>
                        <a:rPr kumimoji="0" lang="ru-RU" sz="15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06"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Задает размер фонового изображения в процентах от ширины или высоты элемента, которое заполняется фоном.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06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cover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Масштабирует изображение с сохранением пропорций так, чтобы его ширина или высота равнялась ширине или высоте блока.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06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contain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Масштабирует изображение с сохранением пропорций таким образом, чтобы оно целиком поместилось внутри блока.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initial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inherit</a:t>
                      </a:r>
                    </a:p>
                  </a:txBody>
                  <a:tcPr marL="77126" marR="77126" marT="41134" marB="41134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5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77126" marR="77126" marT="41134" marB="4113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5.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Спрайты: меньше картинок – больше скорость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7" y="332656"/>
            <a:ext cx="9086250" cy="558924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&lt;div class="yes-no"&gt;&lt;/div&gt;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 err="1">
                <a:solidFill>
                  <a:schemeClr val="bg1"/>
                </a:solidFill>
              </a:rPr>
              <a:t>Css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.yes-no{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background: 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(https://basicuse.net/var/plain_site/storage/images/media/images/articles/prog_lang/textile/html_css/getting_started_with_bootstrap/glyphicons/61850-1-eng-GB/glyphicons_fit_content_width.png) -163px 243px;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width: 56px;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height: 48px;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.yes-</a:t>
            </a:r>
            <a:r>
              <a:rPr lang="en-US" sz="1600" b="1" dirty="0" err="1">
                <a:solidFill>
                  <a:schemeClr val="bg1"/>
                </a:solidFill>
              </a:rPr>
              <a:t>no:hover</a:t>
            </a:r>
            <a:r>
              <a:rPr lang="en-US" sz="1600" b="1" dirty="0">
                <a:solidFill>
                  <a:schemeClr val="bg1"/>
                </a:solidFill>
              </a:rPr>
              <a:t>{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background: </a:t>
            </a:r>
            <a:r>
              <a:rPr lang="en-US" sz="1600" b="1" dirty="0" err="1">
                <a:solidFill>
                  <a:schemeClr val="bg1"/>
                </a:solidFill>
              </a:rPr>
              <a:t>url</a:t>
            </a:r>
            <a:r>
              <a:rPr lang="en-US" sz="1600" b="1" dirty="0">
                <a:solidFill>
                  <a:schemeClr val="bg1"/>
                </a:solidFill>
              </a:rPr>
              <a:t>(https://basicuse.net/var/plain_site/storage/images/media/images/articles/prog_lang/textile/html_css/getting_started_with_bootstrap/glyphicons/61850-1-eng-GB/glyphicons_fit_content_width.png) -240px 242px;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width: 56px;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height: 48px;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}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620688"/>
            <a:ext cx="8424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Сайты для создания спрайтов</a:t>
            </a:r>
          </a:p>
          <a:p>
            <a:endParaRPr lang="ru-RU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  <a:hlinkClick r:id="rId3"/>
              </a:rPr>
              <a:t>https://www.toptal.com/developers/css/sprite-generator</a:t>
            </a:r>
            <a:endParaRPr lang="ru-RU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  <a:hlinkClick r:id="rId4"/>
              </a:rPr>
              <a:t>https://spritegen.website-performance.org/</a:t>
            </a:r>
            <a:endParaRPr lang="ru-RU" sz="1600" b="1" dirty="0">
              <a:solidFill>
                <a:schemeClr val="bg1"/>
              </a:solidFill>
            </a:endParaRPr>
          </a:p>
          <a:p>
            <a:endParaRPr lang="ru-RU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980728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2 html 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страницы с разыми фоном, один </a:t>
            </a:r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fixed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, второй </a:t>
            </a:r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scroll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  <a:p>
            <a:pPr algn="ctr"/>
            <a:endParaRPr lang="en-US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На странице должны быть по 3 изображения, с разным выравниванием и обтеканием текста</a:t>
            </a:r>
          </a:p>
          <a:p>
            <a:pPr algn="ctr"/>
            <a:endParaRPr lang="ru-RU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Обязательно на страницах должны быть блоки </a:t>
            </a:r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div 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и </a:t>
            </a:r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p 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с классами.</a:t>
            </a:r>
            <a:endParaRPr lang="en-US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Обязательно на странице использование </a:t>
            </a:r>
            <a:r>
              <a:rPr lang="en-US" sz="2000" dirty="0">
                <a:ln w="50800"/>
                <a:solidFill>
                  <a:schemeClr val="bg1">
                    <a:shade val="50000"/>
                  </a:schemeClr>
                </a:solidFill>
              </a:rPr>
              <a:t>border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, списков, задание размеров текста, разными шрифтами и цветом.</a:t>
            </a: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2026-10-01T06:36:41Z</dcterms:created>
  <dcterms:modified xsi:type="dcterms:W3CDTF">2026-10-01T06:36:41Z</dcterms:modified>
</cp:coreProperties>
</file>