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>
  <p:sldMasterIdLst>
    <p:sldMasterId id="2147483648" r:id="rId1"/>
  </p:sldMasterIdLst>
  <p:notesMasterIdLst>
    <p:notesMasterId r:id="rId36"/>
  </p:notesMasterIdLst>
  <p:handoutMasterIdLst>
    <p:handoutMasterId r:id="rId37"/>
  </p:handoutMasterIdLst>
  <p:sldIdLst>
    <p:sldId id="355" r:id="rId2"/>
    <p:sldId id="364" r:id="rId3"/>
    <p:sldId id="456" r:id="rId4"/>
    <p:sldId id="357" r:id="rId5"/>
    <p:sldId id="519" r:id="rId6"/>
    <p:sldId id="520" r:id="rId7"/>
    <p:sldId id="521" r:id="rId8"/>
    <p:sldId id="523" r:id="rId9"/>
    <p:sldId id="524" r:id="rId10"/>
    <p:sldId id="525" r:id="rId11"/>
    <p:sldId id="526" r:id="rId12"/>
    <p:sldId id="527" r:id="rId13"/>
    <p:sldId id="528" r:id="rId14"/>
    <p:sldId id="529" r:id="rId15"/>
    <p:sldId id="530" r:id="rId16"/>
    <p:sldId id="531" r:id="rId17"/>
    <p:sldId id="532" r:id="rId18"/>
    <p:sldId id="534" r:id="rId19"/>
    <p:sldId id="535" r:id="rId20"/>
    <p:sldId id="537" r:id="rId21"/>
    <p:sldId id="538" r:id="rId22"/>
    <p:sldId id="539" r:id="rId23"/>
    <p:sldId id="536" r:id="rId24"/>
    <p:sldId id="540" r:id="rId25"/>
    <p:sldId id="541" r:id="rId26"/>
    <p:sldId id="542" r:id="rId27"/>
    <p:sldId id="544" r:id="rId28"/>
    <p:sldId id="543" r:id="rId29"/>
    <p:sldId id="545" r:id="rId30"/>
    <p:sldId id="546" r:id="rId31"/>
    <p:sldId id="547" r:id="rId32"/>
    <p:sldId id="548" r:id="rId33"/>
    <p:sldId id="454" r:id="rId34"/>
    <p:sldId id="455" r:id="rId35"/>
  </p:sldIdLst>
  <p:sldSz cx="9144000" cy="6858000" type="screen4x3"/>
  <p:notesSz cx="6858000" cy="9144000"/>
  <p:defaultTextStyle>
    <a:lvl1pPr marL="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9pPr>
    <a:extLst/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4949"/>
    <a:srgbClr val="CC00CC"/>
    <a:srgbClr val="FF0000"/>
    <a:srgbClr val="00FF00"/>
    <a:srgbClr val="0000FF"/>
    <a:srgbClr val="111111"/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8B1032C-EA38-4F05-BA0D-38AFFFC7BED3}" styleName="Светлый стиль 3 -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Светлый стиль 1 - акцент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D7B26C5-4107-4FEC-AEDC-1716B250A1EF}" styleName="Светлый стиль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8024" autoAdjust="0"/>
  </p:normalViewPr>
  <p:slideViewPr>
    <p:cSldViewPr>
      <p:cViewPr varScale="1">
        <p:scale>
          <a:sx n="111" d="100"/>
          <a:sy n="111" d="100"/>
        </p:scale>
        <p:origin x="161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68F88C59-319B-4332-9A1D-2A62CFCB00D8}" type="datetimeFigureOut">
              <a:rPr lang="ru-RU" smtClean="0"/>
              <a:pPr/>
              <a:t>29.11.2021</a:t>
            </a:fld>
            <a:endParaRPr lang="ru-RU" dirty="0"/>
          </a:p>
        </p:txBody>
      </p:sp>
      <p:sp>
        <p:nvSpPr>
          <p:cNvPr id="4" name="Rectangle 4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B16A41B8-7DC3-4DB6-84E4-E105629EAA36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968B300D-05F0-4B43-940D-46DED5A791AD}" type="datetimeFigureOut">
              <a:rPr lang="ru-RU"/>
              <a:pPr/>
              <a:t>29.11.2021</a:t>
            </a:fld>
            <a:endParaRPr lang="ru-RU" dirty="0"/>
          </a:p>
        </p:txBody>
      </p:sp>
      <p:sp>
        <p:nvSpPr>
          <p:cNvPr id="4" name="Rectangle 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rtlCol="0" anchor="ctr"/>
          <a:lstStyle/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7" name="Rectangle 7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9B26CD33-4337-4529-948A-94F6960B2374}" type="slidenum">
              <a:rPr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9pPr>
    <a:extLst/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</a:t>
            </a:fld>
            <a:endParaRPr lang="ru-RU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</a:t>
            </a:fld>
            <a:endParaRPr lang="ru-RU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</a:t>
            </a:fld>
            <a:endParaRPr lang="ru-RU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</a:t>
            </a:fld>
            <a:endParaRPr lang="ru-RU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</a:t>
            </a:fld>
            <a:endParaRPr lang="ru-RU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6</a:t>
            </a:fld>
            <a:endParaRPr lang="ru-RU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7</a:t>
            </a:fld>
            <a:endParaRPr lang="ru-RU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8</a:t>
            </a:fld>
            <a:endParaRPr lang="ru-RU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9</a:t>
            </a:fld>
            <a:endParaRPr lang="ru-RU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10</a:t>
            </a:fld>
            <a:endParaRPr lang="ru-RU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11</a:t>
            </a:fld>
            <a:endParaRPr lang="ru-RU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12</a:t>
            </a:fld>
            <a:endParaRPr lang="ru-RU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13</a:t>
            </a:fld>
            <a:endParaRPr lang="ru-RU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14</a:t>
            </a:fld>
            <a:endParaRPr lang="ru-RU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15</a:t>
            </a:fld>
            <a:endParaRPr lang="ru-RU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16</a:t>
            </a:fld>
            <a:endParaRPr lang="ru-RU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17</a:t>
            </a:fld>
            <a:endParaRPr lang="ru-RU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18</a:t>
            </a:fld>
            <a:endParaRPr lang="ru-RU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19</a:t>
            </a:fld>
            <a:endParaRPr lang="ru-RU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20</a:t>
            </a:fld>
            <a:endParaRPr lang="ru-RU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21</a:t>
            </a:fld>
            <a:endParaRPr lang="ru-RU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22</a:t>
            </a:fld>
            <a:endParaRPr lang="ru-RU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23</a:t>
            </a:fld>
            <a:endParaRPr lang="ru-RU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24</a:t>
            </a:fld>
            <a:endParaRPr lang="ru-RU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25</a:t>
            </a:fld>
            <a:endParaRPr lang="ru-RU"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26</a:t>
            </a:fld>
            <a:endParaRPr lang="ru-RU"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27</a:t>
            </a:fld>
            <a:endParaRPr lang="ru-RU"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28</a:t>
            </a:fld>
            <a:endParaRPr lang="ru-RU"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29</a:t>
            </a:fld>
            <a:endParaRPr lang="ru-RU"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30</a:t>
            </a:fld>
            <a:endParaRPr lang="ru-RU" dirty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31</a:t>
            </a:fld>
            <a:endParaRPr lang="ru-RU"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32</a:t>
            </a:fld>
            <a:endParaRPr lang="ru-RU" dirty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33</a:t>
            </a:fld>
            <a:endParaRPr lang="ru-RU"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34</a:t>
            </a:fld>
            <a:endParaRPr lang="ru-RU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Обложка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title" hasCustomPrompt="1"/>
          </p:nvPr>
        </p:nvSpPr>
        <p:spPr>
          <a:xfrm>
            <a:off x="228601" y="3962400"/>
            <a:ext cx="8298485" cy="1066800"/>
          </a:xfrm>
        </p:spPr>
        <p:txBody>
          <a:bodyPr bIns="0"/>
          <a:lstStyle>
            <a:lvl1pPr algn="r" eaLnBrk="1" latinLnBrk="0" hangingPunct="1">
              <a:defRPr kumimoji="0" lang="ru-RU"/>
            </a:lvl1pPr>
            <a:extLst/>
          </a:lstStyle>
          <a:p>
            <a:r>
              <a:rPr kumimoji="0" lang="ru-RU"/>
              <a:t>Заголовок фотоальбома</a:t>
            </a:r>
          </a:p>
        </p:txBody>
      </p:sp>
      <p:sp>
        <p:nvSpPr>
          <p:cNvPr id="30" name="Rectangle 7"/>
          <p:cNvSpPr>
            <a:spLocks/>
          </p:cNvSpPr>
          <p:nvPr/>
        </p:nvSpPr>
        <p:spPr>
          <a:xfrm>
            <a:off x="453736" y="5181600"/>
            <a:ext cx="8229600" cy="11430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/>
            </a:pPr>
            <a:endParaRPr kumimoji="0" lang="ru-RU" sz="3200" b="0" i="1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Rectangle 7"/>
          <p:cNvSpPr>
            <a:spLocks noGrp="1"/>
          </p:cNvSpPr>
          <p:nvPr>
            <p:ph type="body" sz="quarter" idx="10" hasCustomPrompt="1"/>
          </p:nvPr>
        </p:nvSpPr>
        <p:spPr>
          <a:xfrm>
            <a:off x="2133600" y="5133975"/>
            <a:ext cx="6386946" cy="1219200"/>
          </a:xfrm>
        </p:spPr>
        <p:txBody>
          <a:bodyPr vert="horz" tIns="0" anchor="t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Щелкните, чтобы добавить дату и прочие сведения</a:t>
            </a:r>
          </a:p>
        </p:txBody>
      </p:sp>
      <p:sp>
        <p:nvSpPr>
          <p:cNvPr id="27" name="Rectangle 6"/>
          <p:cNvSpPr>
            <a:spLocks noGrp="1"/>
          </p:cNvSpPr>
          <p:nvPr>
            <p:ph type="pic" sz="quarter" idx="11"/>
          </p:nvPr>
        </p:nvSpPr>
        <p:spPr>
          <a:xfrm>
            <a:off x="6096000" y="1600200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5"/>
          <p:cNvSpPr/>
          <p:nvPr userDrawn="1"/>
        </p:nvSpPr>
        <p:spPr>
          <a:xfrm>
            <a:off x="176844" y="186904"/>
            <a:ext cx="8763000" cy="6213896"/>
          </a:xfrm>
          <a:prstGeom prst="rect">
            <a:avLst/>
          </a:prstGeom>
          <a:noFill/>
          <a:ln w="9525" cap="rnd" cmpd="sng" algn="ctr">
            <a:solidFill>
              <a:schemeClr val="bg1">
                <a:tint val="85000"/>
              </a:schemeClr>
            </a:solidFill>
            <a:prstDash val="dash"/>
          </a:ln>
          <a:effectLst>
            <a:outerShdw blurRad="25400" dist="12700" dir="5400000" algn="tl" rotWithShape="0">
              <a:schemeClr val="bg1">
                <a:alpha val="60000"/>
              </a:scheme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29.11.2021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3" name="Rectangle 1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Grp="1" noChangeAspect="1"/>
          </p:cNvSpPr>
          <p:nvPr>
            <p:ph type="pic" sz="quarter" idx="10"/>
          </p:nvPr>
        </p:nvSpPr>
        <p:spPr>
          <a:xfrm>
            <a:off x="914400" y="294590"/>
            <a:ext cx="7467600" cy="56007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5"/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6019800"/>
            <a:ext cx="7467600" cy="38100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29.11.2021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Книж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8"/>
          <p:cNvSpPr>
            <a:spLocks noGrp="1"/>
          </p:cNvSpPr>
          <p:nvPr>
            <p:ph type="pic" sz="quarter" idx="10"/>
          </p:nvPr>
        </p:nvSpPr>
        <p:spPr>
          <a:xfrm>
            <a:off x="419375" y="233241"/>
            <a:ext cx="4640305" cy="61722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3" name="Rectangle 6"/>
          <p:cNvSpPr>
            <a:spLocks noGrp="1"/>
          </p:cNvSpPr>
          <p:nvPr>
            <p:ph type="body" sz="quarter" idx="11" hasCustomPrompt="1"/>
          </p:nvPr>
        </p:nvSpPr>
        <p:spPr>
          <a:xfrm>
            <a:off x="5257800" y="3048000"/>
            <a:ext cx="3505200" cy="3352800"/>
          </a:xfrm>
        </p:spPr>
        <p:txBody>
          <a:bodyPr tIns="91440" bIns="91440"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29.11.2021</a:t>
            </a:fld>
            <a:endParaRPr kumimoji="0" lang="ru-RU" dirty="0"/>
          </a:p>
        </p:txBody>
      </p:sp>
      <p:sp>
        <p:nvSpPr>
          <p:cNvPr id="5" name="Rectangle 4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Альбомная (на весь экра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6"/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0" y="0"/>
            <a:ext cx="9144000" cy="6858000"/>
          </a:xfrm>
          <a:noFill/>
          <a:ln w="25400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>
              <a:buFontTx/>
              <a:buNone/>
            </a:pPr>
            <a:r>
              <a:rPr kumimoji="0" lang="ru-RU" i="0" dirty="0"/>
              <a:t>Щелкните значок,</a:t>
            </a:r>
            <a:r>
              <a:rPr kumimoji="0" lang="ru-RU" i="0" baseline="0" dirty="0"/>
              <a:t> чтобы добавить </a:t>
            </a:r>
            <a:r>
              <a:rPr kumimoji="0" lang="ru-RU" i="0" dirty="0"/>
              <a:t>фотографию размером со всю страницу</a:t>
            </a:r>
            <a:endParaRPr kumimoji="0" lang="ru-RU" i="0" baseline="0" dirty="0"/>
          </a:p>
          <a:p>
            <a:pPr marL="0" marR="0" indent="0"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/>
          <p:cNvSpPr>
            <a:spLocks noGrp="1"/>
          </p:cNvSpPr>
          <p:nvPr>
            <p:ph type="title" hasCustomPrompt="1"/>
          </p:nvPr>
        </p:nvSpPr>
        <p:spPr>
          <a:xfrm>
            <a:off x="752670" y="4572000"/>
            <a:ext cx="7781730" cy="990600"/>
          </a:xfrm>
        </p:spPr>
        <p:txBody>
          <a:bodyPr vert="horz" bIns="0" anchor="b" anchorCtr="0"/>
          <a:lstStyle>
            <a:lvl1pPr eaLnBrk="1" latinLnBrk="0" hangingPunct="1">
              <a:defRPr kumimoji="0" lang="ru-RU" baseline="0"/>
            </a:lvl1pPr>
            <a:extLst/>
          </a:lstStyle>
          <a:p>
            <a:r>
              <a:rPr kumimoji="0" lang="ru-RU"/>
              <a:t>Заголовок раздела</a:t>
            </a:r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752670" y="5600700"/>
            <a:ext cx="7772400" cy="838200"/>
          </a:xfrm>
        </p:spPr>
        <p:txBody>
          <a:bodyPr vert="horz" tIns="0"/>
          <a:lstStyle>
            <a:lvl1pPr eaLnBrk="1" latinLnBrk="0" hangingPunct="1">
              <a:buFontTx/>
              <a:buNone/>
              <a:defRPr kumimoji="0" lang="ru-RU" sz="1800"/>
            </a:lvl1pPr>
            <a:extLst/>
          </a:lstStyle>
          <a:p>
            <a:pPr lvl="0"/>
            <a:r>
              <a:rPr kumimoji="0" lang="ru-RU"/>
              <a:t>Подзаголовок слайда</a:t>
            </a:r>
          </a:p>
        </p:txBody>
      </p:sp>
      <p:sp>
        <p:nvSpPr>
          <p:cNvPr id="7" name="Rectangle 6"/>
          <p:cNvSpPr>
            <a:spLocks noGrp="1"/>
          </p:cNvSpPr>
          <p:nvPr>
            <p:ph type="pic" sz="quarter" idx="11"/>
          </p:nvPr>
        </p:nvSpPr>
        <p:spPr>
          <a:xfrm>
            <a:off x="786338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8" name="Rectangle 6"/>
          <p:cNvSpPr>
            <a:spLocks noGrp="1"/>
          </p:cNvSpPr>
          <p:nvPr>
            <p:ph type="pic" sz="quarter" idx="15"/>
          </p:nvPr>
        </p:nvSpPr>
        <p:spPr>
          <a:xfrm>
            <a:off x="3474604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" name="Rectangle 6"/>
          <p:cNvSpPr>
            <a:spLocks noGrp="1"/>
          </p:cNvSpPr>
          <p:nvPr>
            <p:ph type="pic" sz="quarter" idx="16"/>
          </p:nvPr>
        </p:nvSpPr>
        <p:spPr>
          <a:xfrm>
            <a:off x="6162870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29.11.2021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2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4722047" y="609600"/>
            <a:ext cx="3431353" cy="4575141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1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1066800" y="609600"/>
            <a:ext cx="3429000" cy="4572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body" sz="quarter" idx="14" hasCustomPrompt="1"/>
          </p:nvPr>
        </p:nvSpPr>
        <p:spPr>
          <a:xfrm>
            <a:off x="10668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5" hasCustomPrompt="1"/>
          </p:nvPr>
        </p:nvSpPr>
        <p:spPr>
          <a:xfrm>
            <a:off x="47244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29.11.2021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альбом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48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5" name="Rectangle 7"/>
          <p:cNvSpPr>
            <a:spLocks noGrp="1" noChangeAspect="1"/>
          </p:cNvSpPr>
          <p:nvPr>
            <p:ph type="pic" sz="quarter" idx="14"/>
          </p:nvPr>
        </p:nvSpPr>
        <p:spPr>
          <a:xfrm>
            <a:off x="457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7" hasCustomPrompt="1"/>
          </p:nvPr>
        </p:nvSpPr>
        <p:spPr>
          <a:xfrm>
            <a:off x="4648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29.11.2021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смешан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141976" y="381000"/>
            <a:ext cx="3773424" cy="2830068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4152" y="381000"/>
            <a:ext cx="4462272" cy="5949696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1" name="Rectangle 7"/>
          <p:cNvSpPr>
            <a:spLocks noGrp="1"/>
          </p:cNvSpPr>
          <p:nvPr>
            <p:ph type="body" sz="quarter" idx="13" hasCustomPrompt="1"/>
          </p:nvPr>
        </p:nvSpPr>
        <p:spPr>
          <a:xfrm>
            <a:off x="5141976" y="3352800"/>
            <a:ext cx="3773425" cy="2971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29.11.2021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2286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32004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1" name="Rectangle 8"/>
          <p:cNvSpPr>
            <a:spLocks noGrp="1" noChangeAspect="1"/>
          </p:cNvSpPr>
          <p:nvPr>
            <p:ph type="pic" sz="quarter" idx="12"/>
          </p:nvPr>
        </p:nvSpPr>
        <p:spPr>
          <a:xfrm>
            <a:off x="61722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body" sz="quarter" idx="13" hasCustomPrompt="1"/>
          </p:nvPr>
        </p:nvSpPr>
        <p:spPr>
          <a:xfrm>
            <a:off x="2286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body" sz="quarter" idx="14" hasCustomPrompt="1"/>
          </p:nvPr>
        </p:nvSpPr>
        <p:spPr>
          <a:xfrm>
            <a:off x="32004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6"/>
          <p:cNvSpPr>
            <a:spLocks noGrp="1"/>
          </p:cNvSpPr>
          <p:nvPr>
            <p:ph type="body" sz="quarter" idx="15" hasCustomPrompt="1"/>
          </p:nvPr>
        </p:nvSpPr>
        <p:spPr>
          <a:xfrm>
            <a:off x="61722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29.11.2021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466344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5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720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63440" y="228600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228600"/>
            <a:ext cx="4023360" cy="3017520"/>
          </a:xfrm>
        </p:spPr>
        <p:txBody>
          <a:bodyPr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29.11.2021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смешанна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067300" y="3436620"/>
            <a:ext cx="3649900" cy="2889504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26720" y="384048"/>
            <a:ext cx="4457700" cy="5943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5067300" y="389332"/>
            <a:ext cx="3657600" cy="2887269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29.11.2021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7"/>
          <p:cNvSpPr>
            <a:spLocks noGrp="1"/>
          </p:cNvSpPr>
          <p:nvPr>
            <p:ph type="pic" sz="quarter" idx="14"/>
          </p:nvPr>
        </p:nvSpPr>
        <p:spPr>
          <a:xfrm>
            <a:off x="2229297" y="228600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pic" sz="quarter" idx="26"/>
          </p:nvPr>
        </p:nvSpPr>
        <p:spPr>
          <a:xfrm>
            <a:off x="22292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25"/>
          </p:nvPr>
        </p:nvSpPr>
        <p:spPr>
          <a:xfrm>
            <a:off x="4672217" y="228600"/>
            <a:ext cx="2286000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27"/>
          </p:nvPr>
        </p:nvSpPr>
        <p:spPr>
          <a:xfrm>
            <a:off x="46676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00497" y="1295400"/>
            <a:ext cx="1676400" cy="1905000"/>
          </a:xfrm>
        </p:spPr>
        <p:txBody>
          <a:bodyPr anchor="b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6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7086600" y="1295400"/>
            <a:ext cx="1676400" cy="1905000"/>
          </a:xfrm>
        </p:spPr>
        <p:txBody>
          <a:bodyPr anchor="b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8" hasCustomPrompt="1"/>
          </p:nvPr>
        </p:nvSpPr>
        <p:spPr>
          <a:xfrm>
            <a:off x="400497" y="3352800"/>
            <a:ext cx="1676400" cy="1905000"/>
          </a:xfrm>
        </p:spPr>
        <p:txBody>
          <a:bodyPr anchor="t" anchorCtr="0"/>
          <a:lstStyle>
            <a:lvl1pPr marL="0" marR="0" indent="0" algn="r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3" name="Rectangle 7"/>
          <p:cNvSpPr>
            <a:spLocks noGrp="1"/>
          </p:cNvSpPr>
          <p:nvPr>
            <p:ph type="body" sz="quarter" idx="30" hasCustomPrompt="1"/>
          </p:nvPr>
        </p:nvSpPr>
        <p:spPr>
          <a:xfrm>
            <a:off x="7086600" y="3352800"/>
            <a:ext cx="16764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1" name="Rectangle 10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29.11.2021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5" name="Rectangle 14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pic" sz="quarter" idx="14"/>
          </p:nvPr>
        </p:nvSpPr>
        <p:spPr>
          <a:xfrm>
            <a:off x="926821" y="533400"/>
            <a:ext cx="3653297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9268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7"/>
          <p:cNvSpPr>
            <a:spLocks noGrp="1"/>
          </p:cNvSpPr>
          <p:nvPr>
            <p:ph type="pic" sz="quarter" idx="17"/>
          </p:nvPr>
        </p:nvSpPr>
        <p:spPr>
          <a:xfrm>
            <a:off x="4660621" y="5334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pic" sz="quarter" idx="18"/>
          </p:nvPr>
        </p:nvSpPr>
        <p:spPr>
          <a:xfrm>
            <a:off x="9268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/>
          </p:cNvSpPr>
          <p:nvPr>
            <p:ph type="pic" sz="quarter" idx="19"/>
          </p:nvPr>
        </p:nvSpPr>
        <p:spPr>
          <a:xfrm>
            <a:off x="46606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2" hasCustomPrompt="1"/>
          </p:nvPr>
        </p:nvSpPr>
        <p:spPr>
          <a:xfrm>
            <a:off x="9268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8" name="Rectangle 7"/>
          <p:cNvSpPr>
            <a:spLocks noGrp="1"/>
          </p:cNvSpPr>
          <p:nvPr>
            <p:ph type="body" sz="quarter" idx="23" hasCustomPrompt="1"/>
          </p:nvPr>
        </p:nvSpPr>
        <p:spPr>
          <a:xfrm>
            <a:off x="46606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6" name="Rectangle 7"/>
          <p:cNvSpPr>
            <a:spLocks noGrp="1"/>
          </p:cNvSpPr>
          <p:nvPr>
            <p:ph type="body" sz="quarter" idx="24" hasCustomPrompt="1"/>
          </p:nvPr>
        </p:nvSpPr>
        <p:spPr>
          <a:xfrm>
            <a:off x="46606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0" name="Rectangle 9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29.11.2021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большой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1524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1"/>
          </p:nvPr>
        </p:nvSpPr>
        <p:spPr>
          <a:xfrm>
            <a:off x="45466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7"/>
          <p:cNvSpPr>
            <a:spLocks noGrp="1"/>
          </p:cNvSpPr>
          <p:nvPr>
            <p:ph type="pic" sz="quarter" idx="30"/>
          </p:nvPr>
        </p:nvSpPr>
        <p:spPr>
          <a:xfrm>
            <a:off x="234906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/>
          </p:cNvSpPr>
          <p:nvPr>
            <p:ph type="pic" sz="quarter" idx="32"/>
          </p:nvPr>
        </p:nvSpPr>
        <p:spPr>
          <a:xfrm>
            <a:off x="6740166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152400" y="4495800"/>
            <a:ext cx="87630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24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33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29.11.2021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: 1 книжная и 3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685800" y="257665"/>
            <a:ext cx="4617720" cy="6172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 noChangeAspect="1"/>
          </p:cNvSpPr>
          <p:nvPr>
            <p:ph type="pic" sz="quarter" idx="18"/>
          </p:nvPr>
        </p:nvSpPr>
        <p:spPr>
          <a:xfrm>
            <a:off x="5788848" y="257665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 noChangeAspect="1"/>
          </p:cNvSpPr>
          <p:nvPr>
            <p:ph type="pic" sz="quarter" idx="22"/>
          </p:nvPr>
        </p:nvSpPr>
        <p:spPr>
          <a:xfrm>
            <a:off x="5788848" y="2432657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 noChangeAspect="1"/>
          </p:cNvSpPr>
          <p:nvPr>
            <p:ph type="pic" sz="quarter" idx="23"/>
          </p:nvPr>
        </p:nvSpPr>
        <p:spPr>
          <a:xfrm>
            <a:off x="5788848" y="4607649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29.11.2021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альбомных и 2 книж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7"/>
          <p:cNvSpPr>
            <a:spLocks noGrp="1"/>
          </p:cNvSpPr>
          <p:nvPr>
            <p:ph type="pic" sz="quarter" idx="14"/>
          </p:nvPr>
        </p:nvSpPr>
        <p:spPr>
          <a:xfrm>
            <a:off x="609600" y="34290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17"/>
          </p:nvPr>
        </p:nvSpPr>
        <p:spPr>
          <a:xfrm>
            <a:off x="3033848" y="228600"/>
            <a:ext cx="5562600" cy="4171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6"/>
          </p:nvPr>
        </p:nvSpPr>
        <p:spPr>
          <a:xfrm>
            <a:off x="609600" y="2286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27"/>
          </p:nvPr>
        </p:nvSpPr>
        <p:spPr>
          <a:xfrm>
            <a:off x="5943600" y="4495800"/>
            <a:ext cx="2666999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 noChangeAspect="1"/>
          </p:cNvSpPr>
          <p:nvPr>
            <p:ph type="pic" sz="quarter" idx="28"/>
          </p:nvPr>
        </p:nvSpPr>
        <p:spPr>
          <a:xfrm>
            <a:off x="3033848" y="4495800"/>
            <a:ext cx="2757352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29.11.2021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книжных и 2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7"/>
          <p:cNvSpPr>
            <a:spLocks noGrp="1"/>
          </p:cNvSpPr>
          <p:nvPr>
            <p:ph type="pic" sz="quarter" idx="26"/>
          </p:nvPr>
        </p:nvSpPr>
        <p:spPr>
          <a:xfrm>
            <a:off x="5121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/>
          </p:cNvSpPr>
          <p:nvPr>
            <p:ph type="pic" sz="quarter" idx="29"/>
          </p:nvPr>
        </p:nvSpPr>
        <p:spPr>
          <a:xfrm>
            <a:off x="51213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0"/>
          </p:nvPr>
        </p:nvSpPr>
        <p:spPr>
          <a:xfrm>
            <a:off x="471837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/>
          </p:cNvSpPr>
          <p:nvPr>
            <p:ph type="pic" sz="quarter" idx="27"/>
          </p:nvPr>
        </p:nvSpPr>
        <p:spPr>
          <a:xfrm>
            <a:off x="32934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8"/>
          </p:nvPr>
        </p:nvSpPr>
        <p:spPr>
          <a:xfrm>
            <a:off x="60747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29.11.2021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3050273" y="16002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3048000" y="48768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29.11.2021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4955273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W¥ل云玗İαЂôÁûÂÚ丫:Pïçtúrê Plå¢éhõlðér 表¥鷗字㌍ 表_W 5"/>
          <p:cNvSpPr>
            <a:spLocks noGrp="1" noChangeAspect="1"/>
          </p:cNvSpPr>
          <p:nvPr>
            <p:ph type="pic" sz="quarter" idx="14"/>
          </p:nvPr>
        </p:nvSpPr>
        <p:spPr>
          <a:xfrm>
            <a:off x="1143000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495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W¥ل云玗İαЂÕØÚáÛ丫:Téxt Plàçèhòlðêr 表¥鷗字㌍_W 7"/>
          <p:cNvSpPr>
            <a:spLocks noGrp="1"/>
          </p:cNvSpPr>
          <p:nvPr>
            <p:ph type="body" sz="quarter" idx="16" hasCustomPrompt="1"/>
          </p:nvPr>
        </p:nvSpPr>
        <p:spPr>
          <a:xfrm>
            <a:off x="114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8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29.11.2021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¥ل云玗İαЂôÁûÂÚ丫:Pïçtúrê Plå¢éhõlðér 表¥鷗字㌍ 表_W 2"/>
          <p:cNvSpPr>
            <a:spLocks noGrp="1"/>
          </p:cNvSpPr>
          <p:nvPr>
            <p:ph type="pic" sz="quarter" idx="30"/>
          </p:nvPr>
        </p:nvSpPr>
        <p:spPr>
          <a:xfrm>
            <a:off x="457200" y="2057400"/>
            <a:ext cx="8229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W¥ل云玗İαЂÕØÚáÛ丫:Téxt Plàçèhòlðêr 表¥鷗字㌍_W 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4876800"/>
            <a:ext cx="8229600" cy="14478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29.11.2021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eaLnBrk="1" latinLnBrk="0" hangingPunct="1"/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4" name="Rectangle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/>
          </a:p>
        </p:txBody>
      </p:sp>
      <p:sp>
        <p:nvSpPr>
          <p:cNvPr id="2" name="Rectangle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2EC6F-6501-4E04-BD6C-A8A6CABB2C5B}" type="datetimeFigureOut">
              <a:rPr lang="ru-RU"/>
              <a:pPr/>
              <a:t>29.11.2021</a:t>
            </a:fld>
            <a:endParaRPr kumimoji="0" lang="ru-RU" dirty="0"/>
          </a:p>
        </p:txBody>
      </p:sp>
      <p:sp>
        <p:nvSpPr>
          <p:cNvPr id="27" name="Rectangle 1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ru-RU" dirty="0"/>
          </a:p>
        </p:txBody>
      </p:sp>
      <p:sp>
        <p:nvSpPr>
          <p:cNvPr id="24" name="Rectangle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B0023-0CED-47F7-85AE-654F0B232C29}" type="slidenum">
              <a:rPr/>
              <a:pPr/>
              <a:t>‹#›</a:t>
            </a:fld>
            <a:endParaRPr kumimoji="0" lang="ru-RU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2.jpe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24" cstate="print">
            <a:alphaModFix amt="55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6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249362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eaLnBrk="1" latinLnBrk="0" hangingPunct="1"/>
            <a:r>
              <a:rPr kumimoji="0" lang="ru-RU" smtClean="0"/>
              <a:t>Образец заголовка</a:t>
            </a:r>
            <a:endParaRPr kumimoji="0" lang="en-US" smtClean="0"/>
          </a:p>
        </p:txBody>
      </p:sp>
      <p:sp>
        <p:nvSpPr>
          <p:cNvPr id="13" name="Rectangle 5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29" name="Rectangle 3"/>
          <p:cNvSpPr>
            <a:spLocks noGrp="1"/>
          </p:cNvSpPr>
          <p:nvPr>
            <p:ph type="dt" sz="half" idx="2"/>
          </p:nvPr>
        </p:nvSpPr>
        <p:spPr>
          <a:xfrm>
            <a:off x="66675" y="6559360"/>
            <a:ext cx="2438400" cy="244475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29.11.2021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0" name="Rectangle 25"/>
          <p:cNvSpPr>
            <a:spLocks noGrp="1"/>
          </p:cNvSpPr>
          <p:nvPr>
            <p:ph type="ftr" sz="quarter" idx="3"/>
          </p:nvPr>
        </p:nvSpPr>
        <p:spPr>
          <a:xfrm>
            <a:off x="2995653" y="6558153"/>
            <a:ext cx="4648200" cy="246888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ctr"/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3" name="Rectangle 16"/>
          <p:cNvSpPr>
            <a:spLocks noGrp="1"/>
          </p:cNvSpPr>
          <p:nvPr>
            <p:ph type="sldNum" sz="quarter" idx="4"/>
          </p:nvPr>
        </p:nvSpPr>
        <p:spPr>
          <a:xfrm>
            <a:off x="8172450" y="6559360"/>
            <a:ext cx="914400" cy="244475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transition>
    <p:fade/>
  </p:transition>
  <p:timing>
    <p:tnLst>
      <p:par>
        <p:cTn id="1" dur="indefinite" restart="never" nodeType="tmRoot"/>
      </p:par>
    </p:tnLst>
  </p:timing>
  <p:txStyles>
    <p:titleStyle>
      <a:lvl1pPr algn="l" rtl="0" eaLnBrk="1" latinLnBrk="0" hangingPunct="1">
        <a:spcBef>
          <a:spcPct val="0"/>
        </a:spcBef>
        <a:buNone/>
        <a:defRPr kumimoji="0" lang="ru-RU" sz="3200" cap="all" baseline="0">
          <a:solidFill>
            <a:schemeClr val="tx2"/>
          </a:solidFill>
          <a:effectLst>
            <a:outerShdw blurRad="51000" dist="370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 lang="ru-RU">
          <a:solidFill>
            <a:schemeClr val="tx2"/>
          </a:solidFill>
        </a:defRPr>
      </a:lvl2pPr>
      <a:lvl3pPr eaLnBrk="1" latinLnBrk="0" hangingPunct="1">
        <a:defRPr kumimoji="0" lang="ru-RU">
          <a:solidFill>
            <a:schemeClr val="tx2"/>
          </a:solidFill>
        </a:defRPr>
      </a:lvl3pPr>
      <a:lvl4pPr eaLnBrk="1" latinLnBrk="0" hangingPunct="1">
        <a:defRPr kumimoji="0" lang="ru-RU">
          <a:solidFill>
            <a:schemeClr val="tx2"/>
          </a:solidFill>
        </a:defRPr>
      </a:lvl4pPr>
      <a:lvl5pPr eaLnBrk="1" latinLnBrk="0" hangingPunct="1">
        <a:defRPr kumimoji="0" lang="ru-RU">
          <a:solidFill>
            <a:schemeClr val="tx2"/>
          </a:solidFill>
        </a:defRPr>
      </a:lvl5pPr>
      <a:lvl6pPr eaLnBrk="1" latinLnBrk="0" hangingPunct="1">
        <a:defRPr kumimoji="0" lang="ru-RU">
          <a:solidFill>
            <a:schemeClr val="tx2"/>
          </a:solidFill>
        </a:defRPr>
      </a:lvl6pPr>
      <a:lvl7pPr eaLnBrk="1" latinLnBrk="0" hangingPunct="1">
        <a:defRPr kumimoji="0" lang="ru-RU">
          <a:solidFill>
            <a:schemeClr val="tx2"/>
          </a:solidFill>
        </a:defRPr>
      </a:lvl7pPr>
      <a:lvl8pPr eaLnBrk="1" latinLnBrk="0" hangingPunct="1">
        <a:defRPr kumimoji="0" lang="ru-RU">
          <a:solidFill>
            <a:schemeClr val="tx2"/>
          </a:solidFill>
        </a:defRPr>
      </a:lvl8pPr>
      <a:lvl9pPr eaLnBrk="1" latinLnBrk="0" hangingPunct="1">
        <a:defRPr kumimoji="0" lang="ru-RU">
          <a:solidFill>
            <a:schemeClr val="tx2"/>
          </a:solidFill>
        </a:defRPr>
      </a:lvl9pPr>
      <a:extLst/>
    </p:titleStyle>
    <p:bodyStyle>
      <a:lvl1pPr marL="342900" indent="-342900" algn="l" rtl="0" eaLnBrk="1" latinLnBrk="0" hangingPunct="1">
        <a:spcBef>
          <a:spcPct val="20000"/>
        </a:spcBef>
        <a:buChar char="•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har char="–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har char="–"/>
        <a:defRPr kumimoji="0" lang="ru-RU"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har char="»"/>
        <a:defRPr kumimoji="0" lang="ru-RU" sz="16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tikket.ru/musulmanskij-etiket2-adab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" Type="http://schemas.openxmlformats.org/officeDocument/2006/relationships/notesSlide" Target="../notesSlides/notesSlide32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79512" y="0"/>
            <a:ext cx="2420888" cy="2420888"/>
          </a:xfrm>
          <a:prstGeom prst="rect">
            <a:avLst/>
          </a:prstGeom>
          <a:solidFill>
            <a:srgbClr val="000000">
              <a:shade val="95000"/>
            </a:srgbClr>
          </a:solidFill>
          <a:ln w="4445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0" y="6021288"/>
            <a:ext cx="8748464" cy="36933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Зуев Александр</a:t>
            </a:r>
            <a:endParaRPr lang="ru-RU" sz="36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131840" y="1844824"/>
            <a:ext cx="5760640" cy="30469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Разработка веб-страниц на языке разметки HTML5 с</a:t>
            </a:r>
            <a:r>
              <a:rPr lang="en-US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использованием каскадных таблиц стилей CSS3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Гиперссылки. Принципы навигации </a:t>
            </a:r>
            <a:r>
              <a:rPr lang="en-US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web-</a:t>
            </a:r>
            <a:r>
              <a:rPr lang="ru-RU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сайта</a:t>
            </a:r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1.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Общие сведения о гиперссылках</a:t>
            </a:r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310854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2800" b="1" dirty="0" smtClean="0">
                <a:solidFill>
                  <a:schemeClr val="bg1"/>
                </a:solidFill>
              </a:rPr>
              <a:t>Гиперссылка</a:t>
            </a:r>
            <a:r>
              <a:rPr lang="ru-RU" sz="2800" dirty="0" smtClean="0">
                <a:solidFill>
                  <a:schemeClr val="bg1"/>
                </a:solidFill>
              </a:rPr>
              <a:t> (англ. </a:t>
            </a:r>
            <a:r>
              <a:rPr lang="ru-RU" sz="2800" i="1" dirty="0" err="1" smtClean="0">
                <a:solidFill>
                  <a:schemeClr val="bg1"/>
                </a:solidFill>
              </a:rPr>
              <a:t>hyperlink</a:t>
            </a:r>
            <a:r>
              <a:rPr lang="ru-RU" sz="2800" dirty="0" smtClean="0">
                <a:solidFill>
                  <a:schemeClr val="bg1"/>
                </a:solidFill>
              </a:rPr>
              <a:t>) — </a:t>
            </a:r>
            <a:r>
              <a:rPr lang="ru-RU" sz="2000" dirty="0" smtClean="0">
                <a:solidFill>
                  <a:schemeClr val="bg1"/>
                </a:solidFill>
              </a:rPr>
              <a:t>часть гипертекстового документа, ссылающаяся на другой элемент (команда, текст, заголовок, примечание, изображение) в самом документе, на другой объект (файл, каталог, приложение), расположенный на локальном диске или в компьютерной сети, либо на элементы этого объекта.</a:t>
            </a:r>
          </a:p>
          <a:p>
            <a:pPr algn="ctr"/>
            <a:endParaRPr lang="ru-RU" sz="2000" dirty="0" smtClean="0">
              <a:solidFill>
                <a:schemeClr val="bg1"/>
              </a:solidFill>
            </a:endParaRPr>
          </a:p>
          <a:p>
            <a:pPr algn="ctr"/>
            <a:r>
              <a:rPr lang="ru-RU" sz="2400" b="1" dirty="0" smtClean="0">
                <a:solidFill>
                  <a:schemeClr val="bg1"/>
                </a:solidFill>
              </a:rPr>
              <a:t>Гиперссылка — фрагмент HTML-документа и его базовый элемент</a:t>
            </a:r>
            <a:endParaRPr lang="ru-RU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1520" y="3933056"/>
            <a:ext cx="864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hlinkClick r:id="" action="ppaction://hlinkshowjump?jump=nextslide"/>
              </a:rPr>
              <a:t>Ссылка на следующую страницу</a:t>
            </a:r>
            <a:endParaRPr lang="ru-RU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440120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2000" dirty="0" smtClean="0">
                <a:solidFill>
                  <a:schemeClr val="bg1"/>
                </a:solidFill>
              </a:rPr>
              <a:t>Гиперссылка может быть добавлена к любому элементу гипертекстового документа и обычно выделяется визуально. </a:t>
            </a:r>
            <a:endParaRPr lang="en-US" sz="2000" dirty="0" smtClean="0">
              <a:solidFill>
                <a:schemeClr val="bg1"/>
              </a:solidFill>
            </a:endParaRPr>
          </a:p>
          <a:p>
            <a:pPr algn="ctr"/>
            <a:endParaRPr lang="en-US" sz="2000" dirty="0" smtClean="0">
              <a:solidFill>
                <a:schemeClr val="bg1"/>
              </a:solidFill>
            </a:endParaRPr>
          </a:p>
          <a:p>
            <a:pPr algn="ctr"/>
            <a:r>
              <a:rPr lang="ru-RU" sz="2000" dirty="0" smtClean="0">
                <a:solidFill>
                  <a:schemeClr val="bg1"/>
                </a:solidFill>
              </a:rPr>
              <a:t>В HTML-документах текстовые ссылки по умолчанию выделяются синим цветом, при наведении на них курсором мыши в окне браузера</a:t>
            </a:r>
            <a:r>
              <a:rPr lang="en-US" sz="2000" dirty="0" smtClean="0">
                <a:solidFill>
                  <a:schemeClr val="bg1"/>
                </a:solidFill>
              </a:rPr>
              <a:t> </a:t>
            </a:r>
            <a:r>
              <a:rPr lang="ru-RU" sz="2000" dirty="0" smtClean="0">
                <a:solidFill>
                  <a:schemeClr val="bg1"/>
                </a:solidFill>
              </a:rPr>
              <a:t>изменяются, например, меняют цвет или выделяются подчеркиванием. </a:t>
            </a:r>
            <a:endParaRPr lang="en-US" sz="2000" dirty="0" smtClean="0">
              <a:solidFill>
                <a:schemeClr val="bg1"/>
              </a:solidFill>
            </a:endParaRPr>
          </a:p>
          <a:p>
            <a:pPr algn="ctr"/>
            <a:endParaRPr lang="en-US" sz="2000" dirty="0" smtClean="0">
              <a:solidFill>
                <a:schemeClr val="bg1"/>
              </a:solidFill>
            </a:endParaRPr>
          </a:p>
          <a:p>
            <a:pPr algn="ctr"/>
            <a:r>
              <a:rPr lang="ru-RU" sz="2000" dirty="0" smtClean="0">
                <a:solidFill>
                  <a:schemeClr val="bg1"/>
                </a:solidFill>
              </a:rPr>
              <a:t>При навигации в браузере с помощью клавиатуры текстовые и графические ссылки выделяются прямоугольной пунктирной рамкой. Посещенная ранее ссылка обычно выделяется цветом, отличным от цвета не посещённой ссылки</a:t>
            </a:r>
            <a:endParaRPr lang="en-US" sz="2000" dirty="0" smtClean="0">
              <a:solidFill>
                <a:schemeClr val="bg1"/>
              </a:solidFill>
            </a:endParaRPr>
          </a:p>
          <a:p>
            <a:pPr algn="ctr"/>
            <a:endParaRPr lang="en-US" sz="2000" dirty="0" smtClean="0">
              <a:solidFill>
                <a:schemeClr val="bg1"/>
              </a:solidFill>
            </a:endParaRPr>
          </a:p>
          <a:p>
            <a:pPr algn="ctr"/>
            <a:endParaRPr lang="ru-RU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193899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2000" dirty="0" smtClean="0">
                <a:solidFill>
                  <a:schemeClr val="bg1"/>
                </a:solidFill>
              </a:rPr>
              <a:t>«Битой» ссылкой называют такую гиперссылку, которая ссылается на отсутствующий по каким-либо причинам объект, например, если документ или файл удален или перемещен администратором ресурса, на котором он был расположен, или если сам ресурс недоступен. Обычно в таком случае на странице появляется сообщение с кодом ошибки.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520" y="4149080"/>
            <a:ext cx="864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hlinkClick r:id="rId3"/>
              </a:rPr>
              <a:t>Битая ссылка</a:t>
            </a:r>
            <a:endParaRPr lang="ru-RU" dirty="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544764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2000" dirty="0" smtClean="0">
                <a:solidFill>
                  <a:schemeClr val="bg1"/>
                </a:solidFill>
              </a:rPr>
              <a:t>Для определения ссылки в HTML используется тег &lt;</a:t>
            </a:r>
            <a:r>
              <a:rPr lang="ru-RU" sz="2000" dirty="0" err="1" smtClean="0">
                <a:solidFill>
                  <a:schemeClr val="bg1"/>
                </a:solidFill>
              </a:rPr>
              <a:t>a</a:t>
            </a:r>
            <a:r>
              <a:rPr lang="ru-RU" sz="2000" dirty="0" smtClean="0">
                <a:solidFill>
                  <a:schemeClr val="bg1"/>
                </a:solidFill>
              </a:rPr>
              <a:t>&gt;, структура которого имеет вид &lt;</a:t>
            </a:r>
            <a:r>
              <a:rPr lang="ru-RU" sz="2000" dirty="0" err="1" smtClean="0">
                <a:solidFill>
                  <a:schemeClr val="bg1"/>
                </a:solidFill>
              </a:rPr>
              <a:t>a</a:t>
            </a:r>
            <a:r>
              <a:rPr lang="ru-RU" sz="2000" dirty="0" smtClean="0">
                <a:solidFill>
                  <a:schemeClr val="bg1"/>
                </a:solidFill>
              </a:rPr>
              <a:t> </a:t>
            </a:r>
            <a:r>
              <a:rPr lang="ru-RU" sz="2000" dirty="0" err="1" smtClean="0">
                <a:solidFill>
                  <a:schemeClr val="bg1"/>
                </a:solidFill>
              </a:rPr>
              <a:t>href=</a:t>
            </a:r>
            <a:r>
              <a:rPr lang="ru-RU" sz="2000" dirty="0" smtClean="0">
                <a:solidFill>
                  <a:schemeClr val="bg1"/>
                </a:solidFill>
              </a:rPr>
              <a:t>"</a:t>
            </a:r>
            <a:r>
              <a:rPr lang="ru-RU" sz="2000" dirty="0" err="1" smtClean="0">
                <a:solidFill>
                  <a:schemeClr val="bg1"/>
                </a:solidFill>
              </a:rPr>
              <a:t>filename</a:t>
            </a:r>
            <a:r>
              <a:rPr lang="ru-RU" sz="2000" dirty="0" smtClean="0">
                <a:solidFill>
                  <a:schemeClr val="bg1"/>
                </a:solidFill>
              </a:rPr>
              <a:t>"&gt;Текст ссылки&lt;/</a:t>
            </a:r>
            <a:r>
              <a:rPr lang="ru-RU" sz="2000" dirty="0" err="1" smtClean="0">
                <a:solidFill>
                  <a:schemeClr val="bg1"/>
                </a:solidFill>
              </a:rPr>
              <a:t>a</a:t>
            </a:r>
            <a:r>
              <a:rPr lang="ru-RU" sz="2000" dirty="0" smtClean="0">
                <a:solidFill>
                  <a:schemeClr val="bg1"/>
                </a:solidFill>
              </a:rPr>
              <a:t>&gt;, </a:t>
            </a:r>
          </a:p>
          <a:p>
            <a:pPr algn="ctr"/>
            <a:endParaRPr lang="ru-RU" sz="2000" dirty="0" smtClean="0">
              <a:solidFill>
                <a:schemeClr val="bg1"/>
              </a:solidFill>
            </a:endParaRPr>
          </a:p>
          <a:p>
            <a:pPr algn="ctr"/>
            <a:r>
              <a:rPr lang="ru-RU" sz="2000" dirty="0" smtClean="0">
                <a:solidFill>
                  <a:schemeClr val="bg1"/>
                </a:solidFill>
              </a:rPr>
              <a:t>где </a:t>
            </a:r>
            <a:r>
              <a:rPr lang="ru-RU" sz="2000" dirty="0" err="1" smtClean="0">
                <a:solidFill>
                  <a:schemeClr val="bg1"/>
                </a:solidFill>
              </a:rPr>
              <a:t>filename</a:t>
            </a:r>
            <a:r>
              <a:rPr lang="ru-RU" sz="2000" dirty="0" smtClean="0">
                <a:solidFill>
                  <a:schemeClr val="bg1"/>
                </a:solidFill>
              </a:rPr>
              <a:t> — имя файла или адрес в Интернете, на который необходимо сослаться, а Текст ссылки — текст гипертекстовой ссылки, который будет непосредственно показан в HTML-документе. </a:t>
            </a:r>
          </a:p>
          <a:p>
            <a:pPr algn="ctr"/>
            <a:endParaRPr lang="ru-RU" sz="2000" dirty="0" smtClean="0">
              <a:solidFill>
                <a:schemeClr val="bg1"/>
              </a:solidFill>
            </a:endParaRPr>
          </a:p>
          <a:p>
            <a:pPr algn="ctr"/>
            <a:r>
              <a:rPr lang="ru-RU" sz="2000" dirty="0" smtClean="0">
                <a:solidFill>
                  <a:schemeClr val="bg1"/>
                </a:solidFill>
              </a:rPr>
              <a:t>Также можно использовать аргумент TARGET, который показывает, в каком окне будет открыта ссылка (значения — </a:t>
            </a:r>
            <a:r>
              <a:rPr lang="ru-RU" sz="2000" dirty="0" err="1" smtClean="0">
                <a:solidFill>
                  <a:schemeClr val="bg1"/>
                </a:solidFill>
              </a:rPr>
              <a:t>_blank</a:t>
            </a:r>
            <a:r>
              <a:rPr lang="ru-RU" sz="2000" dirty="0" smtClean="0">
                <a:solidFill>
                  <a:schemeClr val="bg1"/>
                </a:solidFill>
              </a:rPr>
              <a:t> (новом), </a:t>
            </a:r>
            <a:r>
              <a:rPr lang="ru-RU" sz="2000" dirty="0" err="1" smtClean="0">
                <a:solidFill>
                  <a:schemeClr val="bg1"/>
                </a:solidFill>
              </a:rPr>
              <a:t>_self</a:t>
            </a:r>
            <a:r>
              <a:rPr lang="ru-RU" sz="2000" dirty="0" smtClean="0">
                <a:solidFill>
                  <a:schemeClr val="bg1"/>
                </a:solidFill>
              </a:rPr>
              <a:t> (текущем)). </a:t>
            </a:r>
            <a:r>
              <a:rPr lang="ru-RU" sz="2000" dirty="0" err="1" smtClean="0">
                <a:solidFill>
                  <a:schemeClr val="bg1"/>
                </a:solidFill>
              </a:rPr>
              <a:t>target=</a:t>
            </a:r>
            <a:r>
              <a:rPr lang="ru-RU" sz="2000" dirty="0" smtClean="0">
                <a:solidFill>
                  <a:schemeClr val="bg1"/>
                </a:solidFill>
              </a:rPr>
              <a:t>"имя окна"&gt;.</a:t>
            </a:r>
          </a:p>
          <a:p>
            <a:pPr algn="ctr"/>
            <a:endParaRPr lang="ru-RU" sz="2000" dirty="0" smtClean="0">
              <a:solidFill>
                <a:schemeClr val="bg1"/>
              </a:solidFill>
            </a:endParaRPr>
          </a:p>
          <a:p>
            <a:r>
              <a:rPr lang="ru-RU" sz="1600" dirty="0" smtClean="0">
                <a:solidFill>
                  <a:schemeClr val="bg1"/>
                </a:solidFill>
              </a:rPr>
              <a:t>&lt;</a:t>
            </a:r>
            <a:r>
              <a:rPr lang="ru-RU" sz="1600" dirty="0" err="1" smtClean="0">
                <a:solidFill>
                  <a:schemeClr val="bg1"/>
                </a:solidFill>
              </a:rPr>
              <a:t>a</a:t>
            </a:r>
            <a:r>
              <a:rPr lang="ru-RU" sz="1600" dirty="0" smtClean="0">
                <a:solidFill>
                  <a:schemeClr val="bg1"/>
                </a:solidFill>
              </a:rPr>
              <a:t> </a:t>
            </a:r>
            <a:r>
              <a:rPr lang="ru-RU" sz="1600" dirty="0" err="1" smtClean="0">
                <a:solidFill>
                  <a:schemeClr val="bg1"/>
                </a:solidFill>
              </a:rPr>
              <a:t>href=</a:t>
            </a:r>
            <a:r>
              <a:rPr lang="ru-RU" sz="1600" dirty="0" smtClean="0">
                <a:solidFill>
                  <a:schemeClr val="bg1"/>
                </a:solidFill>
              </a:rPr>
              <a:t>"</a:t>
            </a:r>
            <a:r>
              <a:rPr lang="ru-RU" sz="1600" dirty="0" err="1" smtClean="0">
                <a:solidFill>
                  <a:schemeClr val="bg1"/>
                </a:solidFill>
              </a:rPr>
              <a:t>my-photo.html</a:t>
            </a:r>
            <a:r>
              <a:rPr lang="ru-RU" sz="1600" dirty="0" smtClean="0">
                <a:solidFill>
                  <a:schemeClr val="bg1"/>
                </a:solidFill>
              </a:rPr>
              <a:t>"&gt;Мои работы&lt;/</a:t>
            </a:r>
            <a:r>
              <a:rPr lang="ru-RU" sz="1600" dirty="0" err="1" smtClean="0">
                <a:solidFill>
                  <a:schemeClr val="bg1"/>
                </a:solidFill>
              </a:rPr>
              <a:t>a</a:t>
            </a:r>
            <a:r>
              <a:rPr lang="ru-RU" sz="1600" dirty="0" smtClean="0">
                <a:solidFill>
                  <a:schemeClr val="bg1"/>
                </a:solidFill>
              </a:rPr>
              <a:t>&gt; — ссылается на документ </a:t>
            </a:r>
            <a:r>
              <a:rPr lang="ru-RU" sz="1600" dirty="0" err="1" smtClean="0">
                <a:solidFill>
                  <a:schemeClr val="bg1"/>
                </a:solidFill>
              </a:rPr>
              <a:t>my-photo.html</a:t>
            </a:r>
            <a:r>
              <a:rPr lang="ru-RU" sz="1600" dirty="0" smtClean="0">
                <a:solidFill>
                  <a:schemeClr val="bg1"/>
                </a:solidFill>
              </a:rPr>
              <a:t> в текущем каталоге, образуя гипертекстовую ссылку в виде слова «Мои работы»;</a:t>
            </a:r>
          </a:p>
          <a:p>
            <a:r>
              <a:rPr lang="ru-RU" sz="1600" dirty="0" smtClean="0">
                <a:solidFill>
                  <a:schemeClr val="bg1"/>
                </a:solidFill>
              </a:rPr>
              <a:t>&lt;</a:t>
            </a:r>
            <a:r>
              <a:rPr lang="ru-RU" sz="1600" dirty="0" err="1" smtClean="0">
                <a:solidFill>
                  <a:schemeClr val="bg1"/>
                </a:solidFill>
              </a:rPr>
              <a:t>a</a:t>
            </a:r>
            <a:r>
              <a:rPr lang="ru-RU" sz="1600" dirty="0" smtClean="0">
                <a:solidFill>
                  <a:schemeClr val="bg1"/>
                </a:solidFill>
              </a:rPr>
              <a:t> </a:t>
            </a:r>
            <a:r>
              <a:rPr lang="ru-RU" sz="1600" dirty="0" err="1" smtClean="0">
                <a:solidFill>
                  <a:schemeClr val="bg1"/>
                </a:solidFill>
              </a:rPr>
              <a:t>href=</a:t>
            </a:r>
            <a:r>
              <a:rPr lang="ru-RU" sz="1600" dirty="0" smtClean="0">
                <a:solidFill>
                  <a:schemeClr val="bg1"/>
                </a:solidFill>
              </a:rPr>
              <a:t>"/</a:t>
            </a:r>
            <a:r>
              <a:rPr lang="ru-RU" sz="1600" dirty="0" err="1" smtClean="0">
                <a:solidFill>
                  <a:schemeClr val="bg1"/>
                </a:solidFill>
              </a:rPr>
              <a:t>photo</a:t>
            </a:r>
            <a:r>
              <a:rPr lang="ru-RU" sz="1600" dirty="0" smtClean="0">
                <a:solidFill>
                  <a:schemeClr val="bg1"/>
                </a:solidFill>
              </a:rPr>
              <a:t>/</a:t>
            </a:r>
            <a:r>
              <a:rPr lang="ru-RU" sz="1600" dirty="0" err="1" smtClean="0">
                <a:solidFill>
                  <a:schemeClr val="bg1"/>
                </a:solidFill>
              </a:rPr>
              <a:t>my-photo.html</a:t>
            </a:r>
            <a:r>
              <a:rPr lang="ru-RU" sz="1600" dirty="0" smtClean="0">
                <a:solidFill>
                  <a:schemeClr val="bg1"/>
                </a:solidFill>
              </a:rPr>
              <a:t>"&gt;Мой фотоальбом&lt;/</a:t>
            </a:r>
            <a:r>
              <a:rPr lang="ru-RU" sz="1600" dirty="0" err="1" smtClean="0">
                <a:solidFill>
                  <a:schemeClr val="bg1"/>
                </a:solidFill>
              </a:rPr>
              <a:t>a</a:t>
            </a:r>
            <a:r>
              <a:rPr lang="ru-RU" sz="1600" dirty="0" smtClean="0">
                <a:solidFill>
                  <a:schemeClr val="bg1"/>
                </a:solidFill>
              </a:rPr>
              <a:t>&gt; — ссылается на файл </a:t>
            </a:r>
            <a:r>
              <a:rPr lang="ru-RU" sz="1600" dirty="0" err="1" smtClean="0">
                <a:solidFill>
                  <a:schemeClr val="bg1"/>
                </a:solidFill>
              </a:rPr>
              <a:t>my-photo.html</a:t>
            </a:r>
            <a:r>
              <a:rPr lang="ru-RU" sz="1600" dirty="0" smtClean="0">
                <a:solidFill>
                  <a:schemeClr val="bg1"/>
                </a:solidFill>
              </a:rPr>
              <a:t>, расположенный в каталоге </a:t>
            </a:r>
            <a:r>
              <a:rPr lang="ru-RU" sz="1600" dirty="0" err="1" smtClean="0">
                <a:solidFill>
                  <a:schemeClr val="bg1"/>
                </a:solidFill>
              </a:rPr>
              <a:t>photo</a:t>
            </a:r>
            <a:r>
              <a:rPr lang="ru-RU" sz="1600" dirty="0" smtClean="0">
                <a:solidFill>
                  <a:schemeClr val="bg1"/>
                </a:solidFill>
              </a:rPr>
              <a:t> корневом каталоге и образует ссылку в виде текста «Мой фотоальбом»;</a:t>
            </a:r>
          </a:p>
          <a:p>
            <a:r>
              <a:rPr lang="ru-RU" sz="1600" dirty="0" smtClean="0">
                <a:solidFill>
                  <a:schemeClr val="bg1"/>
                </a:solidFill>
              </a:rPr>
              <a:t>&lt;</a:t>
            </a:r>
            <a:r>
              <a:rPr lang="ru-RU" sz="1600" dirty="0" err="1" smtClean="0">
                <a:solidFill>
                  <a:schemeClr val="bg1"/>
                </a:solidFill>
              </a:rPr>
              <a:t>a</a:t>
            </a:r>
            <a:r>
              <a:rPr lang="ru-RU" sz="1600" dirty="0" smtClean="0">
                <a:solidFill>
                  <a:schemeClr val="bg1"/>
                </a:solidFill>
              </a:rPr>
              <a:t> </a:t>
            </a:r>
            <a:r>
              <a:rPr lang="ru-RU" sz="1600" dirty="0" err="1" smtClean="0">
                <a:solidFill>
                  <a:schemeClr val="bg1"/>
                </a:solidFill>
              </a:rPr>
              <a:t>href=</a:t>
            </a:r>
            <a:r>
              <a:rPr lang="ru-RU" sz="1600" dirty="0" smtClean="0">
                <a:solidFill>
                  <a:schemeClr val="bg1"/>
                </a:solidFill>
              </a:rPr>
              <a:t>"http://www.site.com"&gt;Мой сайт&lt;/</a:t>
            </a:r>
            <a:r>
              <a:rPr lang="ru-RU" sz="1600" dirty="0" err="1" smtClean="0">
                <a:solidFill>
                  <a:schemeClr val="bg1"/>
                </a:solidFill>
              </a:rPr>
              <a:t>a</a:t>
            </a:r>
            <a:r>
              <a:rPr lang="ru-RU" sz="1600" dirty="0" smtClean="0">
                <a:solidFill>
                  <a:schemeClr val="bg1"/>
                </a:solidFill>
              </a:rPr>
              <a:t>&gt; — ссылается на ресурс, расположенный на удаленном сервере.</a:t>
            </a:r>
          </a:p>
          <a:p>
            <a:r>
              <a:rPr lang="ru-RU" sz="1600" dirty="0" smtClean="0">
                <a:solidFill>
                  <a:schemeClr val="bg1"/>
                </a:solidFill>
              </a:rPr>
              <a:t>&lt;</a:t>
            </a:r>
            <a:r>
              <a:rPr lang="ru-RU" sz="1600" dirty="0" err="1" smtClean="0">
                <a:solidFill>
                  <a:schemeClr val="bg1"/>
                </a:solidFill>
              </a:rPr>
              <a:t>a</a:t>
            </a:r>
            <a:r>
              <a:rPr lang="ru-RU" sz="1600" dirty="0" smtClean="0">
                <a:solidFill>
                  <a:schemeClr val="bg1"/>
                </a:solidFill>
              </a:rPr>
              <a:t> </a:t>
            </a:r>
            <a:r>
              <a:rPr lang="ru-RU" sz="1600" dirty="0" err="1" smtClean="0">
                <a:solidFill>
                  <a:schemeClr val="bg1"/>
                </a:solidFill>
              </a:rPr>
              <a:t>href=</a:t>
            </a:r>
            <a:r>
              <a:rPr lang="ru-RU" sz="1600" dirty="0" smtClean="0">
                <a:solidFill>
                  <a:schemeClr val="bg1"/>
                </a:solidFill>
              </a:rPr>
              <a:t>"</a:t>
            </a:r>
            <a:r>
              <a:rPr lang="ru-RU" sz="1600" dirty="0" err="1" smtClean="0">
                <a:solidFill>
                  <a:schemeClr val="bg1"/>
                </a:solidFill>
              </a:rPr>
              <a:t>my-photo.html</a:t>
            </a:r>
            <a:r>
              <a:rPr lang="ru-RU" sz="1600" dirty="0" smtClean="0">
                <a:solidFill>
                  <a:schemeClr val="bg1"/>
                </a:solidFill>
              </a:rPr>
              <a:t>" </a:t>
            </a:r>
            <a:r>
              <a:rPr lang="ru-RU" sz="1600" dirty="0" err="1" smtClean="0">
                <a:solidFill>
                  <a:schemeClr val="bg1"/>
                </a:solidFill>
              </a:rPr>
              <a:t>target=</a:t>
            </a:r>
            <a:r>
              <a:rPr lang="ru-RU" sz="1600" dirty="0" smtClean="0">
                <a:solidFill>
                  <a:schemeClr val="bg1"/>
                </a:solidFill>
              </a:rPr>
              <a:t>"</a:t>
            </a:r>
            <a:r>
              <a:rPr lang="ru-RU" sz="1600" dirty="0" err="1" smtClean="0">
                <a:solidFill>
                  <a:schemeClr val="bg1"/>
                </a:solidFill>
              </a:rPr>
              <a:t>_blank</a:t>
            </a:r>
            <a:r>
              <a:rPr lang="ru-RU" sz="1600" dirty="0" smtClean="0">
                <a:solidFill>
                  <a:schemeClr val="bg1"/>
                </a:solidFill>
              </a:rPr>
              <a:t>"&gt;Открыть в новом окне&lt;/</a:t>
            </a:r>
            <a:r>
              <a:rPr lang="ru-RU" sz="1600" dirty="0" err="1" smtClean="0">
                <a:solidFill>
                  <a:schemeClr val="bg1"/>
                </a:solidFill>
              </a:rPr>
              <a:t>a</a:t>
            </a:r>
            <a:r>
              <a:rPr lang="ru-RU" sz="1600" dirty="0" smtClean="0">
                <a:solidFill>
                  <a:schemeClr val="bg1"/>
                </a:solidFill>
              </a:rPr>
              <a:t>&gt;</a:t>
            </a:r>
            <a:endParaRPr lang="ru-RU" sz="2000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532453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2000" b="1" dirty="0" err="1" smtClean="0">
                <a:solidFill>
                  <a:schemeClr val="bg1"/>
                </a:solidFill>
              </a:rPr>
              <a:t>Человекопонятный</a:t>
            </a:r>
            <a:r>
              <a:rPr lang="ru-RU" sz="2000" b="1" dirty="0" smtClean="0">
                <a:solidFill>
                  <a:schemeClr val="bg1"/>
                </a:solidFill>
              </a:rPr>
              <a:t> </a:t>
            </a:r>
            <a:r>
              <a:rPr lang="en-US" sz="2000" b="1" dirty="0" smtClean="0">
                <a:solidFill>
                  <a:schemeClr val="bg1"/>
                </a:solidFill>
              </a:rPr>
              <a:t>URL</a:t>
            </a:r>
            <a:r>
              <a:rPr lang="ru-RU" sz="2000" b="1" dirty="0" smtClean="0">
                <a:solidFill>
                  <a:schemeClr val="bg1"/>
                </a:solidFill>
              </a:rPr>
              <a:t> = ЧПУ</a:t>
            </a:r>
          </a:p>
          <a:p>
            <a:pPr algn="ctr"/>
            <a:endParaRPr lang="ru-RU" sz="2000" b="1" dirty="0" smtClean="0">
              <a:solidFill>
                <a:schemeClr val="bg1"/>
              </a:solidFill>
            </a:endParaRPr>
          </a:p>
          <a:p>
            <a:pPr algn="ctr"/>
            <a:r>
              <a:rPr lang="ru-RU" sz="2000" dirty="0" smtClean="0">
                <a:solidFill>
                  <a:schemeClr val="bg1"/>
                </a:solidFill>
              </a:rPr>
              <a:t>URL-путь, состоящий из понятных слов, вместо идентификаторов, и отражающий файловую структуру сайта. </a:t>
            </a:r>
          </a:p>
          <a:p>
            <a:pPr algn="ctr"/>
            <a:endParaRPr lang="ru-RU" sz="2000" dirty="0" smtClean="0">
              <a:solidFill>
                <a:schemeClr val="bg1"/>
              </a:solidFill>
            </a:endParaRPr>
          </a:p>
          <a:p>
            <a:pPr algn="ctr"/>
            <a:r>
              <a:rPr lang="ru-RU" sz="2000" dirty="0" smtClean="0">
                <a:solidFill>
                  <a:schemeClr val="bg1"/>
                </a:solidFill>
              </a:rPr>
              <a:t>Например, вместо /c14/3/97/ </a:t>
            </a:r>
          </a:p>
          <a:p>
            <a:pPr algn="ctr"/>
            <a:r>
              <a:rPr lang="ru-RU" sz="2000" dirty="0" smtClean="0">
                <a:solidFill>
                  <a:schemeClr val="bg1"/>
                </a:solidFill>
              </a:rPr>
              <a:t>или </a:t>
            </a:r>
          </a:p>
          <a:p>
            <a:pPr algn="ctr"/>
            <a:r>
              <a:rPr lang="ru-RU" sz="2000" dirty="0" smtClean="0">
                <a:solidFill>
                  <a:schemeClr val="bg1"/>
                </a:solidFill>
              </a:rPr>
              <a:t>/index.php?cat=10&amp;subcat=2&amp;id=41</a:t>
            </a:r>
          </a:p>
          <a:p>
            <a:pPr algn="ctr"/>
            <a:endParaRPr lang="ru-RU" sz="2000" dirty="0" smtClean="0">
              <a:solidFill>
                <a:schemeClr val="bg1"/>
              </a:solidFill>
            </a:endParaRPr>
          </a:p>
          <a:p>
            <a:pPr algn="ctr"/>
            <a:r>
              <a:rPr lang="ru-RU" sz="2000" dirty="0" smtClean="0">
                <a:solidFill>
                  <a:schemeClr val="bg1"/>
                </a:solidFill>
              </a:rPr>
              <a:t> </a:t>
            </a:r>
            <a:r>
              <a:rPr lang="ru-RU" sz="2000" dirty="0" err="1" smtClean="0">
                <a:solidFill>
                  <a:schemeClr val="bg1"/>
                </a:solidFill>
              </a:rPr>
              <a:t>будет /product</a:t>
            </a:r>
            <a:r>
              <a:rPr lang="ru-RU" sz="2000" dirty="0" smtClean="0">
                <a:solidFill>
                  <a:schemeClr val="bg1"/>
                </a:solidFill>
              </a:rPr>
              <a:t>/</a:t>
            </a:r>
            <a:r>
              <a:rPr lang="ru-RU" sz="2000" dirty="0" err="1" smtClean="0">
                <a:solidFill>
                  <a:schemeClr val="bg1"/>
                </a:solidFill>
              </a:rPr>
              <a:t>phone</a:t>
            </a:r>
            <a:r>
              <a:rPr lang="ru-RU" sz="2000" dirty="0" smtClean="0">
                <a:solidFill>
                  <a:schemeClr val="bg1"/>
                </a:solidFill>
              </a:rPr>
              <a:t>/</a:t>
            </a:r>
            <a:r>
              <a:rPr lang="ru-RU" sz="2000" dirty="0" err="1" smtClean="0">
                <a:solidFill>
                  <a:schemeClr val="bg1"/>
                </a:solidFill>
              </a:rPr>
              <a:t>Samsung</a:t>
            </a:r>
            <a:r>
              <a:rPr lang="ru-RU" sz="2000" dirty="0" smtClean="0">
                <a:solidFill>
                  <a:schemeClr val="bg1"/>
                </a:solidFill>
              </a:rPr>
              <a:t>/</a:t>
            </a:r>
          </a:p>
          <a:p>
            <a:pPr algn="ctr"/>
            <a:endParaRPr lang="ru-RU" sz="2000" dirty="0" smtClean="0">
              <a:solidFill>
                <a:schemeClr val="bg1"/>
              </a:solidFill>
            </a:endParaRPr>
          </a:p>
          <a:p>
            <a:pPr algn="ctr"/>
            <a:r>
              <a:rPr lang="ru-RU" sz="2000" dirty="0" smtClean="0">
                <a:solidFill>
                  <a:schemeClr val="bg1"/>
                </a:solidFill>
              </a:rPr>
              <a:t>Технически URL может содержать только буквы латинского алфавита и некоторые символы. Все другие символы, включая русские буквы, кодируются (</a:t>
            </a:r>
            <a:r>
              <a:rPr lang="ru-RU" sz="2000" dirty="0" err="1" smtClean="0">
                <a:solidFill>
                  <a:schemeClr val="bg1"/>
                </a:solidFill>
              </a:rPr>
              <a:t>percent‐encoding</a:t>
            </a:r>
            <a:r>
              <a:rPr lang="ru-RU" sz="2000" dirty="0" smtClean="0">
                <a:solidFill>
                  <a:schemeClr val="bg1"/>
                </a:solidFill>
              </a:rPr>
              <a:t>) и могут выглядеть вроде %D0%9B%D1%83%D0%BA. Поэтому, обычно в адресах используют латиницу, чтобы избегать осложнений для пользователей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2</a:t>
            </a:r>
            <a:r>
              <a:rPr lang="en-US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</a:t>
            </a:r>
            <a:r>
              <a:rPr lang="ru-RU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Абсолютная и относительная адресация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424936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 smtClean="0">
                <a:solidFill>
                  <a:schemeClr val="bg1"/>
                </a:solidFill>
              </a:rPr>
              <a:t>Абсолютный путь</a:t>
            </a:r>
            <a:endParaRPr lang="en-US" sz="2400" b="1" dirty="0" smtClean="0">
              <a:solidFill>
                <a:schemeClr val="bg1"/>
              </a:solidFill>
            </a:endParaRPr>
          </a:p>
          <a:p>
            <a:endParaRPr lang="en-US" b="1" dirty="0" smtClean="0">
              <a:solidFill>
                <a:schemeClr val="bg1"/>
              </a:solidFill>
            </a:endParaRPr>
          </a:p>
          <a:p>
            <a:r>
              <a:rPr lang="en-US" b="1" dirty="0" smtClean="0">
                <a:solidFill>
                  <a:schemeClr val="bg1"/>
                </a:solidFill>
              </a:rPr>
              <a:t>&lt;a </a:t>
            </a:r>
            <a:r>
              <a:rPr lang="en-US" b="1" dirty="0" err="1" smtClean="0">
                <a:solidFill>
                  <a:schemeClr val="bg1"/>
                </a:solidFill>
              </a:rPr>
              <a:t>href</a:t>
            </a:r>
            <a:r>
              <a:rPr lang="en-US" b="1" dirty="0" smtClean="0">
                <a:solidFill>
                  <a:schemeClr val="bg1"/>
                </a:solidFill>
              </a:rPr>
              <a:t>="https://ya.ru/black"&gt;</a:t>
            </a:r>
            <a:r>
              <a:rPr lang="ru-RU" b="1" dirty="0" smtClean="0">
                <a:solidFill>
                  <a:schemeClr val="bg1"/>
                </a:solidFill>
              </a:rPr>
              <a:t>Ссылка на черный </a:t>
            </a:r>
            <a:r>
              <a:rPr lang="ru-RU" b="1" dirty="0" err="1" smtClean="0">
                <a:solidFill>
                  <a:schemeClr val="bg1"/>
                </a:solidFill>
              </a:rPr>
              <a:t>яндекс</a:t>
            </a:r>
            <a:r>
              <a:rPr lang="en-US" b="1" dirty="0" smtClean="0">
                <a:solidFill>
                  <a:schemeClr val="bg1"/>
                </a:solidFill>
              </a:rPr>
              <a:t>&lt;/a&gt;</a:t>
            </a:r>
            <a:endParaRPr lang="ru-RU" b="1" dirty="0" smtClean="0">
              <a:solidFill>
                <a:schemeClr val="bg1"/>
              </a:solidFill>
            </a:endParaRPr>
          </a:p>
          <a:p>
            <a:endParaRPr lang="en-US" b="1" dirty="0" smtClean="0">
              <a:solidFill>
                <a:schemeClr val="bg1"/>
              </a:solidFill>
            </a:endParaRPr>
          </a:p>
          <a:p>
            <a:r>
              <a:rPr lang="ru-RU" b="1" dirty="0" smtClean="0">
                <a:solidFill>
                  <a:schemeClr val="bg1"/>
                </a:solidFill>
              </a:rPr>
              <a:t>Когда ссылка представляет из себя полный URL файла или страницы, это и есть абсолютный путь</a:t>
            </a:r>
            <a:endParaRPr lang="en-US" b="1" dirty="0" smtClean="0">
              <a:solidFill>
                <a:schemeClr val="bg1"/>
              </a:solidFill>
            </a:endParaRPr>
          </a:p>
          <a:p>
            <a:endParaRPr lang="en-US" b="1" dirty="0" smtClean="0">
              <a:solidFill>
                <a:schemeClr val="bg1"/>
              </a:solidFill>
            </a:endParaRPr>
          </a:p>
          <a:p>
            <a:r>
              <a:rPr lang="ru-RU" b="1" dirty="0" smtClean="0">
                <a:solidFill>
                  <a:schemeClr val="bg1"/>
                </a:solidFill>
              </a:rPr>
              <a:t>Минусы – при замене домена ссылка становится не рабочей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424936" cy="46166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 smtClean="0">
                <a:solidFill>
                  <a:schemeClr val="bg1"/>
                </a:solidFill>
              </a:rPr>
              <a:t>Относительный путь</a:t>
            </a:r>
            <a:endParaRPr lang="en-US" sz="2400" b="1" dirty="0" smtClean="0">
              <a:solidFill>
                <a:schemeClr val="bg1"/>
              </a:solidFill>
            </a:endParaRPr>
          </a:p>
          <a:p>
            <a:endParaRPr lang="en-US" b="1" dirty="0" smtClean="0">
              <a:solidFill>
                <a:schemeClr val="bg1"/>
              </a:solidFill>
            </a:endParaRPr>
          </a:p>
          <a:p>
            <a:r>
              <a:rPr lang="en-US" b="1" dirty="0" smtClean="0">
                <a:solidFill>
                  <a:schemeClr val="bg1"/>
                </a:solidFill>
              </a:rPr>
              <a:t>&lt;a </a:t>
            </a:r>
            <a:r>
              <a:rPr lang="en-US" b="1" dirty="0" err="1" smtClean="0">
                <a:solidFill>
                  <a:schemeClr val="bg1"/>
                </a:solidFill>
              </a:rPr>
              <a:t>href</a:t>
            </a:r>
            <a:r>
              <a:rPr lang="en-US" b="1" dirty="0" smtClean="0">
                <a:solidFill>
                  <a:schemeClr val="bg1"/>
                </a:solidFill>
              </a:rPr>
              <a:t>="price.html"&gt;</a:t>
            </a:r>
            <a:r>
              <a:rPr lang="ru-RU" b="1" dirty="0" smtClean="0">
                <a:solidFill>
                  <a:schemeClr val="bg1"/>
                </a:solidFill>
              </a:rPr>
              <a:t>Прайс-лист</a:t>
            </a:r>
            <a:r>
              <a:rPr lang="en-US" b="1" dirty="0" smtClean="0">
                <a:solidFill>
                  <a:schemeClr val="bg1"/>
                </a:solidFill>
              </a:rPr>
              <a:t>&lt;/a&gt;</a:t>
            </a:r>
            <a:endParaRPr lang="ru-RU" b="1" dirty="0" smtClean="0">
              <a:solidFill>
                <a:schemeClr val="bg1"/>
              </a:solidFill>
            </a:endParaRPr>
          </a:p>
          <a:p>
            <a:r>
              <a:rPr lang="en-US" b="1" dirty="0" smtClean="0">
                <a:solidFill>
                  <a:schemeClr val="bg1"/>
                </a:solidFill>
              </a:rPr>
              <a:t>&lt;a </a:t>
            </a:r>
            <a:r>
              <a:rPr lang="en-US" b="1" dirty="0" err="1" smtClean="0">
                <a:solidFill>
                  <a:schemeClr val="bg1"/>
                </a:solidFill>
              </a:rPr>
              <a:t>href</a:t>
            </a:r>
            <a:r>
              <a:rPr lang="en-US" b="1" dirty="0" smtClean="0">
                <a:solidFill>
                  <a:schemeClr val="bg1"/>
                </a:solidFill>
              </a:rPr>
              <a:t>=“../price.pdf" target="blank"&gt;</a:t>
            </a:r>
            <a:r>
              <a:rPr lang="ru-RU" b="1" dirty="0" smtClean="0">
                <a:solidFill>
                  <a:schemeClr val="bg1"/>
                </a:solidFill>
              </a:rPr>
              <a:t>Скачать прайс-лист</a:t>
            </a:r>
            <a:r>
              <a:rPr lang="en-US" b="1" dirty="0" smtClean="0">
                <a:solidFill>
                  <a:schemeClr val="bg1"/>
                </a:solidFill>
              </a:rPr>
              <a:t>&lt;/a&gt;</a:t>
            </a:r>
            <a:endParaRPr lang="ru-RU" b="1" dirty="0" smtClean="0">
              <a:solidFill>
                <a:schemeClr val="bg1"/>
              </a:solidFill>
            </a:endParaRPr>
          </a:p>
          <a:p>
            <a:endParaRPr lang="en-US" b="1" dirty="0" smtClean="0">
              <a:solidFill>
                <a:schemeClr val="bg1"/>
              </a:solidFill>
            </a:endParaRPr>
          </a:p>
          <a:p>
            <a:endParaRPr lang="ru-RU" b="1" dirty="0" smtClean="0">
              <a:solidFill>
                <a:schemeClr val="bg1"/>
              </a:solidFill>
            </a:endParaRPr>
          </a:p>
          <a:p>
            <a:r>
              <a:rPr lang="ru-RU" b="1" dirty="0" smtClean="0">
                <a:solidFill>
                  <a:schemeClr val="bg1"/>
                </a:solidFill>
              </a:rPr>
              <a:t>В основном относительный путь указывается тогда, когда Вам нужно отправить посетителя на другую страницу Вашего сайта</a:t>
            </a:r>
            <a:endParaRPr lang="en-US" b="1" dirty="0" smtClean="0">
              <a:solidFill>
                <a:schemeClr val="bg1"/>
              </a:solidFill>
            </a:endParaRPr>
          </a:p>
          <a:p>
            <a:endParaRPr lang="en-US" b="1" dirty="0" smtClean="0">
              <a:solidFill>
                <a:schemeClr val="bg1"/>
              </a:solidFill>
            </a:endParaRPr>
          </a:p>
          <a:p>
            <a:r>
              <a:rPr lang="ru-RU" b="1" dirty="0" smtClean="0">
                <a:solidFill>
                  <a:schemeClr val="bg1"/>
                </a:solidFill>
              </a:rPr>
              <a:t>/ указывает на корневую директорию и говорит о том, что нужно начать путь от корневого каталога документов и идти вниз до следующей папки</a:t>
            </a:r>
            <a:endParaRPr lang="en-US" b="1" dirty="0" smtClean="0">
              <a:solidFill>
                <a:schemeClr val="bg1"/>
              </a:solidFill>
            </a:endParaRPr>
          </a:p>
          <a:p>
            <a:r>
              <a:rPr lang="ru-RU" b="1" dirty="0" smtClean="0">
                <a:solidFill>
                  <a:schemeClr val="bg1"/>
                </a:solidFill>
              </a:rPr>
              <a:t/>
            </a:r>
            <a:br>
              <a:rPr lang="ru-RU" b="1" dirty="0" smtClean="0">
                <a:solidFill>
                  <a:schemeClr val="bg1"/>
                </a:solidFill>
              </a:rPr>
            </a:br>
            <a:r>
              <a:rPr lang="ru-RU" b="1" dirty="0" smtClean="0">
                <a:solidFill>
                  <a:schemeClr val="bg1"/>
                </a:solidFill>
              </a:rPr>
              <a:t>./ указывает на текущую папку</a:t>
            </a:r>
            <a:endParaRPr lang="en-US" b="1" dirty="0" smtClean="0">
              <a:solidFill>
                <a:schemeClr val="bg1"/>
              </a:solidFill>
            </a:endParaRPr>
          </a:p>
          <a:p>
            <a:r>
              <a:rPr lang="ru-RU" b="1" dirty="0" smtClean="0">
                <a:solidFill>
                  <a:schemeClr val="bg1"/>
                </a:solidFill>
              </a:rPr>
              <a:t/>
            </a:r>
            <a:br>
              <a:rPr lang="ru-RU" b="1" dirty="0" smtClean="0">
                <a:solidFill>
                  <a:schemeClr val="bg1"/>
                </a:solidFill>
              </a:rPr>
            </a:br>
            <a:r>
              <a:rPr lang="ru-RU" b="1" dirty="0" smtClean="0">
                <a:solidFill>
                  <a:schemeClr val="bg1"/>
                </a:solidFill>
              </a:rPr>
              <a:t>../ подняться на одну папку (директорию) выше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424936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 smtClean="0">
                <a:solidFill>
                  <a:schemeClr val="bg1"/>
                </a:solidFill>
              </a:rPr>
              <a:t>Самый простой способ добавить ссылку </a:t>
            </a:r>
          </a:p>
          <a:p>
            <a:endParaRPr lang="ru-RU" sz="2400" b="1" dirty="0" smtClean="0">
              <a:solidFill>
                <a:schemeClr val="bg1"/>
              </a:solidFill>
            </a:endParaRPr>
          </a:p>
          <a:p>
            <a:pPr marL="457200" indent="-457200"/>
            <a:r>
              <a:rPr lang="en-US" sz="2400" b="1" dirty="0" smtClean="0">
                <a:solidFill>
                  <a:schemeClr val="bg1"/>
                </a:solidFill>
              </a:rPr>
              <a:t>1) </a:t>
            </a:r>
            <a:r>
              <a:rPr lang="ru-RU" sz="2400" b="1" dirty="0" smtClean="0">
                <a:solidFill>
                  <a:schemeClr val="bg1"/>
                </a:solidFill>
              </a:rPr>
              <a:t>Если ссылка внешняя то указывать ссылку полностью</a:t>
            </a:r>
          </a:p>
          <a:p>
            <a:pPr marL="457200" indent="-457200">
              <a:buAutoNum type="arabicParenR"/>
            </a:pPr>
            <a:endParaRPr lang="en-US" sz="2400" b="1" dirty="0" smtClean="0">
              <a:solidFill>
                <a:schemeClr val="bg1"/>
              </a:solidFill>
            </a:endParaRPr>
          </a:p>
          <a:p>
            <a:r>
              <a:rPr lang="en-US" sz="2400" b="1" dirty="0" smtClean="0">
                <a:solidFill>
                  <a:schemeClr val="bg1"/>
                </a:solidFill>
              </a:rPr>
              <a:t>&lt;a </a:t>
            </a:r>
            <a:r>
              <a:rPr lang="en-US" sz="2400" b="1" dirty="0" err="1" smtClean="0">
                <a:solidFill>
                  <a:schemeClr val="bg1"/>
                </a:solidFill>
              </a:rPr>
              <a:t>href</a:t>
            </a:r>
            <a:r>
              <a:rPr lang="en-US" sz="2400" b="1" dirty="0" smtClean="0">
                <a:solidFill>
                  <a:schemeClr val="bg1"/>
                </a:solidFill>
              </a:rPr>
              <a:t>="https://etikket.ru/price.html"&gt;</a:t>
            </a:r>
            <a:r>
              <a:rPr lang="ru-RU" sz="2400" b="1" dirty="0" smtClean="0">
                <a:solidFill>
                  <a:schemeClr val="bg1"/>
                </a:solidFill>
              </a:rPr>
              <a:t>Прайс-лист</a:t>
            </a:r>
            <a:r>
              <a:rPr lang="en-US" sz="2400" b="1" dirty="0" smtClean="0">
                <a:solidFill>
                  <a:schemeClr val="bg1"/>
                </a:solidFill>
              </a:rPr>
              <a:t>&lt;/a&gt;</a:t>
            </a:r>
            <a:endParaRPr lang="ru-RU" sz="2400" b="1" dirty="0" smtClean="0">
              <a:solidFill>
                <a:schemeClr val="bg1"/>
              </a:solidFill>
            </a:endParaRPr>
          </a:p>
          <a:p>
            <a:endParaRPr lang="en-US" sz="2400" b="1" dirty="0" smtClean="0">
              <a:solidFill>
                <a:schemeClr val="bg1"/>
              </a:solidFill>
            </a:endParaRPr>
          </a:p>
          <a:p>
            <a:r>
              <a:rPr lang="ru-RU" sz="2400" b="1" dirty="0" smtClean="0">
                <a:solidFill>
                  <a:schemeClr val="bg1"/>
                </a:solidFill>
              </a:rPr>
              <a:t>2) Если ссылка указывается на ваш сайт</a:t>
            </a:r>
          </a:p>
          <a:p>
            <a:endParaRPr lang="ru-RU" sz="2400" b="1" dirty="0" smtClean="0">
              <a:solidFill>
                <a:schemeClr val="bg1"/>
              </a:solidFill>
            </a:endParaRPr>
          </a:p>
          <a:p>
            <a:r>
              <a:rPr lang="en-US" sz="2400" b="1" dirty="0" smtClean="0">
                <a:solidFill>
                  <a:schemeClr val="bg1"/>
                </a:solidFill>
              </a:rPr>
              <a:t>&lt;a </a:t>
            </a:r>
            <a:r>
              <a:rPr lang="en-US" sz="2400" b="1" dirty="0" err="1" smtClean="0">
                <a:solidFill>
                  <a:schemeClr val="bg1"/>
                </a:solidFill>
              </a:rPr>
              <a:t>href</a:t>
            </a:r>
            <a:r>
              <a:rPr lang="en-US" sz="2400" b="1" dirty="0" smtClean="0">
                <a:solidFill>
                  <a:schemeClr val="bg1"/>
                </a:solidFill>
              </a:rPr>
              <a:t>="/price.html"&gt;</a:t>
            </a:r>
            <a:r>
              <a:rPr lang="ru-RU" sz="2400" b="1" dirty="0" smtClean="0">
                <a:solidFill>
                  <a:schemeClr val="bg1"/>
                </a:solidFill>
              </a:rPr>
              <a:t>Прайс-лист</a:t>
            </a:r>
            <a:r>
              <a:rPr lang="en-US" sz="2400" b="1" dirty="0" smtClean="0">
                <a:solidFill>
                  <a:schemeClr val="bg1"/>
                </a:solidFill>
              </a:rPr>
              <a:t>&lt;/a&gt;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424936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 smtClean="0">
                <a:solidFill>
                  <a:schemeClr val="bg1"/>
                </a:solidFill>
              </a:rPr>
              <a:t>Ссылка на почту</a:t>
            </a:r>
          </a:p>
          <a:p>
            <a:endParaRPr lang="ru-RU" sz="2400" b="1" dirty="0" smtClean="0">
              <a:solidFill>
                <a:schemeClr val="bg1"/>
              </a:solidFill>
            </a:endParaRPr>
          </a:p>
          <a:p>
            <a:r>
              <a:rPr lang="ru-RU" sz="2400" b="1" dirty="0" smtClean="0">
                <a:solidFill>
                  <a:schemeClr val="bg1"/>
                </a:solidFill>
              </a:rPr>
              <a:t>&lt;</a:t>
            </a:r>
            <a:r>
              <a:rPr lang="ru-RU" sz="2400" b="1" dirty="0" err="1" smtClean="0">
                <a:solidFill>
                  <a:schemeClr val="bg1"/>
                </a:solidFill>
              </a:rPr>
              <a:t>a</a:t>
            </a:r>
            <a:r>
              <a:rPr lang="ru-RU" sz="2400" b="1" dirty="0" smtClean="0">
                <a:solidFill>
                  <a:schemeClr val="bg1"/>
                </a:solidFill>
              </a:rPr>
              <a:t> </a:t>
            </a:r>
            <a:r>
              <a:rPr lang="ru-RU" sz="2400" b="1" dirty="0" err="1" smtClean="0">
                <a:solidFill>
                  <a:schemeClr val="bg1"/>
                </a:solidFill>
              </a:rPr>
              <a:t>href=</a:t>
            </a:r>
            <a:r>
              <a:rPr lang="ru-RU" sz="2400" b="1" dirty="0" smtClean="0">
                <a:solidFill>
                  <a:schemeClr val="bg1"/>
                </a:solidFill>
              </a:rPr>
              <a:t>"mailto:simple-t@mail.ru?</a:t>
            </a:r>
          </a:p>
          <a:p>
            <a:r>
              <a:rPr lang="ru-RU" sz="2400" b="1" dirty="0" err="1" smtClean="0">
                <a:solidFill>
                  <a:schemeClr val="bg1"/>
                </a:solidFill>
              </a:rPr>
              <a:t>subject=Это</a:t>
            </a:r>
            <a:r>
              <a:rPr lang="ru-RU" sz="2400" b="1" dirty="0" smtClean="0">
                <a:solidFill>
                  <a:schemeClr val="bg1"/>
                </a:solidFill>
              </a:rPr>
              <a:t> письмо с </a:t>
            </a:r>
            <a:r>
              <a:rPr lang="ru-RU" sz="2400" b="1" dirty="0" err="1" smtClean="0">
                <a:solidFill>
                  <a:schemeClr val="bg1"/>
                </a:solidFill>
              </a:rPr>
              <a:t>сайта&amp;Body=Новый</a:t>
            </a:r>
            <a:r>
              <a:rPr lang="ru-RU" sz="2400" b="1" dirty="0" smtClean="0">
                <a:solidFill>
                  <a:schemeClr val="bg1"/>
                </a:solidFill>
              </a:rPr>
              <a:t> текст для </a:t>
            </a:r>
            <a:r>
              <a:rPr lang="ru-RU" sz="2400" b="1" dirty="0" err="1" smtClean="0">
                <a:solidFill>
                  <a:schemeClr val="bg1"/>
                </a:solidFill>
              </a:rPr>
              <a:t>письма&amp;cc=zuev@itstep.kz&amp;bcc=phrakz@yandex.ru</a:t>
            </a:r>
            <a:r>
              <a:rPr lang="ru-RU" sz="2400" b="1" dirty="0" smtClean="0">
                <a:solidFill>
                  <a:schemeClr val="bg1"/>
                </a:solidFill>
              </a:rPr>
              <a:t>" </a:t>
            </a:r>
            <a:r>
              <a:rPr lang="ru-RU" sz="2400" b="1" dirty="0" err="1" smtClean="0">
                <a:solidFill>
                  <a:schemeClr val="bg1"/>
                </a:solidFill>
              </a:rPr>
              <a:t>title=</a:t>
            </a:r>
            <a:r>
              <a:rPr lang="ru-RU" sz="2400" b="1" dirty="0" smtClean="0">
                <a:solidFill>
                  <a:schemeClr val="bg1"/>
                </a:solidFill>
              </a:rPr>
              <a:t>"Напишите нам"&gt;Напишите мне письмо&lt;/</a:t>
            </a:r>
            <a:r>
              <a:rPr lang="ru-RU" sz="2400" b="1" dirty="0" err="1" smtClean="0">
                <a:solidFill>
                  <a:schemeClr val="bg1"/>
                </a:solidFill>
              </a:rPr>
              <a:t>a</a:t>
            </a:r>
            <a:r>
              <a:rPr lang="ru-RU" sz="2400" b="1" dirty="0" smtClean="0">
                <a:solidFill>
                  <a:schemeClr val="bg1"/>
                </a:solidFill>
              </a:rPr>
              <a:t>&gt;</a:t>
            </a:r>
          </a:p>
          <a:p>
            <a:endParaRPr lang="ru-RU" sz="2400" b="1" dirty="0" smtClean="0">
              <a:solidFill>
                <a:schemeClr val="bg1"/>
              </a:solidFill>
            </a:endParaRPr>
          </a:p>
          <a:p>
            <a:endParaRPr lang="ru-RU" sz="2400" b="1" dirty="0" smtClean="0">
              <a:solidFill>
                <a:schemeClr val="bg1"/>
              </a:solidFill>
            </a:endParaRPr>
          </a:p>
          <a:p>
            <a:r>
              <a:rPr lang="ru-RU" sz="2400" dirty="0" err="1" smtClean="0">
                <a:solidFill>
                  <a:schemeClr val="bg1"/>
                </a:solidFill>
              </a:rPr>
              <a:t>mailto</a:t>
            </a:r>
            <a:r>
              <a:rPr lang="ru-RU" sz="2400" dirty="0" smtClean="0">
                <a:solidFill>
                  <a:schemeClr val="bg1"/>
                </a:solidFill>
              </a:rPr>
              <a:t> – Адрес электронной почты</a:t>
            </a:r>
          </a:p>
          <a:p>
            <a:r>
              <a:rPr lang="ru-RU" sz="2400" dirty="0" smtClean="0">
                <a:solidFill>
                  <a:schemeClr val="bg1"/>
                </a:solidFill>
              </a:rPr>
              <a:t>?</a:t>
            </a:r>
            <a:r>
              <a:rPr lang="ru-RU" sz="2400" dirty="0" err="1" smtClean="0">
                <a:solidFill>
                  <a:schemeClr val="bg1"/>
                </a:solidFill>
              </a:rPr>
              <a:t>subject=Тема</a:t>
            </a:r>
            <a:r>
              <a:rPr lang="ru-RU" sz="2400" dirty="0" smtClean="0">
                <a:solidFill>
                  <a:schemeClr val="bg1"/>
                </a:solidFill>
              </a:rPr>
              <a:t> письма</a:t>
            </a:r>
          </a:p>
          <a:p>
            <a:r>
              <a:rPr lang="ru-RU" sz="2400" dirty="0" smtClean="0">
                <a:solidFill>
                  <a:schemeClr val="bg1"/>
                </a:solidFill>
              </a:rPr>
              <a:t>&amp;</a:t>
            </a:r>
            <a:r>
              <a:rPr lang="ru-RU" sz="2400" dirty="0" err="1" smtClean="0">
                <a:solidFill>
                  <a:schemeClr val="bg1"/>
                </a:solidFill>
              </a:rPr>
              <a:t>Body=Тело</a:t>
            </a:r>
            <a:r>
              <a:rPr lang="ru-RU" sz="2400" dirty="0" smtClean="0">
                <a:solidFill>
                  <a:schemeClr val="bg1"/>
                </a:solidFill>
              </a:rPr>
              <a:t> письма</a:t>
            </a:r>
          </a:p>
          <a:p>
            <a:r>
              <a:rPr lang="ru-RU" sz="2400" dirty="0" smtClean="0">
                <a:solidFill>
                  <a:schemeClr val="bg1"/>
                </a:solidFill>
              </a:rPr>
              <a:t>&amp;</a:t>
            </a:r>
            <a:r>
              <a:rPr lang="ru-RU" sz="2400" dirty="0" err="1" smtClean="0">
                <a:solidFill>
                  <a:schemeClr val="bg1"/>
                </a:solidFill>
              </a:rPr>
              <a:t>cc=Кому</a:t>
            </a:r>
            <a:r>
              <a:rPr lang="ru-RU" sz="2400" dirty="0" smtClean="0">
                <a:solidFill>
                  <a:schemeClr val="bg1"/>
                </a:solidFill>
              </a:rPr>
              <a:t> отправить копию</a:t>
            </a:r>
          </a:p>
          <a:p>
            <a:r>
              <a:rPr lang="ru-RU" sz="2400" dirty="0" smtClean="0">
                <a:solidFill>
                  <a:schemeClr val="bg1"/>
                </a:solidFill>
              </a:rPr>
              <a:t>&amp;</a:t>
            </a:r>
            <a:r>
              <a:rPr lang="ru-RU" sz="2400" dirty="0" err="1" smtClean="0">
                <a:solidFill>
                  <a:schemeClr val="bg1"/>
                </a:solidFill>
              </a:rPr>
              <a:t>bcc=Кому</a:t>
            </a:r>
            <a:r>
              <a:rPr lang="ru-RU" sz="2400" dirty="0" smtClean="0">
                <a:solidFill>
                  <a:schemeClr val="bg1"/>
                </a:solidFill>
              </a:rPr>
              <a:t> отправить скрытую копию</a:t>
            </a:r>
          </a:p>
          <a:p>
            <a:r>
              <a:rPr lang="ru-RU" sz="2400" dirty="0" err="1" smtClean="0">
                <a:solidFill>
                  <a:schemeClr val="bg1"/>
                </a:solidFill>
              </a:rPr>
              <a:t>title=Подсказка</a:t>
            </a:r>
            <a:r>
              <a:rPr lang="ru-RU" sz="2400" dirty="0" smtClean="0">
                <a:solidFill>
                  <a:schemeClr val="bg1"/>
                </a:solidFill>
              </a:rPr>
              <a:t> при наведении на ссылку</a:t>
            </a:r>
            <a:endParaRPr lang="en-US" sz="2400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32656"/>
            <a:ext cx="8424936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 smtClean="0">
                <a:solidFill>
                  <a:schemeClr val="bg1"/>
                </a:solidFill>
              </a:rPr>
              <a:t>Ссылка на телефон (срабатывает только на мобильных устройствах)</a:t>
            </a:r>
          </a:p>
          <a:p>
            <a:endParaRPr lang="ru-RU" sz="2400" b="1" dirty="0" smtClean="0">
              <a:solidFill>
                <a:schemeClr val="bg1"/>
              </a:solidFill>
            </a:endParaRPr>
          </a:p>
          <a:p>
            <a:r>
              <a:rPr lang="en-US" sz="2400" b="1" dirty="0" smtClean="0">
                <a:solidFill>
                  <a:schemeClr val="bg1"/>
                </a:solidFill>
              </a:rPr>
              <a:t>&lt;a </a:t>
            </a:r>
            <a:r>
              <a:rPr lang="en-US" sz="2400" b="1" dirty="0" err="1" smtClean="0">
                <a:solidFill>
                  <a:schemeClr val="bg1"/>
                </a:solidFill>
              </a:rPr>
              <a:t>href</a:t>
            </a:r>
            <a:r>
              <a:rPr lang="en-US" sz="2400" b="1" dirty="0" smtClean="0">
                <a:solidFill>
                  <a:schemeClr val="bg1"/>
                </a:solidFill>
              </a:rPr>
              <a:t>="</a:t>
            </a:r>
            <a:r>
              <a:rPr lang="en-US" sz="2400" b="1" dirty="0" err="1" smtClean="0">
                <a:solidFill>
                  <a:schemeClr val="bg1"/>
                </a:solidFill>
              </a:rPr>
              <a:t>tel</a:t>
            </a:r>
            <a:r>
              <a:rPr lang="en-US" sz="2400" b="1" dirty="0" smtClean="0">
                <a:solidFill>
                  <a:schemeClr val="bg1"/>
                </a:solidFill>
              </a:rPr>
              <a:t>:+7-70</a:t>
            </a:r>
            <a:r>
              <a:rPr lang="ru-RU" sz="2400" b="1" dirty="0" smtClean="0">
                <a:solidFill>
                  <a:schemeClr val="bg1"/>
                </a:solidFill>
              </a:rPr>
              <a:t>8</a:t>
            </a:r>
            <a:r>
              <a:rPr lang="en-US" sz="2400" b="1" dirty="0" smtClean="0">
                <a:solidFill>
                  <a:schemeClr val="bg1"/>
                </a:solidFill>
              </a:rPr>
              <a:t>-</a:t>
            </a:r>
            <a:r>
              <a:rPr lang="ru-RU" sz="2400" b="1" dirty="0" smtClean="0">
                <a:solidFill>
                  <a:schemeClr val="bg1"/>
                </a:solidFill>
              </a:rPr>
              <a:t>18</a:t>
            </a:r>
            <a:r>
              <a:rPr lang="en-US" sz="2400" b="1" dirty="0" smtClean="0">
                <a:solidFill>
                  <a:schemeClr val="bg1"/>
                </a:solidFill>
              </a:rPr>
              <a:t>-</a:t>
            </a:r>
            <a:r>
              <a:rPr lang="ru-RU" sz="2400" b="1" dirty="0" smtClean="0">
                <a:solidFill>
                  <a:schemeClr val="bg1"/>
                </a:solidFill>
              </a:rPr>
              <a:t>118</a:t>
            </a:r>
            <a:r>
              <a:rPr lang="en-US" sz="2400" b="1" dirty="0" smtClean="0">
                <a:solidFill>
                  <a:schemeClr val="bg1"/>
                </a:solidFill>
              </a:rPr>
              <a:t>-</a:t>
            </a:r>
            <a:r>
              <a:rPr lang="ru-RU" sz="2400" b="1" dirty="0" smtClean="0">
                <a:solidFill>
                  <a:schemeClr val="bg1"/>
                </a:solidFill>
              </a:rPr>
              <a:t>76</a:t>
            </a:r>
            <a:r>
              <a:rPr lang="en-US" sz="2400" b="1" dirty="0" smtClean="0">
                <a:solidFill>
                  <a:schemeClr val="bg1"/>
                </a:solidFill>
              </a:rPr>
              <a:t>" target="_blank" title="</a:t>
            </a:r>
            <a:r>
              <a:rPr lang="ru-RU" sz="2400" b="1" dirty="0" smtClean="0">
                <a:solidFill>
                  <a:schemeClr val="bg1"/>
                </a:solidFill>
              </a:rPr>
              <a:t>Позвонить"&gt;</a:t>
            </a:r>
            <a:r>
              <a:rPr lang="en-US" sz="2400" b="1" dirty="0" smtClean="0">
                <a:solidFill>
                  <a:schemeClr val="bg1"/>
                </a:solidFill>
              </a:rPr>
              <a:t>&lt;/a&gt;</a:t>
            </a:r>
            <a:endParaRPr lang="ru-RU" sz="2400" b="1" dirty="0" smtClean="0">
              <a:solidFill>
                <a:schemeClr val="bg1"/>
              </a:solidFill>
            </a:endParaRPr>
          </a:p>
          <a:p>
            <a:endParaRPr lang="ru-RU" sz="2400" b="1" dirty="0" smtClean="0">
              <a:solidFill>
                <a:schemeClr val="bg1"/>
              </a:solidFill>
            </a:endParaRPr>
          </a:p>
          <a:p>
            <a:r>
              <a:rPr lang="ru-RU" sz="2400" b="1" dirty="0" smtClean="0">
                <a:solidFill>
                  <a:schemeClr val="bg1"/>
                </a:solidFill>
              </a:rPr>
              <a:t>Ссылка на звонок в </a:t>
            </a:r>
            <a:r>
              <a:rPr lang="en-US" sz="2400" b="1" dirty="0" smtClean="0">
                <a:solidFill>
                  <a:schemeClr val="bg1"/>
                </a:solidFill>
              </a:rPr>
              <a:t>Skype</a:t>
            </a:r>
            <a:endParaRPr lang="ru-RU" sz="2400" b="1" dirty="0" smtClean="0">
              <a:solidFill>
                <a:schemeClr val="bg1"/>
              </a:solidFill>
            </a:endParaRPr>
          </a:p>
          <a:p>
            <a:endParaRPr lang="ru-RU" sz="2400" b="1" dirty="0" smtClean="0">
              <a:solidFill>
                <a:schemeClr val="bg1"/>
              </a:solidFill>
            </a:endParaRPr>
          </a:p>
          <a:p>
            <a:r>
              <a:rPr lang="en-US" sz="2400" b="1" dirty="0" smtClean="0">
                <a:solidFill>
                  <a:schemeClr val="bg1"/>
                </a:solidFill>
              </a:rPr>
              <a:t>&lt;a </a:t>
            </a:r>
            <a:r>
              <a:rPr lang="en-US" sz="2400" b="1" dirty="0" err="1" smtClean="0">
                <a:solidFill>
                  <a:schemeClr val="bg1"/>
                </a:solidFill>
              </a:rPr>
              <a:t>href</a:t>
            </a:r>
            <a:r>
              <a:rPr lang="en-US" sz="2400" b="1" dirty="0" smtClean="0">
                <a:solidFill>
                  <a:schemeClr val="bg1"/>
                </a:solidFill>
              </a:rPr>
              <a:t>="</a:t>
            </a:r>
            <a:r>
              <a:rPr lang="en-US" sz="2400" b="1" dirty="0" err="1" smtClean="0">
                <a:solidFill>
                  <a:schemeClr val="bg1"/>
                </a:solidFill>
              </a:rPr>
              <a:t>skype</a:t>
            </a:r>
            <a:r>
              <a:rPr lang="en-US" sz="2400" b="1" dirty="0" smtClean="0">
                <a:solidFill>
                  <a:schemeClr val="bg1"/>
                </a:solidFill>
              </a:rPr>
              <a:t>:</a:t>
            </a:r>
            <a:r>
              <a:rPr lang="ru-RU" sz="2400" b="1" dirty="0" smtClean="0">
                <a:solidFill>
                  <a:schemeClr val="bg1"/>
                </a:solidFill>
              </a:rPr>
              <a:t>логин?</a:t>
            </a:r>
            <a:r>
              <a:rPr lang="en-US" sz="2400" b="1" dirty="0" smtClean="0">
                <a:solidFill>
                  <a:schemeClr val="bg1"/>
                </a:solidFill>
              </a:rPr>
              <a:t>call"&gt;</a:t>
            </a:r>
            <a:r>
              <a:rPr lang="ru-RU" sz="2400" b="1" dirty="0" smtClean="0">
                <a:solidFill>
                  <a:schemeClr val="bg1"/>
                </a:solidFill>
              </a:rPr>
              <a:t>логин&lt;/</a:t>
            </a:r>
            <a:r>
              <a:rPr lang="en-US" sz="2400" b="1" dirty="0" smtClean="0">
                <a:solidFill>
                  <a:schemeClr val="bg1"/>
                </a:solidFill>
              </a:rPr>
              <a:t>a&gt;</a:t>
            </a:r>
          </a:p>
          <a:p>
            <a:endParaRPr lang="en-US" sz="2400" b="1" dirty="0" smtClean="0">
              <a:solidFill>
                <a:schemeClr val="bg1"/>
              </a:solidFill>
            </a:endParaRPr>
          </a:p>
          <a:p>
            <a:r>
              <a:rPr lang="ru-RU" sz="2400" b="1" dirty="0" smtClean="0">
                <a:solidFill>
                  <a:schemeClr val="bg1"/>
                </a:solidFill>
              </a:rPr>
              <a:t>Ссылка на </a:t>
            </a:r>
            <a:r>
              <a:rPr lang="en-US" sz="2400" b="1" dirty="0" err="1" smtClean="0">
                <a:solidFill>
                  <a:schemeClr val="bg1"/>
                </a:solidFill>
              </a:rPr>
              <a:t>WhatsApp</a:t>
            </a:r>
            <a:endParaRPr lang="en-US" sz="2400" b="1" dirty="0" smtClean="0">
              <a:solidFill>
                <a:schemeClr val="bg1"/>
              </a:solidFill>
            </a:endParaRPr>
          </a:p>
          <a:p>
            <a:r>
              <a:rPr lang="ru-RU" sz="2400" b="1" dirty="0" smtClean="0">
                <a:solidFill>
                  <a:schemeClr val="bg1"/>
                </a:solidFill>
              </a:rPr>
              <a:t>&lt;</a:t>
            </a:r>
            <a:r>
              <a:rPr lang="ru-RU" sz="2400" b="1" dirty="0" err="1" smtClean="0">
                <a:solidFill>
                  <a:schemeClr val="bg1"/>
                </a:solidFill>
              </a:rPr>
              <a:t>a</a:t>
            </a:r>
            <a:r>
              <a:rPr lang="ru-RU" sz="2400" b="1" dirty="0" smtClean="0">
                <a:solidFill>
                  <a:schemeClr val="bg1"/>
                </a:solidFill>
              </a:rPr>
              <a:t> </a:t>
            </a:r>
            <a:r>
              <a:rPr lang="ru-RU" sz="2400" b="1" dirty="0" err="1" smtClean="0">
                <a:solidFill>
                  <a:schemeClr val="bg1"/>
                </a:solidFill>
              </a:rPr>
              <a:t>href=</a:t>
            </a:r>
            <a:r>
              <a:rPr lang="ru-RU" sz="2400" b="1" dirty="0" smtClean="0">
                <a:solidFill>
                  <a:schemeClr val="bg1"/>
                </a:solidFill>
              </a:rPr>
              <a:t>"https://api.whatsapp.com/send?phone=77081811876&amp;amp;text=Здравствуйте, у меня появились вопросы по HTML"&gt; Написать на </a:t>
            </a:r>
            <a:r>
              <a:rPr lang="ru-RU" sz="2400" b="1" dirty="0" err="1" smtClean="0">
                <a:solidFill>
                  <a:schemeClr val="bg1"/>
                </a:solidFill>
              </a:rPr>
              <a:t>WhatsApp</a:t>
            </a:r>
            <a:r>
              <a:rPr lang="ru-RU" sz="2400" b="1" dirty="0" smtClean="0">
                <a:solidFill>
                  <a:schemeClr val="bg1"/>
                </a:solidFill>
              </a:rPr>
              <a:t> &lt;/</a:t>
            </a:r>
            <a:r>
              <a:rPr lang="ru-RU" sz="2400" b="1" dirty="0" err="1" smtClean="0">
                <a:solidFill>
                  <a:schemeClr val="bg1"/>
                </a:solidFill>
              </a:rPr>
              <a:t>a</a:t>
            </a:r>
            <a:r>
              <a:rPr lang="ru-RU" sz="2400" b="1" dirty="0" smtClean="0">
                <a:solidFill>
                  <a:schemeClr val="bg1"/>
                </a:solidFill>
              </a:rPr>
              <a:t>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3140968"/>
            <a:ext cx="8424936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 smtClean="0">
                <a:solidFill>
                  <a:schemeClr val="bg1"/>
                </a:solidFill>
              </a:rPr>
              <a:t>&lt;p&gt;&lt;a name="top"&gt;&lt;/a&gt;&lt;/p&gt;  </a:t>
            </a:r>
          </a:p>
          <a:p>
            <a:endParaRPr lang="ru-RU" sz="2400" b="1" dirty="0" smtClean="0">
              <a:solidFill>
                <a:schemeClr val="bg1"/>
              </a:solidFill>
            </a:endParaRPr>
          </a:p>
          <a:p>
            <a:r>
              <a:rPr lang="en-US" sz="2400" b="1" dirty="0" smtClean="0">
                <a:solidFill>
                  <a:schemeClr val="bg1"/>
                </a:solidFill>
              </a:rPr>
              <a:t>&lt;p style="height:3000px;"&gt;</a:t>
            </a:r>
            <a:r>
              <a:rPr lang="ru-RU" sz="2400" b="1" dirty="0" smtClean="0">
                <a:solidFill>
                  <a:schemeClr val="bg1"/>
                </a:solidFill>
              </a:rPr>
              <a:t>Здесь много-много текста.</a:t>
            </a:r>
            <a:r>
              <a:rPr lang="en-US" sz="2400" b="1" dirty="0" smtClean="0">
                <a:solidFill>
                  <a:schemeClr val="bg1"/>
                </a:solidFill>
              </a:rPr>
              <a:t> </a:t>
            </a:r>
            <a:r>
              <a:rPr lang="ru-RU" sz="2400" b="1" dirty="0" smtClean="0">
                <a:solidFill>
                  <a:schemeClr val="bg1"/>
                </a:solidFill>
              </a:rPr>
              <a:t>Прокручивай его вниз. Или нажмите </a:t>
            </a:r>
            <a:r>
              <a:rPr lang="en-US" sz="2400" b="1" dirty="0" smtClean="0">
                <a:solidFill>
                  <a:schemeClr val="bg1"/>
                </a:solidFill>
              </a:rPr>
              <a:t>&lt;a </a:t>
            </a:r>
            <a:r>
              <a:rPr lang="en-US" sz="2400" b="1" dirty="0" err="1" smtClean="0">
                <a:solidFill>
                  <a:schemeClr val="bg1"/>
                </a:solidFill>
              </a:rPr>
              <a:t>href</a:t>
            </a:r>
            <a:r>
              <a:rPr lang="en-US" sz="2400" b="1" dirty="0" smtClean="0">
                <a:solidFill>
                  <a:schemeClr val="bg1"/>
                </a:solidFill>
              </a:rPr>
              <a:t>="#bottom"&gt;</a:t>
            </a:r>
            <a:r>
              <a:rPr lang="ru-RU" sz="2400" b="1" dirty="0" smtClean="0">
                <a:solidFill>
                  <a:schemeClr val="bg1"/>
                </a:solidFill>
              </a:rPr>
              <a:t>Вниз&lt;/</a:t>
            </a:r>
            <a:r>
              <a:rPr lang="en-US" sz="2400" b="1" dirty="0" smtClean="0">
                <a:solidFill>
                  <a:schemeClr val="bg1"/>
                </a:solidFill>
              </a:rPr>
              <a:t>a&gt;</a:t>
            </a:r>
            <a:r>
              <a:rPr lang="ru-RU" sz="2400" b="1" dirty="0" smtClean="0">
                <a:solidFill>
                  <a:schemeClr val="bg1"/>
                </a:solidFill>
              </a:rPr>
              <a:t> &lt;/</a:t>
            </a:r>
            <a:r>
              <a:rPr lang="en-US" sz="2400" b="1" dirty="0" smtClean="0">
                <a:solidFill>
                  <a:schemeClr val="bg1"/>
                </a:solidFill>
              </a:rPr>
              <a:t>p&gt;</a:t>
            </a:r>
          </a:p>
          <a:p>
            <a:r>
              <a:rPr lang="en-US" sz="2400" b="1" dirty="0" smtClean="0">
                <a:solidFill>
                  <a:schemeClr val="bg1"/>
                </a:solidFill>
              </a:rPr>
              <a:t>  </a:t>
            </a:r>
          </a:p>
          <a:p>
            <a:r>
              <a:rPr lang="en-US" sz="2400" b="1" dirty="0" smtClean="0">
                <a:solidFill>
                  <a:schemeClr val="bg1"/>
                </a:solidFill>
              </a:rPr>
              <a:t>&lt;p&gt;&lt;a </a:t>
            </a:r>
            <a:r>
              <a:rPr lang="en-US" sz="2400" b="1" dirty="0" err="1" smtClean="0">
                <a:solidFill>
                  <a:schemeClr val="bg1"/>
                </a:solidFill>
              </a:rPr>
              <a:t>href</a:t>
            </a:r>
            <a:r>
              <a:rPr lang="en-US" sz="2400" b="1" dirty="0" smtClean="0">
                <a:solidFill>
                  <a:schemeClr val="bg1"/>
                </a:solidFill>
              </a:rPr>
              <a:t>="#top"&gt;</a:t>
            </a:r>
            <a:r>
              <a:rPr lang="ru-RU" sz="2400" b="1" dirty="0" smtClean="0">
                <a:solidFill>
                  <a:schemeClr val="bg1"/>
                </a:solidFill>
              </a:rPr>
              <a:t>Наверх&lt;/</a:t>
            </a:r>
            <a:r>
              <a:rPr lang="en-US" sz="2400" b="1" dirty="0" smtClean="0">
                <a:solidFill>
                  <a:schemeClr val="bg1"/>
                </a:solidFill>
              </a:rPr>
              <a:t>a&gt;&lt;/p&gt; </a:t>
            </a:r>
          </a:p>
          <a:p>
            <a:r>
              <a:rPr lang="en-US" sz="2400" b="1" dirty="0" smtClean="0">
                <a:solidFill>
                  <a:schemeClr val="bg1"/>
                </a:solidFill>
              </a:rPr>
              <a:t>&lt;p&gt;&lt;a name="bottom"&gt;&lt;/a&gt;&lt;/p&gt; </a:t>
            </a:r>
            <a:endParaRPr lang="ru-RU" sz="2400" b="1" dirty="0" smtClean="0">
              <a:solidFill>
                <a:schemeClr val="bg1"/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51520" y="260648"/>
            <a:ext cx="8424936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 smtClean="0">
                <a:solidFill>
                  <a:schemeClr val="bg1"/>
                </a:solidFill>
              </a:rPr>
              <a:t>Атрибут </a:t>
            </a:r>
            <a:r>
              <a:rPr lang="ru-RU" sz="2400" b="1" dirty="0" err="1" smtClean="0">
                <a:solidFill>
                  <a:schemeClr val="bg1"/>
                </a:solidFill>
              </a:rPr>
              <a:t>name</a:t>
            </a:r>
            <a:r>
              <a:rPr lang="ru-RU" sz="2400" b="1" dirty="0" smtClean="0">
                <a:solidFill>
                  <a:schemeClr val="bg1"/>
                </a:solidFill>
              </a:rPr>
              <a:t> используется для определения закладки (иногда называют также якорь) внутри страницы. </a:t>
            </a:r>
          </a:p>
          <a:p>
            <a:endParaRPr lang="ru-RU" sz="2400" b="1" dirty="0" smtClean="0">
              <a:solidFill>
                <a:schemeClr val="bg1"/>
              </a:solidFill>
            </a:endParaRPr>
          </a:p>
          <a:p>
            <a:r>
              <a:rPr lang="ru-RU" sz="2400" b="1" dirty="0" smtClean="0">
                <a:solidFill>
                  <a:schemeClr val="bg1"/>
                </a:solidFill>
              </a:rPr>
              <a:t>Имя ссылки на закладку начинается символом #, после чего идёт название закладки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260648"/>
            <a:ext cx="8640960" cy="62478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 smtClean="0">
                <a:solidFill>
                  <a:schemeClr val="bg1"/>
                </a:solidFill>
              </a:rPr>
              <a:t>В XHTML и HTML5 вместо </a:t>
            </a:r>
            <a:r>
              <a:rPr lang="ru-RU" sz="2400" b="1" dirty="0" err="1" smtClean="0">
                <a:solidFill>
                  <a:schemeClr val="bg1"/>
                </a:solidFill>
              </a:rPr>
              <a:t>name</a:t>
            </a:r>
            <a:r>
              <a:rPr lang="ru-RU" sz="2400" b="1" dirty="0" smtClean="0">
                <a:solidFill>
                  <a:schemeClr val="bg1"/>
                </a:solidFill>
              </a:rPr>
              <a:t> для определения закладки требуется указывать атрибут id.</a:t>
            </a:r>
          </a:p>
          <a:p>
            <a:endParaRPr lang="ru-RU" sz="2400" b="1" dirty="0" smtClean="0">
              <a:solidFill>
                <a:schemeClr val="bg1"/>
              </a:solidFill>
            </a:endParaRPr>
          </a:p>
          <a:p>
            <a:r>
              <a:rPr lang="ru-RU" sz="2400" b="1" dirty="0" smtClean="0">
                <a:solidFill>
                  <a:schemeClr val="bg1"/>
                </a:solidFill>
              </a:rPr>
              <a:t>Атрибут </a:t>
            </a:r>
            <a:r>
              <a:rPr lang="en-US" sz="2400" b="1" dirty="0" smtClean="0">
                <a:solidFill>
                  <a:schemeClr val="bg1"/>
                </a:solidFill>
              </a:rPr>
              <a:t>id</a:t>
            </a:r>
            <a:r>
              <a:rPr lang="ru-RU" sz="2400" b="1" dirty="0" smtClean="0">
                <a:solidFill>
                  <a:schemeClr val="bg1"/>
                </a:solidFill>
              </a:rPr>
              <a:t> — уникальное имя элемента, которое используется для изменения его стиля и обращения к нему через </a:t>
            </a:r>
            <a:r>
              <a:rPr lang="ru-RU" sz="2400" b="1" dirty="0" err="1" smtClean="0">
                <a:solidFill>
                  <a:schemeClr val="bg1"/>
                </a:solidFill>
              </a:rPr>
              <a:t>скрипты</a:t>
            </a:r>
            <a:r>
              <a:rPr lang="ru-RU" sz="2400" b="1" dirty="0" smtClean="0">
                <a:solidFill>
                  <a:schemeClr val="bg1"/>
                </a:solidFill>
              </a:rPr>
              <a:t>. Идентификатор в коде документа должен быть в единственном экземпляре, иными словами, встречаться только один раз</a:t>
            </a:r>
          </a:p>
          <a:p>
            <a:endParaRPr lang="ru-RU" sz="2400" b="1" dirty="0" smtClean="0">
              <a:solidFill>
                <a:schemeClr val="bg1"/>
              </a:solidFill>
            </a:endParaRPr>
          </a:p>
          <a:p>
            <a:r>
              <a:rPr lang="en-US" sz="2000" b="1" dirty="0" smtClean="0">
                <a:solidFill>
                  <a:schemeClr val="bg1"/>
                </a:solidFill>
              </a:rPr>
              <a:t>&lt;p&gt;&lt;a id="top"&gt;&lt;/a&gt;&lt;/p&gt;  </a:t>
            </a:r>
          </a:p>
          <a:p>
            <a:endParaRPr lang="en-US" sz="2000" b="1" dirty="0" smtClean="0">
              <a:solidFill>
                <a:schemeClr val="bg1"/>
              </a:solidFill>
            </a:endParaRPr>
          </a:p>
          <a:p>
            <a:r>
              <a:rPr lang="en-US" sz="2000" b="1" dirty="0" smtClean="0">
                <a:solidFill>
                  <a:schemeClr val="bg1"/>
                </a:solidFill>
              </a:rPr>
              <a:t>&lt;p style="height:3000px;"&gt;</a:t>
            </a:r>
            <a:r>
              <a:rPr lang="ru-RU" sz="2000" b="1" dirty="0" smtClean="0">
                <a:solidFill>
                  <a:schemeClr val="bg1"/>
                </a:solidFill>
              </a:rPr>
              <a:t>Здесь много-много текста. Прокручивай его вниз. Или нажмите &lt;</a:t>
            </a:r>
            <a:r>
              <a:rPr lang="en-US" sz="2000" b="1" dirty="0" smtClean="0">
                <a:solidFill>
                  <a:schemeClr val="bg1"/>
                </a:solidFill>
              </a:rPr>
              <a:t>a </a:t>
            </a:r>
            <a:r>
              <a:rPr lang="en-US" sz="2000" b="1" dirty="0" err="1" smtClean="0">
                <a:solidFill>
                  <a:schemeClr val="bg1"/>
                </a:solidFill>
              </a:rPr>
              <a:t>href</a:t>
            </a:r>
            <a:r>
              <a:rPr lang="en-US" sz="2000" b="1" dirty="0" smtClean="0">
                <a:solidFill>
                  <a:schemeClr val="bg1"/>
                </a:solidFill>
              </a:rPr>
              <a:t>="#bottom"&gt;</a:t>
            </a:r>
            <a:r>
              <a:rPr lang="ru-RU" sz="2000" b="1" dirty="0" smtClean="0">
                <a:solidFill>
                  <a:schemeClr val="bg1"/>
                </a:solidFill>
              </a:rPr>
              <a:t>Вниз&lt;/</a:t>
            </a:r>
            <a:r>
              <a:rPr lang="en-US" sz="2000" b="1" dirty="0" smtClean="0">
                <a:solidFill>
                  <a:schemeClr val="bg1"/>
                </a:solidFill>
              </a:rPr>
              <a:t>a&gt; &lt;/p&gt;</a:t>
            </a:r>
          </a:p>
          <a:p>
            <a:r>
              <a:rPr lang="en-US" sz="2000" b="1" dirty="0" smtClean="0">
                <a:solidFill>
                  <a:schemeClr val="bg1"/>
                </a:solidFill>
              </a:rPr>
              <a:t>  </a:t>
            </a:r>
          </a:p>
          <a:p>
            <a:r>
              <a:rPr lang="en-US" sz="2000" b="1" dirty="0" smtClean="0">
                <a:solidFill>
                  <a:schemeClr val="bg1"/>
                </a:solidFill>
              </a:rPr>
              <a:t>&lt;p&gt;&lt;a </a:t>
            </a:r>
            <a:r>
              <a:rPr lang="en-US" sz="2000" b="1" dirty="0" err="1" smtClean="0">
                <a:solidFill>
                  <a:schemeClr val="bg1"/>
                </a:solidFill>
              </a:rPr>
              <a:t>href</a:t>
            </a:r>
            <a:r>
              <a:rPr lang="en-US" sz="2000" b="1" dirty="0" smtClean="0">
                <a:solidFill>
                  <a:schemeClr val="bg1"/>
                </a:solidFill>
              </a:rPr>
              <a:t>="#top"&gt;</a:t>
            </a:r>
            <a:r>
              <a:rPr lang="ru-RU" sz="2000" b="1" dirty="0" smtClean="0">
                <a:solidFill>
                  <a:schemeClr val="bg1"/>
                </a:solidFill>
              </a:rPr>
              <a:t>Наверх&lt;/</a:t>
            </a:r>
            <a:r>
              <a:rPr lang="en-US" sz="2000" b="1" dirty="0" smtClean="0">
                <a:solidFill>
                  <a:schemeClr val="bg1"/>
                </a:solidFill>
              </a:rPr>
              <a:t>a&gt;&lt;/p&gt; </a:t>
            </a:r>
          </a:p>
          <a:p>
            <a:r>
              <a:rPr lang="en-US" sz="2000" b="1" dirty="0" smtClean="0">
                <a:solidFill>
                  <a:schemeClr val="bg1"/>
                </a:solidFill>
              </a:rPr>
              <a:t>&lt;p&gt;&lt;a id="bottom"&gt;&lt;/a&gt;&lt;/p&gt; </a:t>
            </a:r>
            <a:endParaRPr lang="ru-RU" sz="2400" b="1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260648"/>
            <a:ext cx="864096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 smtClean="0">
                <a:solidFill>
                  <a:schemeClr val="bg1"/>
                </a:solidFill>
              </a:rPr>
              <a:t>С помощью</a:t>
            </a:r>
            <a:r>
              <a:rPr lang="en-US" sz="2400" b="1" dirty="0" smtClean="0">
                <a:solidFill>
                  <a:schemeClr val="bg1"/>
                </a:solidFill>
              </a:rPr>
              <a:t> id </a:t>
            </a:r>
            <a:r>
              <a:rPr lang="ru-RU" sz="2400" b="1" dirty="0" smtClean="0">
                <a:solidFill>
                  <a:schemeClr val="bg1"/>
                </a:solidFill>
              </a:rPr>
              <a:t>можно создать ссылку на определенный элемент в тексте имеющий </a:t>
            </a:r>
            <a:r>
              <a:rPr lang="en-US" sz="2400" b="1" dirty="0" smtClean="0">
                <a:solidFill>
                  <a:schemeClr val="bg1"/>
                </a:solidFill>
              </a:rPr>
              <a:t>id</a:t>
            </a:r>
          </a:p>
          <a:p>
            <a:endParaRPr lang="en-US" sz="2400" b="1" dirty="0" smtClean="0">
              <a:solidFill>
                <a:schemeClr val="bg1"/>
              </a:solidFill>
            </a:endParaRPr>
          </a:p>
          <a:p>
            <a:r>
              <a:rPr lang="ru-RU" sz="2400" b="1" dirty="0" smtClean="0">
                <a:solidFill>
                  <a:schemeClr val="bg1"/>
                </a:solidFill>
              </a:rPr>
              <a:t>&lt;</a:t>
            </a:r>
            <a:r>
              <a:rPr lang="ru-RU" sz="2400" b="1" dirty="0" err="1" smtClean="0">
                <a:solidFill>
                  <a:schemeClr val="bg1"/>
                </a:solidFill>
              </a:rPr>
              <a:t>p</a:t>
            </a:r>
            <a:r>
              <a:rPr lang="ru-RU" sz="2400" b="1" dirty="0" smtClean="0">
                <a:solidFill>
                  <a:schemeClr val="bg1"/>
                </a:solidFill>
              </a:rPr>
              <a:t>&gt;&lt;</a:t>
            </a:r>
            <a:r>
              <a:rPr lang="ru-RU" sz="2400" b="1" dirty="0" err="1" smtClean="0">
                <a:solidFill>
                  <a:schemeClr val="bg1"/>
                </a:solidFill>
              </a:rPr>
              <a:t>a</a:t>
            </a:r>
            <a:r>
              <a:rPr lang="ru-RU" sz="2400" b="1" dirty="0" smtClean="0">
                <a:solidFill>
                  <a:schemeClr val="bg1"/>
                </a:solidFill>
              </a:rPr>
              <a:t> </a:t>
            </a:r>
            <a:r>
              <a:rPr lang="ru-RU" sz="2400" b="1" dirty="0" err="1" smtClean="0">
                <a:solidFill>
                  <a:schemeClr val="bg1"/>
                </a:solidFill>
              </a:rPr>
              <a:t>href=</a:t>
            </a:r>
            <a:r>
              <a:rPr lang="ru-RU" sz="2400" b="1" dirty="0" smtClean="0">
                <a:solidFill>
                  <a:schemeClr val="bg1"/>
                </a:solidFill>
              </a:rPr>
              <a:t>"https://etikket.ru/etiket-v-internete/etiket-v-internete.html#h2-internet-etiket-i-bezopasnost"&gt;Ссылка на второй абзац статьи&lt;/</a:t>
            </a:r>
            <a:r>
              <a:rPr lang="ru-RU" sz="2400" b="1" dirty="0" err="1" smtClean="0">
                <a:solidFill>
                  <a:schemeClr val="bg1"/>
                </a:solidFill>
              </a:rPr>
              <a:t>a</a:t>
            </a:r>
            <a:r>
              <a:rPr lang="ru-RU" sz="2400" b="1" dirty="0" smtClean="0">
                <a:solidFill>
                  <a:schemeClr val="bg1"/>
                </a:solidFill>
              </a:rPr>
              <a:t>&gt;&lt;/</a:t>
            </a:r>
            <a:r>
              <a:rPr lang="ru-RU" sz="2400" b="1" dirty="0" err="1" smtClean="0">
                <a:solidFill>
                  <a:schemeClr val="bg1"/>
                </a:solidFill>
              </a:rPr>
              <a:t>p</a:t>
            </a:r>
            <a:r>
              <a:rPr lang="ru-RU" sz="2400" b="1" dirty="0" smtClean="0">
                <a:solidFill>
                  <a:schemeClr val="bg1"/>
                </a:solidFill>
              </a:rPr>
              <a:t>&gt;</a:t>
            </a:r>
            <a:endParaRPr lang="en-US" sz="2400" b="1" dirty="0" smtClean="0">
              <a:solidFill>
                <a:schemeClr val="bg1"/>
              </a:solidFill>
            </a:endParaRPr>
          </a:p>
          <a:p>
            <a:endParaRPr lang="en-US" sz="2400" b="1" dirty="0" smtClean="0">
              <a:solidFill>
                <a:schemeClr val="bg1"/>
              </a:solidFill>
            </a:endParaRPr>
          </a:p>
          <a:p>
            <a:r>
              <a:rPr lang="ru-RU" sz="2400" b="1" dirty="0" err="1" smtClean="0">
                <a:solidFill>
                  <a:schemeClr val="bg1"/>
                </a:solidFill>
              </a:rPr>
              <a:t>Скрипты</a:t>
            </a:r>
            <a:r>
              <a:rPr lang="ru-RU" sz="2400" b="1" dirty="0" smtClean="0">
                <a:solidFill>
                  <a:schemeClr val="bg1"/>
                </a:solidFill>
              </a:rPr>
              <a:t> работают только с </a:t>
            </a:r>
            <a:r>
              <a:rPr lang="en-US" sz="2400" b="1" dirty="0" smtClean="0">
                <a:solidFill>
                  <a:schemeClr val="bg1"/>
                </a:solidFill>
              </a:rPr>
              <a:t>id</a:t>
            </a:r>
            <a:endParaRPr lang="ru-RU" sz="2400" b="1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260648"/>
            <a:ext cx="864096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 smtClean="0">
                <a:solidFill>
                  <a:schemeClr val="bg1"/>
                </a:solidFill>
              </a:rPr>
              <a:t>Графические ссылки в </a:t>
            </a:r>
            <a:r>
              <a:rPr lang="en-US" sz="2400" b="1" dirty="0" smtClean="0">
                <a:solidFill>
                  <a:schemeClr val="bg1"/>
                </a:solidFill>
              </a:rPr>
              <a:t>HTML</a:t>
            </a:r>
            <a:endParaRPr lang="ru-RU" sz="2400" b="1" dirty="0" smtClean="0">
              <a:solidFill>
                <a:schemeClr val="bg1"/>
              </a:solidFill>
            </a:endParaRPr>
          </a:p>
          <a:p>
            <a:endParaRPr lang="ru-RU" sz="2400" b="1" dirty="0" smtClean="0">
              <a:solidFill>
                <a:schemeClr val="bg1"/>
              </a:solidFill>
            </a:endParaRPr>
          </a:p>
          <a:p>
            <a:r>
              <a:rPr lang="en-US" sz="2400" b="1" dirty="0" smtClean="0">
                <a:solidFill>
                  <a:schemeClr val="bg1"/>
                </a:solidFill>
              </a:rPr>
              <a:t>&lt;a </a:t>
            </a:r>
            <a:r>
              <a:rPr lang="en-US" sz="2400" b="1" dirty="0" err="1" smtClean="0">
                <a:solidFill>
                  <a:schemeClr val="bg1"/>
                </a:solidFill>
              </a:rPr>
              <a:t>href</a:t>
            </a:r>
            <a:r>
              <a:rPr lang="en-US" sz="2400" b="1" dirty="0" smtClean="0">
                <a:solidFill>
                  <a:schemeClr val="bg1"/>
                </a:solidFill>
              </a:rPr>
              <a:t>="#" target="_blank"&gt;&lt;</a:t>
            </a:r>
            <a:r>
              <a:rPr lang="en-US" sz="2400" b="1" dirty="0" err="1" smtClean="0">
                <a:solidFill>
                  <a:schemeClr val="bg1"/>
                </a:solidFill>
              </a:rPr>
              <a:t>img</a:t>
            </a:r>
            <a:r>
              <a:rPr lang="en-US" sz="2400" b="1" dirty="0" smtClean="0">
                <a:solidFill>
                  <a:schemeClr val="bg1"/>
                </a:solidFill>
              </a:rPr>
              <a:t> </a:t>
            </a:r>
            <a:r>
              <a:rPr lang="en-US" sz="2400" b="1" dirty="0" err="1" smtClean="0">
                <a:solidFill>
                  <a:schemeClr val="bg1"/>
                </a:solidFill>
              </a:rPr>
              <a:t>src</a:t>
            </a:r>
            <a:r>
              <a:rPr lang="en-US" sz="2400" b="1" dirty="0" smtClean="0">
                <a:solidFill>
                  <a:schemeClr val="bg1"/>
                </a:solidFill>
              </a:rPr>
              <a:t>= "image.jpg" alt="</a:t>
            </a:r>
            <a:r>
              <a:rPr lang="ru-RU" sz="2400" b="1" dirty="0" smtClean="0">
                <a:solidFill>
                  <a:schemeClr val="bg1"/>
                </a:solidFill>
              </a:rPr>
              <a:t>Эта картинка является ссылкой</a:t>
            </a:r>
            <a:r>
              <a:rPr lang="en-US" sz="2400" b="1" dirty="0" smtClean="0">
                <a:solidFill>
                  <a:schemeClr val="bg1"/>
                </a:solidFill>
              </a:rPr>
              <a:t>"&gt;&lt;/a&gt;</a:t>
            </a:r>
            <a:endParaRPr lang="ru-RU" sz="2400" b="1" dirty="0" smtClean="0">
              <a:solidFill>
                <a:schemeClr val="bg1"/>
              </a:solidFill>
            </a:endParaRPr>
          </a:p>
          <a:p>
            <a:endParaRPr lang="ru-RU" sz="2400" b="1" dirty="0" smtClean="0">
              <a:solidFill>
                <a:schemeClr val="bg1"/>
              </a:solidFill>
            </a:endParaRPr>
          </a:p>
          <a:p>
            <a:r>
              <a:rPr lang="en-US" sz="2400" b="1" dirty="0" smtClean="0">
                <a:solidFill>
                  <a:schemeClr val="bg1"/>
                </a:solidFill>
              </a:rPr>
              <a:t>&lt;a </a:t>
            </a:r>
            <a:r>
              <a:rPr lang="en-US" sz="2400" b="1" dirty="0" err="1" smtClean="0">
                <a:solidFill>
                  <a:schemeClr val="bg1"/>
                </a:solidFill>
              </a:rPr>
              <a:t>href</a:t>
            </a:r>
            <a:r>
              <a:rPr lang="en-US" sz="2400" b="1" dirty="0" smtClean="0">
                <a:solidFill>
                  <a:schemeClr val="bg1"/>
                </a:solidFill>
              </a:rPr>
              <a:t>="#"&gt;&lt;</a:t>
            </a:r>
            <a:r>
              <a:rPr lang="en-US" sz="2400" b="1" dirty="0" err="1" smtClean="0">
                <a:solidFill>
                  <a:schemeClr val="bg1"/>
                </a:solidFill>
              </a:rPr>
              <a:t>img</a:t>
            </a:r>
            <a:r>
              <a:rPr lang="ru-RU" sz="2400" b="1" dirty="0" smtClean="0">
                <a:solidFill>
                  <a:schemeClr val="bg1"/>
                </a:solidFill>
              </a:rPr>
              <a:t> </a:t>
            </a:r>
            <a:r>
              <a:rPr lang="en-US" sz="2400" b="1" dirty="0" smtClean="0">
                <a:solidFill>
                  <a:schemeClr val="bg1"/>
                </a:solidFill>
              </a:rPr>
              <a:t>class="link" </a:t>
            </a:r>
            <a:r>
              <a:rPr lang="en-US" sz="2400" b="1" dirty="0" err="1" smtClean="0">
                <a:solidFill>
                  <a:schemeClr val="bg1"/>
                </a:solidFill>
              </a:rPr>
              <a:t>src</a:t>
            </a:r>
            <a:r>
              <a:rPr lang="en-US" sz="2400" b="1" dirty="0" smtClean="0">
                <a:solidFill>
                  <a:schemeClr val="bg1"/>
                </a:solidFill>
              </a:rPr>
              <a:t>= "image.jpg" alt="</a:t>
            </a:r>
            <a:r>
              <a:rPr lang="ru-RU" sz="2400" b="1" dirty="0" smtClean="0">
                <a:solidFill>
                  <a:schemeClr val="bg1"/>
                </a:solidFill>
              </a:rPr>
              <a:t>Эта картинка является ссылкой</a:t>
            </a:r>
            <a:r>
              <a:rPr lang="en-US" sz="2400" b="1" dirty="0" smtClean="0">
                <a:solidFill>
                  <a:schemeClr val="bg1"/>
                </a:solidFill>
              </a:rPr>
              <a:t>"&gt;&lt;/a&gt;</a:t>
            </a:r>
            <a:endParaRPr lang="ru-RU" sz="2400" b="1" dirty="0" smtClean="0">
              <a:solidFill>
                <a:schemeClr val="bg1"/>
              </a:solidFill>
            </a:endParaRPr>
          </a:p>
          <a:p>
            <a:endParaRPr lang="ru-RU" sz="2400" b="1" dirty="0" smtClean="0">
              <a:solidFill>
                <a:schemeClr val="bg1"/>
              </a:solidFill>
            </a:endParaRPr>
          </a:p>
          <a:p>
            <a:r>
              <a:rPr lang="en-US" sz="2400" b="1" dirty="0" smtClean="0">
                <a:solidFill>
                  <a:schemeClr val="bg1"/>
                </a:solidFill>
              </a:rPr>
              <a:t>&lt;a </a:t>
            </a:r>
            <a:r>
              <a:rPr lang="en-US" sz="2400" b="1" dirty="0" err="1" smtClean="0">
                <a:solidFill>
                  <a:schemeClr val="bg1"/>
                </a:solidFill>
              </a:rPr>
              <a:t>href</a:t>
            </a:r>
            <a:r>
              <a:rPr lang="en-US" sz="2400" b="1" dirty="0" smtClean="0">
                <a:solidFill>
                  <a:schemeClr val="bg1"/>
                </a:solidFill>
              </a:rPr>
              <a:t>="#"&gt;&lt;</a:t>
            </a:r>
            <a:r>
              <a:rPr lang="en-US" sz="2400" b="1" dirty="0" err="1" smtClean="0">
                <a:solidFill>
                  <a:schemeClr val="bg1"/>
                </a:solidFill>
              </a:rPr>
              <a:t>img</a:t>
            </a:r>
            <a:r>
              <a:rPr lang="en-US" sz="2400" b="1" dirty="0" smtClean="0">
                <a:solidFill>
                  <a:schemeClr val="bg1"/>
                </a:solidFill>
              </a:rPr>
              <a:t> </a:t>
            </a:r>
            <a:r>
              <a:rPr lang="en-US" sz="2400" b="1" dirty="0" err="1" smtClean="0">
                <a:solidFill>
                  <a:schemeClr val="bg1"/>
                </a:solidFill>
              </a:rPr>
              <a:t>src</a:t>
            </a:r>
            <a:r>
              <a:rPr lang="en-US" sz="2400" b="1" dirty="0" smtClean="0">
                <a:solidFill>
                  <a:schemeClr val="bg1"/>
                </a:solidFill>
              </a:rPr>
              <a:t>= "image.jpg" style="width:150px; border:2px green solid; padding:15px;"alt="</a:t>
            </a:r>
            <a:r>
              <a:rPr lang="ru-RU" sz="2400" b="1" dirty="0" smtClean="0">
                <a:solidFill>
                  <a:schemeClr val="bg1"/>
                </a:solidFill>
              </a:rPr>
              <a:t>Эта картинка является ссылкой"&gt;&lt;/</a:t>
            </a:r>
            <a:r>
              <a:rPr lang="en-US" sz="2400" b="1" dirty="0" smtClean="0">
                <a:solidFill>
                  <a:schemeClr val="bg1"/>
                </a:solidFill>
              </a:rPr>
              <a:t>a&gt;</a:t>
            </a:r>
            <a:endParaRPr lang="ru-RU" sz="2400" b="1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260648"/>
            <a:ext cx="8640960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 smtClean="0">
                <a:solidFill>
                  <a:schemeClr val="bg1"/>
                </a:solidFill>
              </a:rPr>
              <a:t>HTML</a:t>
            </a:r>
            <a:r>
              <a:rPr lang="ru-RU" sz="2400" b="1" dirty="0" smtClean="0">
                <a:solidFill>
                  <a:schemeClr val="bg1"/>
                </a:solidFill>
              </a:rPr>
              <a:t> карта ссылок</a:t>
            </a:r>
            <a:endParaRPr lang="en-US" sz="2400" b="1" dirty="0" smtClean="0">
              <a:solidFill>
                <a:schemeClr val="bg1"/>
              </a:solidFill>
            </a:endParaRPr>
          </a:p>
          <a:p>
            <a:endParaRPr lang="en-US" sz="2400" b="1" dirty="0" smtClean="0">
              <a:solidFill>
                <a:schemeClr val="bg1"/>
              </a:solidFill>
            </a:endParaRPr>
          </a:p>
          <a:p>
            <a:r>
              <a:rPr lang="ru-RU" sz="2400" b="1" dirty="0" smtClean="0">
                <a:solidFill>
                  <a:schemeClr val="bg1"/>
                </a:solidFill>
              </a:rPr>
              <a:t>Между тегами </a:t>
            </a:r>
            <a:r>
              <a:rPr lang="en-US" sz="2400" b="1" dirty="0" smtClean="0">
                <a:solidFill>
                  <a:schemeClr val="bg1"/>
                </a:solidFill>
              </a:rPr>
              <a:t>&lt;body&gt;&lt;/body&gt;</a:t>
            </a:r>
          </a:p>
          <a:p>
            <a:r>
              <a:rPr lang="en-US" sz="1600" b="1" dirty="0" smtClean="0">
                <a:solidFill>
                  <a:schemeClr val="bg1"/>
                </a:solidFill>
              </a:rPr>
              <a:t>&lt;</a:t>
            </a:r>
            <a:r>
              <a:rPr lang="en-US" sz="1600" b="1" dirty="0" err="1" smtClean="0">
                <a:solidFill>
                  <a:schemeClr val="bg1"/>
                </a:solidFill>
              </a:rPr>
              <a:t>img</a:t>
            </a:r>
            <a:r>
              <a:rPr lang="en-US" sz="1600" b="1" dirty="0" smtClean="0">
                <a:solidFill>
                  <a:schemeClr val="bg1"/>
                </a:solidFill>
              </a:rPr>
              <a:t> </a:t>
            </a:r>
            <a:r>
              <a:rPr lang="en-US" sz="1600" b="1" dirty="0" err="1" smtClean="0">
                <a:solidFill>
                  <a:schemeClr val="bg1"/>
                </a:solidFill>
              </a:rPr>
              <a:t>usemap</a:t>
            </a:r>
            <a:r>
              <a:rPr lang="en-US" sz="1600" b="1" dirty="0" smtClean="0">
                <a:solidFill>
                  <a:schemeClr val="bg1"/>
                </a:solidFill>
              </a:rPr>
              <a:t>="#urlmapfoto1" </a:t>
            </a:r>
            <a:r>
              <a:rPr lang="en-US" sz="1600" b="1" dirty="0" err="1" smtClean="0">
                <a:solidFill>
                  <a:schemeClr val="bg1"/>
                </a:solidFill>
              </a:rPr>
              <a:t>src</a:t>
            </a:r>
            <a:r>
              <a:rPr lang="en-US" sz="1600" b="1" dirty="0" smtClean="0">
                <a:solidFill>
                  <a:schemeClr val="bg1"/>
                </a:solidFill>
              </a:rPr>
              <a:t>="</a:t>
            </a:r>
            <a:r>
              <a:rPr lang="ru-RU" sz="1600" b="1" dirty="0" smtClean="0">
                <a:solidFill>
                  <a:schemeClr val="bg1"/>
                </a:solidFill>
              </a:rPr>
              <a:t>ссылка на фото</a:t>
            </a:r>
            <a:r>
              <a:rPr lang="en-US" sz="1600" b="1" dirty="0" smtClean="0">
                <a:solidFill>
                  <a:schemeClr val="bg1"/>
                </a:solidFill>
              </a:rPr>
              <a:t>"&gt;</a:t>
            </a:r>
            <a:endParaRPr lang="ru-RU" sz="1600" b="1" dirty="0" smtClean="0">
              <a:solidFill>
                <a:schemeClr val="bg1"/>
              </a:solidFill>
            </a:endParaRPr>
          </a:p>
          <a:p>
            <a:r>
              <a:rPr lang="en-US" sz="1600" b="1" dirty="0" smtClean="0">
                <a:solidFill>
                  <a:schemeClr val="bg1"/>
                </a:solidFill>
              </a:rPr>
              <a:t>&lt;map name="urlmapfoto1"&gt;</a:t>
            </a:r>
            <a:endParaRPr lang="ru-RU" sz="1600" b="1" dirty="0" smtClean="0">
              <a:solidFill>
                <a:schemeClr val="bg1"/>
              </a:solidFill>
            </a:endParaRPr>
          </a:p>
          <a:p>
            <a:endParaRPr lang="ru-RU" sz="1600" b="1" dirty="0" smtClean="0">
              <a:solidFill>
                <a:schemeClr val="bg1"/>
              </a:solidFill>
            </a:endParaRPr>
          </a:p>
          <a:p>
            <a:r>
              <a:rPr lang="en-US" sz="1600" b="1" dirty="0" smtClean="0">
                <a:solidFill>
                  <a:schemeClr val="bg1"/>
                </a:solidFill>
              </a:rPr>
              <a:t>&lt;area shape="poly" </a:t>
            </a:r>
            <a:r>
              <a:rPr lang="en-US" sz="1600" b="1" dirty="0" err="1" smtClean="0">
                <a:solidFill>
                  <a:schemeClr val="bg1"/>
                </a:solidFill>
              </a:rPr>
              <a:t>coords</a:t>
            </a:r>
            <a:r>
              <a:rPr lang="en-US" sz="1600" b="1" dirty="0" smtClean="0">
                <a:solidFill>
                  <a:schemeClr val="bg1"/>
                </a:solidFill>
              </a:rPr>
              <a:t>="636,293,589,408,684,408" title="</a:t>
            </a:r>
            <a:r>
              <a:rPr lang="ru-RU" sz="1600" b="1" dirty="0" smtClean="0">
                <a:solidFill>
                  <a:schemeClr val="bg1"/>
                </a:solidFill>
              </a:rPr>
              <a:t>Чистка носа" </a:t>
            </a:r>
            <a:r>
              <a:rPr lang="en-US" sz="1600" b="1" dirty="0" err="1" smtClean="0">
                <a:solidFill>
                  <a:schemeClr val="bg1"/>
                </a:solidFill>
              </a:rPr>
              <a:t>href</a:t>
            </a:r>
            <a:r>
              <a:rPr lang="en-US" sz="1600" b="1" dirty="0" smtClean="0">
                <a:solidFill>
                  <a:schemeClr val="bg1"/>
                </a:solidFill>
              </a:rPr>
              <a:t>="#</a:t>
            </a:r>
            <a:r>
              <a:rPr lang="en-US" sz="1600" b="1" dirty="0" err="1" smtClean="0">
                <a:solidFill>
                  <a:schemeClr val="bg1"/>
                </a:solidFill>
              </a:rPr>
              <a:t>green_link</a:t>
            </a:r>
            <a:r>
              <a:rPr lang="en-US" sz="1600" b="1" dirty="0" smtClean="0">
                <a:solidFill>
                  <a:schemeClr val="bg1"/>
                </a:solidFill>
              </a:rPr>
              <a:t>" data-title="</a:t>
            </a:r>
            <a:r>
              <a:rPr lang="ru-RU" sz="1600" b="1" dirty="0" smtClean="0">
                <a:solidFill>
                  <a:schemeClr val="bg1"/>
                </a:solidFill>
              </a:rPr>
              <a:t>Легкой движение </a:t>
            </a:r>
            <a:r>
              <a:rPr lang="ru-RU" sz="1600" b="1" dirty="0" err="1" smtClean="0">
                <a:solidFill>
                  <a:schemeClr val="bg1"/>
                </a:solidFill>
              </a:rPr>
              <a:t>шлефовальной</a:t>
            </a:r>
            <a:r>
              <a:rPr lang="ru-RU" sz="1600" b="1" dirty="0" smtClean="0">
                <a:solidFill>
                  <a:schemeClr val="bg1"/>
                </a:solidFill>
              </a:rPr>
              <a:t> машинки - и ваш носик чистый до самых костей"&gt;</a:t>
            </a:r>
          </a:p>
          <a:p>
            <a:endParaRPr lang="ru-RU" sz="1600" b="1" dirty="0" smtClean="0">
              <a:solidFill>
                <a:schemeClr val="bg1"/>
              </a:solidFill>
            </a:endParaRPr>
          </a:p>
          <a:p>
            <a:r>
              <a:rPr lang="en-US" sz="1600" b="1" dirty="0" smtClean="0">
                <a:solidFill>
                  <a:schemeClr val="bg1"/>
                </a:solidFill>
              </a:rPr>
              <a:t>&lt;area shape="</a:t>
            </a:r>
            <a:r>
              <a:rPr lang="en-US" sz="1600" b="1" dirty="0" err="1" smtClean="0">
                <a:solidFill>
                  <a:schemeClr val="bg1"/>
                </a:solidFill>
              </a:rPr>
              <a:t>rect</a:t>
            </a:r>
            <a:r>
              <a:rPr lang="en-US" sz="1600" b="1" dirty="0" smtClean="0">
                <a:solidFill>
                  <a:schemeClr val="bg1"/>
                </a:solidFill>
              </a:rPr>
              <a:t>" </a:t>
            </a:r>
            <a:r>
              <a:rPr lang="en-US" sz="1600" b="1" dirty="0" err="1" smtClean="0">
                <a:solidFill>
                  <a:schemeClr val="bg1"/>
                </a:solidFill>
              </a:rPr>
              <a:t>coords</a:t>
            </a:r>
            <a:r>
              <a:rPr lang="en-US" sz="1600" b="1" dirty="0" smtClean="0">
                <a:solidFill>
                  <a:schemeClr val="bg1"/>
                </a:solidFill>
              </a:rPr>
              <a:t>="493,331,566,408" title="</a:t>
            </a:r>
            <a:r>
              <a:rPr lang="ru-RU" sz="1600" b="1" dirty="0" smtClean="0">
                <a:solidFill>
                  <a:schemeClr val="bg1"/>
                </a:solidFill>
              </a:rPr>
              <a:t>Нарумяним щеки" </a:t>
            </a:r>
            <a:r>
              <a:rPr lang="en-US" sz="1600" b="1" dirty="0" err="1" smtClean="0">
                <a:solidFill>
                  <a:schemeClr val="bg1"/>
                </a:solidFill>
              </a:rPr>
              <a:t>href</a:t>
            </a:r>
            <a:r>
              <a:rPr lang="en-US" sz="1600" b="1" dirty="0" smtClean="0">
                <a:solidFill>
                  <a:schemeClr val="bg1"/>
                </a:solidFill>
              </a:rPr>
              <a:t>="#</a:t>
            </a:r>
            <a:r>
              <a:rPr lang="en-US" sz="1600" b="1" dirty="0" err="1" smtClean="0">
                <a:solidFill>
                  <a:schemeClr val="bg1"/>
                </a:solidFill>
              </a:rPr>
              <a:t>red_link</a:t>
            </a:r>
            <a:r>
              <a:rPr lang="en-US" sz="1600" b="1" dirty="0" smtClean="0">
                <a:solidFill>
                  <a:schemeClr val="bg1"/>
                </a:solidFill>
              </a:rPr>
              <a:t>" data-title="</a:t>
            </a:r>
            <a:r>
              <a:rPr lang="ru-RU" sz="1600" b="1" dirty="0" smtClean="0">
                <a:solidFill>
                  <a:schemeClr val="bg1"/>
                </a:solidFill>
              </a:rPr>
              <a:t>Наш специалист заслуженный мастер спорта по волейболу с легкостью сделает Ваши щеки румяными"&gt;</a:t>
            </a:r>
          </a:p>
          <a:p>
            <a:endParaRPr lang="ru-RU" sz="1600" b="1" dirty="0" smtClean="0">
              <a:solidFill>
                <a:schemeClr val="bg1"/>
              </a:solidFill>
            </a:endParaRPr>
          </a:p>
          <a:p>
            <a:r>
              <a:rPr lang="en-US" sz="1600" b="1" dirty="0" smtClean="0">
                <a:solidFill>
                  <a:schemeClr val="bg1"/>
                </a:solidFill>
              </a:rPr>
              <a:t>&lt;area shape="circle" </a:t>
            </a:r>
            <a:r>
              <a:rPr lang="en-US" sz="1600" b="1" dirty="0" err="1" smtClean="0">
                <a:solidFill>
                  <a:schemeClr val="bg1"/>
                </a:solidFill>
              </a:rPr>
              <a:t>coords</a:t>
            </a:r>
            <a:r>
              <a:rPr lang="en-US" sz="1600" b="1" dirty="0" smtClean="0">
                <a:solidFill>
                  <a:schemeClr val="bg1"/>
                </a:solidFill>
              </a:rPr>
              <a:t>="728,285,15" title="</a:t>
            </a:r>
            <a:r>
              <a:rPr lang="ru-RU" sz="1600" b="1" dirty="0" smtClean="0">
                <a:solidFill>
                  <a:schemeClr val="bg1"/>
                </a:solidFill>
              </a:rPr>
              <a:t>Линзы для глаз любого цвета" </a:t>
            </a:r>
            <a:r>
              <a:rPr lang="en-US" sz="1600" b="1" dirty="0" err="1" smtClean="0">
                <a:solidFill>
                  <a:schemeClr val="bg1"/>
                </a:solidFill>
              </a:rPr>
              <a:t>href</a:t>
            </a:r>
            <a:r>
              <a:rPr lang="en-US" sz="1600" b="1" dirty="0" smtClean="0">
                <a:solidFill>
                  <a:schemeClr val="bg1"/>
                </a:solidFill>
              </a:rPr>
              <a:t>="#</a:t>
            </a:r>
            <a:r>
              <a:rPr lang="en-US" sz="1600" b="1" dirty="0" err="1" smtClean="0">
                <a:solidFill>
                  <a:schemeClr val="bg1"/>
                </a:solidFill>
              </a:rPr>
              <a:t>blue_link</a:t>
            </a:r>
            <a:r>
              <a:rPr lang="en-US" sz="1600" b="1" dirty="0" smtClean="0">
                <a:solidFill>
                  <a:schemeClr val="bg1"/>
                </a:solidFill>
              </a:rPr>
              <a:t>" class="</a:t>
            </a:r>
            <a:r>
              <a:rPr lang="en-US" sz="1600" b="1" dirty="0" err="1" smtClean="0">
                <a:solidFill>
                  <a:schemeClr val="bg1"/>
                </a:solidFill>
              </a:rPr>
              <a:t>glaz</a:t>
            </a:r>
            <a:r>
              <a:rPr lang="en-US" sz="1600" b="1" dirty="0" smtClean="0">
                <a:solidFill>
                  <a:schemeClr val="bg1"/>
                </a:solidFill>
              </a:rPr>
              <a:t>"&gt;</a:t>
            </a:r>
            <a:endParaRPr lang="ru-RU" sz="1600" b="1" dirty="0" smtClean="0">
              <a:solidFill>
                <a:schemeClr val="bg1"/>
              </a:solidFill>
            </a:endParaRPr>
          </a:p>
          <a:p>
            <a:endParaRPr lang="ru-RU" sz="1600" b="1" dirty="0" smtClean="0">
              <a:solidFill>
                <a:schemeClr val="bg1"/>
              </a:solidFill>
            </a:endParaRPr>
          </a:p>
          <a:p>
            <a:r>
              <a:rPr lang="en-US" sz="1600" b="1" dirty="0" smtClean="0">
                <a:solidFill>
                  <a:schemeClr val="bg1"/>
                </a:solidFill>
              </a:rPr>
              <a:t> &lt;/map&gt;</a:t>
            </a:r>
            <a:endParaRPr lang="ru-RU" sz="1600" b="1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260648"/>
            <a:ext cx="8640960" cy="57554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 smtClean="0">
                <a:solidFill>
                  <a:schemeClr val="bg1"/>
                </a:solidFill>
              </a:rPr>
              <a:t>HTML</a:t>
            </a:r>
            <a:r>
              <a:rPr lang="ru-RU" sz="2400" b="1" dirty="0" smtClean="0">
                <a:solidFill>
                  <a:schemeClr val="bg1"/>
                </a:solidFill>
              </a:rPr>
              <a:t> карта ссылок</a:t>
            </a:r>
            <a:endParaRPr lang="en-US" sz="2400" b="1" dirty="0" smtClean="0">
              <a:solidFill>
                <a:schemeClr val="bg1"/>
              </a:solidFill>
            </a:endParaRPr>
          </a:p>
          <a:p>
            <a:endParaRPr lang="en-US" sz="2400" b="1" dirty="0" smtClean="0">
              <a:solidFill>
                <a:schemeClr val="bg1"/>
              </a:solidFill>
            </a:endParaRPr>
          </a:p>
          <a:p>
            <a:r>
              <a:rPr lang="en-US" sz="1600" b="1" dirty="0" smtClean="0">
                <a:solidFill>
                  <a:schemeClr val="bg1"/>
                </a:solidFill>
              </a:rPr>
              <a:t>&lt;</a:t>
            </a:r>
            <a:r>
              <a:rPr lang="en-US" sz="1600" b="1" dirty="0" err="1" smtClean="0">
                <a:solidFill>
                  <a:schemeClr val="bg1"/>
                </a:solidFill>
              </a:rPr>
              <a:t>img</a:t>
            </a:r>
            <a:r>
              <a:rPr lang="ru-RU" sz="1600" b="1" dirty="0" smtClean="0">
                <a:solidFill>
                  <a:schemeClr val="bg1"/>
                </a:solidFill>
              </a:rPr>
              <a:t> </a:t>
            </a:r>
            <a:r>
              <a:rPr lang="en-US" sz="1600" b="1" dirty="0" err="1" smtClean="0">
                <a:solidFill>
                  <a:schemeClr val="bg1"/>
                </a:solidFill>
              </a:rPr>
              <a:t>usemap</a:t>
            </a:r>
            <a:r>
              <a:rPr lang="en-US" sz="1600" b="1" dirty="0" smtClean="0">
                <a:solidFill>
                  <a:schemeClr val="bg1"/>
                </a:solidFill>
              </a:rPr>
              <a:t>="#</a:t>
            </a:r>
            <a:r>
              <a:rPr lang="ru-RU" sz="1600" b="1" dirty="0" smtClean="0">
                <a:solidFill>
                  <a:schemeClr val="bg1"/>
                </a:solidFill>
              </a:rPr>
              <a:t>Название вашей карты</a:t>
            </a:r>
            <a:r>
              <a:rPr lang="en-US" sz="1600" b="1" dirty="0" smtClean="0">
                <a:solidFill>
                  <a:schemeClr val="bg1"/>
                </a:solidFill>
              </a:rPr>
              <a:t>" </a:t>
            </a:r>
            <a:r>
              <a:rPr lang="en-US" sz="1600" b="1" dirty="0" err="1" smtClean="0">
                <a:solidFill>
                  <a:schemeClr val="bg1"/>
                </a:solidFill>
              </a:rPr>
              <a:t>src</a:t>
            </a:r>
            <a:r>
              <a:rPr lang="en-US" sz="1600" b="1" dirty="0" smtClean="0">
                <a:solidFill>
                  <a:schemeClr val="bg1"/>
                </a:solidFill>
              </a:rPr>
              <a:t>="</a:t>
            </a:r>
            <a:r>
              <a:rPr lang="ru-RU" sz="1600" b="1" dirty="0" smtClean="0">
                <a:solidFill>
                  <a:schemeClr val="bg1"/>
                </a:solidFill>
              </a:rPr>
              <a:t>ссылка на фото</a:t>
            </a:r>
            <a:r>
              <a:rPr lang="en-US" sz="1600" b="1" dirty="0" smtClean="0">
                <a:solidFill>
                  <a:schemeClr val="bg1"/>
                </a:solidFill>
              </a:rPr>
              <a:t>"&gt;</a:t>
            </a:r>
            <a:endParaRPr lang="ru-RU" sz="1600" b="1" dirty="0" smtClean="0">
              <a:solidFill>
                <a:schemeClr val="bg1"/>
              </a:solidFill>
            </a:endParaRPr>
          </a:p>
          <a:p>
            <a:r>
              <a:rPr lang="en-US" sz="1600" b="1" dirty="0" smtClean="0">
                <a:solidFill>
                  <a:schemeClr val="bg1"/>
                </a:solidFill>
              </a:rPr>
              <a:t>&lt;map name="</a:t>
            </a:r>
            <a:r>
              <a:rPr lang="ru-RU" sz="1600" b="1" dirty="0" smtClean="0">
                <a:solidFill>
                  <a:schemeClr val="bg1"/>
                </a:solidFill>
              </a:rPr>
              <a:t>Название вашей карты</a:t>
            </a:r>
            <a:r>
              <a:rPr lang="en-US" sz="1600" b="1" dirty="0" smtClean="0">
                <a:solidFill>
                  <a:schemeClr val="bg1"/>
                </a:solidFill>
              </a:rPr>
              <a:t>"&gt;</a:t>
            </a:r>
            <a:endParaRPr lang="ru-RU" sz="1600" b="1" dirty="0" smtClean="0">
              <a:solidFill>
                <a:schemeClr val="bg1"/>
              </a:solidFill>
            </a:endParaRPr>
          </a:p>
          <a:p>
            <a:endParaRPr lang="ru-RU" sz="1600" b="1" dirty="0" smtClean="0">
              <a:solidFill>
                <a:schemeClr val="bg1"/>
              </a:solidFill>
            </a:endParaRPr>
          </a:p>
          <a:p>
            <a:r>
              <a:rPr lang="en-US" sz="1600" b="1" dirty="0" smtClean="0">
                <a:solidFill>
                  <a:schemeClr val="bg1"/>
                </a:solidFill>
              </a:rPr>
              <a:t>&lt;area shape= "</a:t>
            </a:r>
            <a:r>
              <a:rPr lang="ru-RU" sz="1600" b="1" dirty="0" smtClean="0">
                <a:solidFill>
                  <a:schemeClr val="bg1"/>
                </a:solidFill>
              </a:rPr>
              <a:t>Объект</a:t>
            </a:r>
            <a:r>
              <a:rPr lang="en-US" sz="1600" b="1" dirty="0" smtClean="0">
                <a:solidFill>
                  <a:schemeClr val="bg1"/>
                </a:solidFill>
              </a:rPr>
              <a:t>" </a:t>
            </a:r>
            <a:r>
              <a:rPr lang="en-US" sz="1600" b="1" dirty="0" err="1" smtClean="0">
                <a:solidFill>
                  <a:schemeClr val="bg1"/>
                </a:solidFill>
              </a:rPr>
              <a:t>coords</a:t>
            </a:r>
            <a:r>
              <a:rPr lang="en-US" sz="1600" b="1" dirty="0" smtClean="0">
                <a:solidFill>
                  <a:schemeClr val="bg1"/>
                </a:solidFill>
              </a:rPr>
              <a:t>= "</a:t>
            </a:r>
            <a:r>
              <a:rPr lang="ru-RU" sz="1600" b="1" dirty="0" smtClean="0">
                <a:solidFill>
                  <a:schemeClr val="bg1"/>
                </a:solidFill>
              </a:rPr>
              <a:t>Координаты</a:t>
            </a:r>
            <a:r>
              <a:rPr lang="en-US" sz="1600" b="1" dirty="0" smtClean="0">
                <a:solidFill>
                  <a:schemeClr val="bg1"/>
                </a:solidFill>
              </a:rPr>
              <a:t>" title= "</a:t>
            </a:r>
            <a:r>
              <a:rPr lang="ru-RU" sz="1600" b="1" dirty="0" smtClean="0">
                <a:solidFill>
                  <a:schemeClr val="bg1"/>
                </a:solidFill>
              </a:rPr>
              <a:t>Всплывающая подсказка" </a:t>
            </a:r>
            <a:r>
              <a:rPr lang="en-US" sz="1600" b="1" dirty="0" err="1" smtClean="0">
                <a:solidFill>
                  <a:schemeClr val="bg1"/>
                </a:solidFill>
              </a:rPr>
              <a:t>href</a:t>
            </a:r>
            <a:r>
              <a:rPr lang="en-US" sz="1600" b="1" dirty="0" smtClean="0">
                <a:solidFill>
                  <a:schemeClr val="bg1"/>
                </a:solidFill>
              </a:rPr>
              <a:t>= "</a:t>
            </a:r>
            <a:r>
              <a:rPr lang="ru-RU" sz="1600" b="1" dirty="0" smtClean="0">
                <a:solidFill>
                  <a:schemeClr val="bg1"/>
                </a:solidFill>
              </a:rPr>
              <a:t>Ссылка</a:t>
            </a:r>
            <a:r>
              <a:rPr lang="en-US" sz="1600" b="1" dirty="0" smtClean="0">
                <a:solidFill>
                  <a:schemeClr val="bg1"/>
                </a:solidFill>
              </a:rPr>
              <a:t>" data-title= "</a:t>
            </a:r>
            <a:r>
              <a:rPr lang="ru-RU" sz="1600" b="1" dirty="0" smtClean="0">
                <a:solidFill>
                  <a:schemeClr val="bg1"/>
                </a:solidFill>
              </a:rPr>
              <a:t>Всплывающий текст"&gt;</a:t>
            </a:r>
          </a:p>
          <a:p>
            <a:endParaRPr lang="ru-RU" sz="1600" b="1" dirty="0" smtClean="0">
              <a:solidFill>
                <a:schemeClr val="bg1"/>
              </a:solidFill>
            </a:endParaRPr>
          </a:p>
          <a:p>
            <a:r>
              <a:rPr lang="en-US" sz="1600" b="1" dirty="0" smtClean="0">
                <a:solidFill>
                  <a:schemeClr val="bg1"/>
                </a:solidFill>
              </a:rPr>
              <a:t>shape="poly"</a:t>
            </a:r>
            <a:r>
              <a:rPr lang="ru-RU" sz="1600" b="1" dirty="0" smtClean="0">
                <a:solidFill>
                  <a:schemeClr val="bg1"/>
                </a:solidFill>
              </a:rPr>
              <a:t> – Многоугольник - </a:t>
            </a:r>
            <a:r>
              <a:rPr lang="en-US" sz="1600" b="1" dirty="0" err="1" smtClean="0">
                <a:solidFill>
                  <a:schemeClr val="bg1"/>
                </a:solidFill>
              </a:rPr>
              <a:t>coords</a:t>
            </a:r>
            <a:r>
              <a:rPr lang="en-US" sz="1600" b="1" dirty="0" smtClean="0">
                <a:solidFill>
                  <a:schemeClr val="bg1"/>
                </a:solidFill>
              </a:rPr>
              <a:t> = (x1,y1,x2,y2,...,</a:t>
            </a:r>
            <a:r>
              <a:rPr lang="en-US" sz="1600" b="1" dirty="0" err="1" smtClean="0">
                <a:solidFill>
                  <a:schemeClr val="bg1"/>
                </a:solidFill>
              </a:rPr>
              <a:t>xn,yn</a:t>
            </a:r>
            <a:r>
              <a:rPr lang="en-US" sz="1600" b="1" dirty="0" smtClean="0">
                <a:solidFill>
                  <a:schemeClr val="bg1"/>
                </a:solidFill>
              </a:rPr>
              <a:t>), </a:t>
            </a:r>
            <a:r>
              <a:rPr lang="ru-RU" sz="1600" b="1" dirty="0" smtClean="0">
                <a:solidFill>
                  <a:schemeClr val="bg1"/>
                </a:solidFill>
              </a:rPr>
              <a:t>последовательно указываются координаты </a:t>
            </a:r>
            <a:r>
              <a:rPr lang="en-US" sz="1600" b="1" dirty="0" err="1" smtClean="0">
                <a:solidFill>
                  <a:schemeClr val="bg1"/>
                </a:solidFill>
              </a:rPr>
              <a:t>x,y</a:t>
            </a:r>
            <a:r>
              <a:rPr lang="en-US" sz="1600" b="1" dirty="0" smtClean="0">
                <a:solidFill>
                  <a:schemeClr val="bg1"/>
                </a:solidFill>
              </a:rPr>
              <a:t> </a:t>
            </a:r>
            <a:r>
              <a:rPr lang="ru-RU" sz="1600" b="1" dirty="0" smtClean="0">
                <a:solidFill>
                  <a:schemeClr val="bg1"/>
                </a:solidFill>
              </a:rPr>
              <a:t>каждой точки многоугольника;</a:t>
            </a:r>
          </a:p>
          <a:p>
            <a:endParaRPr lang="ru-RU" sz="1600" b="1" dirty="0" smtClean="0">
              <a:solidFill>
                <a:schemeClr val="bg1"/>
              </a:solidFill>
            </a:endParaRPr>
          </a:p>
          <a:p>
            <a:r>
              <a:rPr lang="en-US" sz="1600" b="1" dirty="0" smtClean="0">
                <a:solidFill>
                  <a:schemeClr val="bg1"/>
                </a:solidFill>
              </a:rPr>
              <a:t>shape=" </a:t>
            </a:r>
            <a:r>
              <a:rPr lang="en-US" sz="1600" b="1" dirty="0" err="1" smtClean="0">
                <a:solidFill>
                  <a:schemeClr val="bg1"/>
                </a:solidFill>
              </a:rPr>
              <a:t>rect</a:t>
            </a:r>
            <a:r>
              <a:rPr lang="en-US" sz="1600" b="1" dirty="0" smtClean="0">
                <a:solidFill>
                  <a:schemeClr val="bg1"/>
                </a:solidFill>
              </a:rPr>
              <a:t>"</a:t>
            </a:r>
            <a:r>
              <a:rPr lang="ru-RU" sz="1600" b="1" dirty="0" smtClean="0">
                <a:solidFill>
                  <a:schemeClr val="bg1"/>
                </a:solidFill>
              </a:rPr>
              <a:t> – Квадрат - </a:t>
            </a:r>
            <a:r>
              <a:rPr lang="en-US" sz="1600" b="1" dirty="0" err="1" smtClean="0">
                <a:solidFill>
                  <a:schemeClr val="bg1"/>
                </a:solidFill>
              </a:rPr>
              <a:t>coords</a:t>
            </a:r>
            <a:r>
              <a:rPr lang="en-US" sz="1600" b="1" dirty="0" smtClean="0">
                <a:solidFill>
                  <a:schemeClr val="bg1"/>
                </a:solidFill>
              </a:rPr>
              <a:t> = (x1,y1,x2,y2), </a:t>
            </a:r>
            <a:r>
              <a:rPr lang="ru-RU" sz="1600" b="1" dirty="0" smtClean="0">
                <a:solidFill>
                  <a:schemeClr val="bg1"/>
                </a:solidFill>
              </a:rPr>
              <a:t>где </a:t>
            </a:r>
            <a:r>
              <a:rPr lang="en-US" sz="1600" b="1" dirty="0" smtClean="0">
                <a:solidFill>
                  <a:schemeClr val="bg1"/>
                </a:solidFill>
              </a:rPr>
              <a:t>x1,y1 </a:t>
            </a:r>
            <a:r>
              <a:rPr lang="ru-RU" sz="1600" b="1" dirty="0" smtClean="0">
                <a:solidFill>
                  <a:schemeClr val="bg1"/>
                </a:solidFill>
              </a:rPr>
              <a:t>координаты левой верхней точки прямоугольника, </a:t>
            </a:r>
            <a:r>
              <a:rPr lang="en-US" sz="1600" b="1" dirty="0" smtClean="0">
                <a:solidFill>
                  <a:schemeClr val="bg1"/>
                </a:solidFill>
              </a:rPr>
              <a:t>x2,y2 - </a:t>
            </a:r>
            <a:r>
              <a:rPr lang="ru-RU" sz="1600" b="1" dirty="0" smtClean="0">
                <a:solidFill>
                  <a:schemeClr val="bg1"/>
                </a:solidFill>
              </a:rPr>
              <a:t>координаты нижний правой точки прямоугольника;</a:t>
            </a:r>
          </a:p>
          <a:p>
            <a:endParaRPr lang="ru-RU" sz="1600" b="1" dirty="0" smtClean="0">
              <a:solidFill>
                <a:schemeClr val="bg1"/>
              </a:solidFill>
            </a:endParaRPr>
          </a:p>
          <a:p>
            <a:r>
              <a:rPr lang="en-US" sz="1600" b="1" dirty="0" smtClean="0">
                <a:solidFill>
                  <a:schemeClr val="bg1"/>
                </a:solidFill>
              </a:rPr>
              <a:t>shape=" circle"</a:t>
            </a:r>
            <a:r>
              <a:rPr lang="ru-RU" sz="1600" b="1" dirty="0" smtClean="0">
                <a:solidFill>
                  <a:schemeClr val="bg1"/>
                </a:solidFill>
              </a:rPr>
              <a:t> – Круг - </a:t>
            </a:r>
            <a:r>
              <a:rPr lang="en-US" sz="1600" b="1" dirty="0" err="1" smtClean="0">
                <a:solidFill>
                  <a:schemeClr val="bg1"/>
                </a:solidFill>
              </a:rPr>
              <a:t>coords</a:t>
            </a:r>
            <a:r>
              <a:rPr lang="en-US" sz="1600" b="1" dirty="0" smtClean="0">
                <a:solidFill>
                  <a:schemeClr val="bg1"/>
                </a:solidFill>
              </a:rPr>
              <a:t> = (</a:t>
            </a:r>
            <a:r>
              <a:rPr lang="en-US" sz="1600" b="1" dirty="0" err="1" smtClean="0">
                <a:solidFill>
                  <a:schemeClr val="bg1"/>
                </a:solidFill>
              </a:rPr>
              <a:t>x,y,r</a:t>
            </a:r>
            <a:r>
              <a:rPr lang="en-US" sz="1600" b="1" dirty="0" smtClean="0">
                <a:solidFill>
                  <a:schemeClr val="bg1"/>
                </a:solidFill>
              </a:rPr>
              <a:t>), </a:t>
            </a:r>
            <a:r>
              <a:rPr lang="ru-RU" sz="1600" b="1" dirty="0" smtClean="0">
                <a:solidFill>
                  <a:schemeClr val="bg1"/>
                </a:solidFill>
              </a:rPr>
              <a:t>где </a:t>
            </a:r>
            <a:r>
              <a:rPr lang="en-US" sz="1600" b="1" dirty="0" err="1" smtClean="0">
                <a:solidFill>
                  <a:schemeClr val="bg1"/>
                </a:solidFill>
              </a:rPr>
              <a:t>x,y</a:t>
            </a:r>
            <a:r>
              <a:rPr lang="en-US" sz="1600" b="1" dirty="0" smtClean="0">
                <a:solidFill>
                  <a:schemeClr val="bg1"/>
                </a:solidFill>
              </a:rPr>
              <a:t> </a:t>
            </a:r>
            <a:r>
              <a:rPr lang="ru-RU" sz="1600" b="1" dirty="0" smtClean="0">
                <a:solidFill>
                  <a:schemeClr val="bg1"/>
                </a:solidFill>
              </a:rPr>
              <a:t>координаты центра круга, а </a:t>
            </a:r>
            <a:r>
              <a:rPr lang="en-US" sz="1600" b="1" dirty="0" smtClean="0">
                <a:solidFill>
                  <a:schemeClr val="bg1"/>
                </a:solidFill>
              </a:rPr>
              <a:t>r - </a:t>
            </a:r>
            <a:r>
              <a:rPr lang="ru-RU" sz="1600" b="1" dirty="0" smtClean="0">
                <a:solidFill>
                  <a:schemeClr val="bg1"/>
                </a:solidFill>
              </a:rPr>
              <a:t>радиус круга;</a:t>
            </a:r>
          </a:p>
          <a:p>
            <a:endParaRPr lang="ru-RU" sz="1600" b="1" dirty="0" smtClean="0">
              <a:solidFill>
                <a:schemeClr val="bg1"/>
              </a:solidFill>
            </a:endParaRPr>
          </a:p>
          <a:p>
            <a:r>
              <a:rPr lang="en-US" sz="1600" b="1" dirty="0" smtClean="0">
                <a:solidFill>
                  <a:schemeClr val="bg1"/>
                </a:solidFill>
              </a:rPr>
              <a:t> &lt;/map&gt;</a:t>
            </a:r>
            <a:endParaRPr lang="ru-RU" sz="1600" b="1" dirty="0" smtClean="0">
              <a:solidFill>
                <a:schemeClr val="bg1"/>
              </a:solidFill>
            </a:endParaRPr>
          </a:p>
          <a:p>
            <a:endParaRPr lang="ru-RU" sz="1600" b="1" dirty="0" smtClean="0">
              <a:solidFill>
                <a:schemeClr val="bg1"/>
              </a:solidFill>
            </a:endParaRPr>
          </a:p>
          <a:p>
            <a:r>
              <a:rPr lang="en-US" sz="1600" b="1" dirty="0" smtClean="0">
                <a:solidFill>
                  <a:schemeClr val="bg1"/>
                </a:solidFill>
              </a:rPr>
              <a:t>https://html5book.ru/images-in-html/</a:t>
            </a:r>
            <a:endParaRPr lang="ru-RU" sz="1600" b="1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1916832"/>
            <a:ext cx="8640960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 smtClean="0">
                <a:solidFill>
                  <a:schemeClr val="bg1"/>
                </a:solidFill>
              </a:rPr>
              <a:t>HTML</a:t>
            </a:r>
            <a:r>
              <a:rPr lang="ru-RU" sz="2400" b="1" dirty="0" smtClean="0">
                <a:solidFill>
                  <a:schemeClr val="bg1"/>
                </a:solidFill>
              </a:rPr>
              <a:t> карта ссылок</a:t>
            </a:r>
            <a:endParaRPr lang="en-US" sz="2400" b="1" dirty="0" smtClean="0">
              <a:solidFill>
                <a:schemeClr val="bg1"/>
              </a:solidFill>
            </a:endParaRPr>
          </a:p>
          <a:p>
            <a:endParaRPr lang="en-US" sz="2400" b="1" dirty="0" smtClean="0">
              <a:solidFill>
                <a:schemeClr val="bg1"/>
              </a:solidFill>
            </a:endParaRPr>
          </a:p>
          <a:p>
            <a:r>
              <a:rPr lang="ru-RU" sz="1600" b="1" dirty="0" smtClean="0">
                <a:solidFill>
                  <a:schemeClr val="bg1"/>
                </a:solidFill>
              </a:rPr>
              <a:t>Как вычислить координаты на изображении</a:t>
            </a:r>
          </a:p>
          <a:p>
            <a:endParaRPr lang="ru-RU" sz="1600" b="1" dirty="0" smtClean="0">
              <a:solidFill>
                <a:schemeClr val="bg1"/>
              </a:solidFill>
            </a:endParaRPr>
          </a:p>
          <a:p>
            <a:r>
              <a:rPr lang="ru-RU" sz="1600" b="1" dirty="0" smtClean="0">
                <a:solidFill>
                  <a:schemeClr val="bg1"/>
                </a:solidFill>
              </a:rPr>
              <a:t>Изображение должно быть фактического размера на сайте, без использования </a:t>
            </a:r>
            <a:r>
              <a:rPr lang="en-US" sz="1600" b="1" dirty="0" smtClean="0">
                <a:solidFill>
                  <a:schemeClr val="bg1"/>
                </a:solidFill>
              </a:rPr>
              <a:t>width </a:t>
            </a:r>
            <a:r>
              <a:rPr lang="ru-RU" sz="1600" b="1" dirty="0" smtClean="0">
                <a:solidFill>
                  <a:schemeClr val="bg1"/>
                </a:solidFill>
              </a:rPr>
              <a:t>и </a:t>
            </a:r>
            <a:r>
              <a:rPr lang="en-US" sz="1600" b="1" dirty="0" smtClean="0">
                <a:solidFill>
                  <a:schemeClr val="bg1"/>
                </a:solidFill>
              </a:rPr>
              <a:t>height!!!</a:t>
            </a:r>
          </a:p>
          <a:p>
            <a:endParaRPr lang="en-US" sz="1600" b="1" dirty="0" smtClean="0">
              <a:solidFill>
                <a:schemeClr val="bg1"/>
              </a:solidFill>
            </a:endParaRPr>
          </a:p>
          <a:p>
            <a:r>
              <a:rPr lang="ru-RU" sz="1600" b="1" dirty="0" smtClean="0">
                <a:solidFill>
                  <a:schemeClr val="bg1"/>
                </a:solidFill>
              </a:rPr>
              <a:t>Заходим в</a:t>
            </a:r>
            <a:r>
              <a:rPr lang="en-US" sz="1600" b="1" dirty="0" smtClean="0">
                <a:solidFill>
                  <a:schemeClr val="bg1"/>
                </a:solidFill>
              </a:rPr>
              <a:t> Photoshop</a:t>
            </a:r>
            <a:r>
              <a:rPr lang="ru-RU" sz="1600" b="1" dirty="0" smtClean="0">
                <a:solidFill>
                  <a:schemeClr val="bg1"/>
                </a:solidFill>
              </a:rPr>
              <a:t>-</a:t>
            </a:r>
            <a:r>
              <a:rPr lang="en-US" sz="1600" b="1" dirty="0" smtClean="0">
                <a:solidFill>
                  <a:schemeClr val="bg1"/>
                </a:solidFill>
              </a:rPr>
              <a:t>&gt;</a:t>
            </a:r>
            <a:r>
              <a:rPr lang="ru-RU" sz="1600" b="1" dirty="0" smtClean="0">
                <a:solidFill>
                  <a:schemeClr val="bg1"/>
                </a:solidFill>
              </a:rPr>
              <a:t>открываем изображение -</a:t>
            </a:r>
            <a:r>
              <a:rPr lang="en-US" sz="1600" b="1" dirty="0" smtClean="0">
                <a:solidFill>
                  <a:schemeClr val="bg1"/>
                </a:solidFill>
              </a:rPr>
              <a:t>&gt;</a:t>
            </a:r>
            <a:r>
              <a:rPr lang="ru-RU" sz="1600" b="1" dirty="0" smtClean="0">
                <a:solidFill>
                  <a:schemeClr val="bg1"/>
                </a:solidFill>
              </a:rPr>
              <a:t>Жмем </a:t>
            </a:r>
            <a:r>
              <a:rPr lang="en-US" sz="1600" b="1" dirty="0" smtClean="0">
                <a:solidFill>
                  <a:schemeClr val="bg1"/>
                </a:solidFill>
              </a:rPr>
              <a:t>F8</a:t>
            </a:r>
            <a:r>
              <a:rPr lang="ru-RU" sz="1600" b="1" dirty="0" smtClean="0">
                <a:solidFill>
                  <a:schemeClr val="bg1"/>
                </a:solidFill>
              </a:rPr>
              <a:t>, открывается окно информации где есть указания цвета в </a:t>
            </a:r>
            <a:r>
              <a:rPr lang="en-US" sz="1600" b="1" dirty="0" err="1" smtClean="0">
                <a:solidFill>
                  <a:schemeClr val="bg1"/>
                </a:solidFill>
              </a:rPr>
              <a:t>rgb</a:t>
            </a:r>
            <a:r>
              <a:rPr lang="ru-RU" sz="1600" b="1" dirty="0" smtClean="0">
                <a:solidFill>
                  <a:schemeClr val="bg1"/>
                </a:solidFill>
              </a:rPr>
              <a:t>, цвета в </a:t>
            </a:r>
            <a:r>
              <a:rPr lang="en-US" sz="1600" b="1" dirty="0" err="1" smtClean="0">
                <a:solidFill>
                  <a:schemeClr val="bg1"/>
                </a:solidFill>
              </a:rPr>
              <a:t>cmyk</a:t>
            </a:r>
            <a:r>
              <a:rPr lang="en-US" sz="1600" b="1" dirty="0" smtClean="0">
                <a:solidFill>
                  <a:schemeClr val="bg1"/>
                </a:solidFill>
              </a:rPr>
              <a:t> </a:t>
            </a:r>
            <a:r>
              <a:rPr lang="ru-RU" sz="1600" b="1" dirty="0" smtClean="0">
                <a:solidFill>
                  <a:schemeClr val="bg1"/>
                </a:solidFill>
              </a:rPr>
              <a:t>и самое главное координаты по</a:t>
            </a:r>
            <a:r>
              <a:rPr lang="en-US" sz="1600" b="1" dirty="0" smtClean="0">
                <a:solidFill>
                  <a:schemeClr val="bg1"/>
                </a:solidFill>
              </a:rPr>
              <a:t> </a:t>
            </a:r>
            <a:r>
              <a:rPr lang="ru-RU" sz="1600" b="1" dirty="0" smtClean="0">
                <a:solidFill>
                  <a:schemeClr val="bg1"/>
                </a:solidFill>
              </a:rPr>
              <a:t>горизонтали </a:t>
            </a:r>
            <a:r>
              <a:rPr lang="en-US" sz="1600" b="1" dirty="0" smtClean="0">
                <a:solidFill>
                  <a:schemeClr val="bg1"/>
                </a:solidFill>
              </a:rPr>
              <a:t>(</a:t>
            </a:r>
            <a:r>
              <a:rPr lang="ru-RU" sz="1600" b="1" dirty="0" smtClean="0">
                <a:solidFill>
                  <a:schemeClr val="bg1"/>
                </a:solidFill>
              </a:rPr>
              <a:t>Х) и координаты по вертикали (</a:t>
            </a:r>
            <a:r>
              <a:rPr lang="en-US" sz="1600" b="1" dirty="0" smtClean="0">
                <a:solidFill>
                  <a:schemeClr val="bg1"/>
                </a:solidFill>
              </a:rPr>
              <a:t>Y</a:t>
            </a:r>
            <a:r>
              <a:rPr lang="ru-RU" sz="1600" b="1" dirty="0" smtClean="0">
                <a:solidFill>
                  <a:schemeClr val="bg1"/>
                </a:solidFill>
              </a:rPr>
              <a:t>).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-3108383" y="0"/>
            <a:ext cx="12871321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420888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3.</a:t>
            </a:r>
            <a:r>
              <a:rPr lang="ru-RU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Создание меню при помощи структуры списков (</a:t>
            </a:r>
            <a:r>
              <a:rPr lang="en-US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4000" b="1" u="sng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ul</a:t>
            </a:r>
            <a:r>
              <a:rPr lang="en-US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&gt;, &lt;</a:t>
            </a:r>
            <a:r>
              <a:rPr lang="en-US" sz="4000" b="1" u="sng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li</a:t>
            </a:r>
            <a:r>
              <a:rPr lang="en-US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&gt;)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404664"/>
            <a:ext cx="8640960" cy="5816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 smtClean="0">
                <a:solidFill>
                  <a:schemeClr val="bg1"/>
                </a:solidFill>
              </a:rPr>
              <a:t>Важно понимать что меню можно сделать и из тегов </a:t>
            </a:r>
            <a:endParaRPr lang="en-US" sz="2400" b="1" dirty="0" smtClean="0">
              <a:solidFill>
                <a:schemeClr val="bg1"/>
              </a:solidFill>
            </a:endParaRPr>
          </a:p>
          <a:p>
            <a:r>
              <a:rPr lang="en-US" sz="2400" b="1" dirty="0" smtClean="0">
                <a:solidFill>
                  <a:schemeClr val="bg1"/>
                </a:solidFill>
              </a:rPr>
              <a:t>&lt;p&gt;</a:t>
            </a:r>
            <a:r>
              <a:rPr lang="ru-RU" sz="2400" b="1" dirty="0" smtClean="0">
                <a:solidFill>
                  <a:schemeClr val="bg1"/>
                </a:solidFill>
              </a:rPr>
              <a:t> и </a:t>
            </a:r>
            <a:r>
              <a:rPr lang="en-US" sz="2400" b="1" dirty="0" smtClean="0">
                <a:solidFill>
                  <a:schemeClr val="bg1"/>
                </a:solidFill>
              </a:rPr>
              <a:t>&lt;span&gt; </a:t>
            </a:r>
            <a:r>
              <a:rPr lang="ru-RU" sz="2400" b="1" dirty="0" smtClean="0">
                <a:solidFill>
                  <a:schemeClr val="bg1"/>
                </a:solidFill>
              </a:rPr>
              <a:t>и </a:t>
            </a:r>
            <a:r>
              <a:rPr lang="en-US" sz="2400" b="1" dirty="0" smtClean="0">
                <a:solidFill>
                  <a:schemeClr val="bg1"/>
                </a:solidFill>
              </a:rPr>
              <a:t>&lt;a&gt; </a:t>
            </a:r>
            <a:r>
              <a:rPr lang="ru-RU" sz="2400" b="1" dirty="0" smtClean="0">
                <a:solidFill>
                  <a:schemeClr val="bg1"/>
                </a:solidFill>
              </a:rPr>
              <a:t>и</a:t>
            </a:r>
            <a:r>
              <a:rPr lang="en-US" sz="2400" b="1" dirty="0" smtClean="0">
                <a:solidFill>
                  <a:schemeClr val="bg1"/>
                </a:solidFill>
              </a:rPr>
              <a:t> &lt;</a:t>
            </a:r>
            <a:r>
              <a:rPr lang="en-US" sz="2400" b="1" dirty="0" err="1" smtClean="0">
                <a:solidFill>
                  <a:schemeClr val="bg1"/>
                </a:solidFill>
              </a:rPr>
              <a:t>li</a:t>
            </a:r>
            <a:r>
              <a:rPr lang="en-US" sz="2400" b="1" dirty="0" smtClean="0">
                <a:solidFill>
                  <a:schemeClr val="bg1"/>
                </a:solidFill>
              </a:rPr>
              <a:t>&gt; </a:t>
            </a:r>
            <a:r>
              <a:rPr lang="ru-RU" sz="2400" b="1" dirty="0" smtClean="0">
                <a:solidFill>
                  <a:schemeClr val="bg1"/>
                </a:solidFill>
              </a:rPr>
              <a:t>и</a:t>
            </a:r>
            <a:r>
              <a:rPr lang="en-US" sz="2400" b="1" dirty="0" smtClean="0">
                <a:solidFill>
                  <a:schemeClr val="bg1"/>
                </a:solidFill>
              </a:rPr>
              <a:t> &lt;div&gt;</a:t>
            </a:r>
            <a:r>
              <a:rPr lang="ru-RU" sz="2400" b="1" dirty="0" smtClean="0">
                <a:solidFill>
                  <a:schemeClr val="bg1"/>
                </a:solidFill>
              </a:rPr>
              <a:t> и даже </a:t>
            </a:r>
            <a:r>
              <a:rPr lang="en-US" sz="2400" b="1" dirty="0" smtClean="0">
                <a:solidFill>
                  <a:schemeClr val="bg1"/>
                </a:solidFill>
              </a:rPr>
              <a:t>&lt;h3-h6&gt;</a:t>
            </a:r>
          </a:p>
          <a:p>
            <a:endParaRPr lang="en-US" sz="2400" b="1" dirty="0" smtClean="0">
              <a:solidFill>
                <a:schemeClr val="bg1"/>
              </a:solidFill>
            </a:endParaRPr>
          </a:p>
          <a:p>
            <a:r>
              <a:rPr lang="it-IT" sz="1600" b="1" dirty="0" smtClean="0">
                <a:solidFill>
                  <a:schemeClr val="bg1"/>
                </a:solidFill>
              </a:rPr>
              <a:t>&lt;ul class="navig"&gt;</a:t>
            </a:r>
          </a:p>
          <a:p>
            <a:r>
              <a:rPr lang="it-IT" sz="1600" b="1" dirty="0" smtClean="0">
                <a:solidFill>
                  <a:schemeClr val="bg1"/>
                </a:solidFill>
              </a:rPr>
              <a:t>&lt;li&gt;&lt;a href="#</a:t>
            </a:r>
            <a:r>
              <a:rPr lang="en-US" sz="1600" b="1" dirty="0" smtClean="0">
                <a:solidFill>
                  <a:schemeClr val="bg1"/>
                </a:solidFill>
              </a:rPr>
              <a:t>"</a:t>
            </a:r>
            <a:r>
              <a:rPr lang="it-IT" sz="1600" b="1" dirty="0" smtClean="0">
                <a:solidFill>
                  <a:schemeClr val="bg1"/>
                </a:solidFill>
              </a:rPr>
              <a:t>&gt;Главная &lt;/a&gt;&lt;/li&gt;</a:t>
            </a:r>
          </a:p>
          <a:p>
            <a:r>
              <a:rPr lang="it-IT" sz="1600" b="1" dirty="0" smtClean="0">
                <a:solidFill>
                  <a:schemeClr val="bg1"/>
                </a:solidFill>
              </a:rPr>
              <a:t>&lt;li&gt;&lt;a href="#"&gt;Новости &lt;/a&gt;&lt;/li&gt;</a:t>
            </a:r>
          </a:p>
          <a:p>
            <a:r>
              <a:rPr lang="it-IT" sz="1600" b="1" dirty="0" smtClean="0">
                <a:solidFill>
                  <a:schemeClr val="bg1"/>
                </a:solidFill>
              </a:rPr>
              <a:t>&lt;li&gt;&lt;a href="#</a:t>
            </a:r>
            <a:r>
              <a:rPr lang="en-US" sz="1600" b="1" dirty="0" smtClean="0">
                <a:solidFill>
                  <a:schemeClr val="bg1"/>
                </a:solidFill>
              </a:rPr>
              <a:t>"</a:t>
            </a:r>
            <a:r>
              <a:rPr lang="it-IT" sz="1600" b="1" dirty="0" smtClean="0">
                <a:solidFill>
                  <a:schemeClr val="bg1"/>
                </a:solidFill>
              </a:rPr>
              <a:t>&gt;События &lt;/a&gt;&lt;/li&gt;</a:t>
            </a:r>
          </a:p>
          <a:p>
            <a:r>
              <a:rPr lang="it-IT" sz="1600" b="1" dirty="0" smtClean="0">
                <a:solidFill>
                  <a:schemeClr val="bg1"/>
                </a:solidFill>
              </a:rPr>
              <a:t>&lt;li&gt;&lt;a href="#"&gt;Цены &lt;/a&gt;&lt;/li&gt;</a:t>
            </a:r>
          </a:p>
          <a:p>
            <a:r>
              <a:rPr lang="it-IT" sz="1600" b="1" dirty="0" smtClean="0">
                <a:solidFill>
                  <a:schemeClr val="bg1"/>
                </a:solidFill>
              </a:rPr>
              <a:t>&lt;li&gt;&lt;a href="#</a:t>
            </a:r>
            <a:r>
              <a:rPr lang="en-US" sz="1600" b="1" dirty="0" smtClean="0">
                <a:solidFill>
                  <a:schemeClr val="bg1"/>
                </a:solidFill>
              </a:rPr>
              <a:t>"</a:t>
            </a:r>
            <a:r>
              <a:rPr lang="it-IT" sz="1600" b="1" dirty="0" smtClean="0">
                <a:solidFill>
                  <a:schemeClr val="bg1"/>
                </a:solidFill>
              </a:rPr>
              <a:t>&gt;Контакты &lt;/a&gt;&lt;/li&gt;</a:t>
            </a:r>
          </a:p>
          <a:p>
            <a:r>
              <a:rPr lang="it-IT" sz="1600" b="1" dirty="0" smtClean="0">
                <a:solidFill>
                  <a:schemeClr val="bg1"/>
                </a:solidFill>
              </a:rPr>
              <a:t>&lt;/ul&gt;</a:t>
            </a:r>
          </a:p>
          <a:p>
            <a:endParaRPr lang="it-IT" sz="1600" b="1" dirty="0" smtClean="0">
              <a:solidFill>
                <a:schemeClr val="bg1"/>
              </a:solidFill>
            </a:endParaRPr>
          </a:p>
          <a:p>
            <a:r>
              <a:rPr lang="en-US" sz="1600" b="1" dirty="0" smtClean="0">
                <a:solidFill>
                  <a:schemeClr val="bg1"/>
                </a:solidFill>
              </a:rPr>
              <a:t>&lt;p class="</a:t>
            </a:r>
            <a:r>
              <a:rPr lang="en-US" sz="1600" b="1" dirty="0" err="1" smtClean="0">
                <a:solidFill>
                  <a:schemeClr val="bg1"/>
                </a:solidFill>
              </a:rPr>
              <a:t>mmen</a:t>
            </a:r>
            <a:r>
              <a:rPr lang="en-US" sz="1600" b="1" dirty="0" smtClean="0">
                <a:solidFill>
                  <a:schemeClr val="bg1"/>
                </a:solidFill>
              </a:rPr>
              <a:t>"&gt;&lt;a </a:t>
            </a:r>
            <a:r>
              <a:rPr lang="en-US" sz="1600" b="1" dirty="0" err="1" smtClean="0">
                <a:solidFill>
                  <a:schemeClr val="bg1"/>
                </a:solidFill>
              </a:rPr>
              <a:t>href</a:t>
            </a:r>
            <a:r>
              <a:rPr lang="en-US" sz="1600" b="1" dirty="0" smtClean="0">
                <a:solidFill>
                  <a:schemeClr val="bg1"/>
                </a:solidFill>
              </a:rPr>
              <a:t>="#"&gt; </a:t>
            </a:r>
            <a:r>
              <a:rPr lang="ru-RU" sz="1600" b="1" dirty="0" smtClean="0">
                <a:solidFill>
                  <a:schemeClr val="bg1"/>
                </a:solidFill>
              </a:rPr>
              <a:t>Главная &lt;/</a:t>
            </a:r>
            <a:r>
              <a:rPr lang="en-US" sz="1600" b="1" dirty="0" smtClean="0">
                <a:solidFill>
                  <a:schemeClr val="bg1"/>
                </a:solidFill>
              </a:rPr>
              <a:t>a&gt;&lt;/p&gt;</a:t>
            </a:r>
          </a:p>
          <a:p>
            <a:r>
              <a:rPr lang="en-US" sz="1600" b="1" dirty="0" smtClean="0">
                <a:solidFill>
                  <a:schemeClr val="bg1"/>
                </a:solidFill>
              </a:rPr>
              <a:t>&lt;p class="</a:t>
            </a:r>
            <a:r>
              <a:rPr lang="en-US" sz="1600" b="1" dirty="0" err="1" smtClean="0">
                <a:solidFill>
                  <a:schemeClr val="bg1"/>
                </a:solidFill>
              </a:rPr>
              <a:t>mmen</a:t>
            </a:r>
            <a:r>
              <a:rPr lang="en-US" sz="1600" b="1" dirty="0" smtClean="0">
                <a:solidFill>
                  <a:schemeClr val="bg1"/>
                </a:solidFill>
              </a:rPr>
              <a:t>"&gt;&lt;a </a:t>
            </a:r>
            <a:r>
              <a:rPr lang="en-US" sz="1600" b="1" dirty="0" err="1" smtClean="0">
                <a:solidFill>
                  <a:schemeClr val="bg1"/>
                </a:solidFill>
              </a:rPr>
              <a:t>href</a:t>
            </a:r>
            <a:r>
              <a:rPr lang="en-US" sz="1600" b="1" dirty="0" smtClean="0">
                <a:solidFill>
                  <a:schemeClr val="bg1"/>
                </a:solidFill>
              </a:rPr>
              <a:t>="#"&gt; </a:t>
            </a:r>
            <a:r>
              <a:rPr lang="ru-RU" sz="1600" b="1" dirty="0" smtClean="0">
                <a:solidFill>
                  <a:schemeClr val="bg1"/>
                </a:solidFill>
              </a:rPr>
              <a:t>Новости &lt;/</a:t>
            </a:r>
            <a:r>
              <a:rPr lang="en-US" sz="1600" b="1" dirty="0" smtClean="0">
                <a:solidFill>
                  <a:schemeClr val="bg1"/>
                </a:solidFill>
              </a:rPr>
              <a:t>a&gt;&lt;/p&gt;</a:t>
            </a:r>
          </a:p>
          <a:p>
            <a:r>
              <a:rPr lang="en-US" sz="1600" b="1" dirty="0" smtClean="0">
                <a:solidFill>
                  <a:schemeClr val="bg1"/>
                </a:solidFill>
              </a:rPr>
              <a:t>&lt;p class="</a:t>
            </a:r>
            <a:r>
              <a:rPr lang="en-US" sz="1600" b="1" dirty="0" err="1" smtClean="0">
                <a:solidFill>
                  <a:schemeClr val="bg1"/>
                </a:solidFill>
              </a:rPr>
              <a:t>mmen</a:t>
            </a:r>
            <a:r>
              <a:rPr lang="en-US" sz="1600" b="1" dirty="0" smtClean="0">
                <a:solidFill>
                  <a:schemeClr val="bg1"/>
                </a:solidFill>
              </a:rPr>
              <a:t>"&gt;&lt;a </a:t>
            </a:r>
            <a:r>
              <a:rPr lang="en-US" sz="1600" b="1" dirty="0" err="1" smtClean="0">
                <a:solidFill>
                  <a:schemeClr val="bg1"/>
                </a:solidFill>
              </a:rPr>
              <a:t>href</a:t>
            </a:r>
            <a:r>
              <a:rPr lang="en-US" sz="1600" b="1" dirty="0" smtClean="0">
                <a:solidFill>
                  <a:schemeClr val="bg1"/>
                </a:solidFill>
              </a:rPr>
              <a:t>="#"&gt; </a:t>
            </a:r>
            <a:r>
              <a:rPr lang="ru-RU" sz="1600" b="1" dirty="0" smtClean="0">
                <a:solidFill>
                  <a:schemeClr val="bg1"/>
                </a:solidFill>
              </a:rPr>
              <a:t>События &lt;/</a:t>
            </a:r>
            <a:r>
              <a:rPr lang="en-US" sz="1600" b="1" dirty="0" smtClean="0">
                <a:solidFill>
                  <a:schemeClr val="bg1"/>
                </a:solidFill>
              </a:rPr>
              <a:t>a&gt;&lt;/p&gt;</a:t>
            </a:r>
          </a:p>
          <a:p>
            <a:r>
              <a:rPr lang="en-US" sz="1600" b="1" dirty="0" smtClean="0">
                <a:solidFill>
                  <a:schemeClr val="bg1"/>
                </a:solidFill>
              </a:rPr>
              <a:t>&lt;p class="</a:t>
            </a:r>
            <a:r>
              <a:rPr lang="en-US" sz="1600" b="1" dirty="0" err="1" smtClean="0">
                <a:solidFill>
                  <a:schemeClr val="bg1"/>
                </a:solidFill>
              </a:rPr>
              <a:t>mmen</a:t>
            </a:r>
            <a:r>
              <a:rPr lang="en-US" sz="1600" b="1" dirty="0" smtClean="0">
                <a:solidFill>
                  <a:schemeClr val="bg1"/>
                </a:solidFill>
              </a:rPr>
              <a:t>"&gt;&lt;a </a:t>
            </a:r>
            <a:r>
              <a:rPr lang="en-US" sz="1600" b="1" dirty="0" err="1" smtClean="0">
                <a:solidFill>
                  <a:schemeClr val="bg1"/>
                </a:solidFill>
              </a:rPr>
              <a:t>href</a:t>
            </a:r>
            <a:r>
              <a:rPr lang="en-US" sz="1600" b="1" dirty="0" smtClean="0">
                <a:solidFill>
                  <a:schemeClr val="bg1"/>
                </a:solidFill>
              </a:rPr>
              <a:t>="#"&gt; </a:t>
            </a:r>
            <a:r>
              <a:rPr lang="ru-RU" sz="1600" b="1" dirty="0" smtClean="0">
                <a:solidFill>
                  <a:schemeClr val="bg1"/>
                </a:solidFill>
              </a:rPr>
              <a:t>Цены &lt;/</a:t>
            </a:r>
            <a:r>
              <a:rPr lang="en-US" sz="1600" b="1" dirty="0" smtClean="0">
                <a:solidFill>
                  <a:schemeClr val="bg1"/>
                </a:solidFill>
              </a:rPr>
              <a:t>a&gt;&lt;/p&gt;</a:t>
            </a:r>
          </a:p>
          <a:p>
            <a:r>
              <a:rPr lang="en-US" sz="1600" b="1" dirty="0" smtClean="0">
                <a:solidFill>
                  <a:schemeClr val="bg1"/>
                </a:solidFill>
              </a:rPr>
              <a:t>&lt;p class="</a:t>
            </a:r>
            <a:r>
              <a:rPr lang="en-US" sz="1600" b="1" dirty="0" err="1" smtClean="0">
                <a:solidFill>
                  <a:schemeClr val="bg1"/>
                </a:solidFill>
              </a:rPr>
              <a:t>mmen</a:t>
            </a:r>
            <a:r>
              <a:rPr lang="en-US" sz="1600" b="1" dirty="0" smtClean="0">
                <a:solidFill>
                  <a:schemeClr val="bg1"/>
                </a:solidFill>
              </a:rPr>
              <a:t>"&gt;&lt;a </a:t>
            </a:r>
            <a:r>
              <a:rPr lang="en-US" sz="1600" b="1" dirty="0" err="1" smtClean="0">
                <a:solidFill>
                  <a:schemeClr val="bg1"/>
                </a:solidFill>
              </a:rPr>
              <a:t>href</a:t>
            </a:r>
            <a:r>
              <a:rPr lang="en-US" sz="1600" b="1" dirty="0" smtClean="0">
                <a:solidFill>
                  <a:schemeClr val="bg1"/>
                </a:solidFill>
              </a:rPr>
              <a:t>="#"&gt; </a:t>
            </a:r>
            <a:r>
              <a:rPr lang="ru-RU" sz="1600" b="1" dirty="0" smtClean="0">
                <a:solidFill>
                  <a:schemeClr val="bg1"/>
                </a:solidFill>
              </a:rPr>
              <a:t>Контакты &lt;/</a:t>
            </a:r>
            <a:r>
              <a:rPr lang="en-US" sz="1600" b="1" dirty="0" smtClean="0">
                <a:solidFill>
                  <a:schemeClr val="bg1"/>
                </a:solidFill>
              </a:rPr>
              <a:t>a&gt;&lt;/p&gt;</a:t>
            </a:r>
          </a:p>
          <a:p>
            <a:endParaRPr lang="en-US" sz="1600" b="1" dirty="0" smtClean="0">
              <a:solidFill>
                <a:schemeClr val="bg1"/>
              </a:solidFill>
            </a:endParaRPr>
          </a:p>
          <a:p>
            <a:r>
              <a:rPr lang="ru-RU" sz="1600" b="1" dirty="0" smtClean="0">
                <a:solidFill>
                  <a:schemeClr val="bg1"/>
                </a:solidFill>
              </a:rPr>
              <a:t>Для каждого меню свои применяются свои стили. И раньше меню создавалось по средством свойства </a:t>
            </a:r>
            <a:r>
              <a:rPr lang="en-US" sz="1600" b="1" dirty="0" smtClean="0">
                <a:solidFill>
                  <a:schemeClr val="bg1"/>
                </a:solidFill>
              </a:rPr>
              <a:t>float</a:t>
            </a:r>
            <a:r>
              <a:rPr lang="ru-RU" sz="1600" b="1" dirty="0" smtClean="0">
                <a:solidFill>
                  <a:schemeClr val="bg1"/>
                </a:solidFill>
              </a:rPr>
              <a:t>, </a:t>
            </a:r>
            <a:r>
              <a:rPr lang="ru-RU" sz="3600" b="1" dirty="0" smtClean="0">
                <a:solidFill>
                  <a:schemeClr val="bg1"/>
                </a:solidFill>
              </a:rPr>
              <a:t>НО…</a:t>
            </a:r>
            <a:endParaRPr lang="ru-RU" sz="1600" b="1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404664"/>
            <a:ext cx="864096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u="sng" dirty="0" smtClean="0">
                <a:solidFill>
                  <a:schemeClr val="bg1"/>
                </a:solidFill>
              </a:rPr>
              <a:t>Свойство </a:t>
            </a:r>
            <a:r>
              <a:rPr lang="en-US" sz="2400" b="1" u="sng" dirty="0" smtClean="0">
                <a:solidFill>
                  <a:schemeClr val="bg1"/>
                </a:solidFill>
              </a:rPr>
              <a:t>display</a:t>
            </a:r>
          </a:p>
          <a:p>
            <a:endParaRPr lang="en-US" sz="1600" b="1" dirty="0" smtClean="0">
              <a:solidFill>
                <a:schemeClr val="bg1"/>
              </a:solidFill>
            </a:endParaRPr>
          </a:p>
          <a:p>
            <a:r>
              <a:rPr lang="ru-RU" sz="1600" b="1" dirty="0" smtClean="0">
                <a:solidFill>
                  <a:schemeClr val="bg1"/>
                </a:solidFill>
              </a:rPr>
              <a:t>Свойство </a:t>
            </a:r>
            <a:r>
              <a:rPr lang="ru-RU" sz="1600" b="1" dirty="0" err="1" smtClean="0">
                <a:solidFill>
                  <a:schemeClr val="bg1"/>
                </a:solidFill>
              </a:rPr>
              <a:t>display</a:t>
            </a:r>
            <a:r>
              <a:rPr lang="ru-RU" sz="1600" b="1" dirty="0" smtClean="0">
                <a:solidFill>
                  <a:schemeClr val="bg1"/>
                </a:solidFill>
              </a:rPr>
              <a:t> отвечает за вывод и визуальное отображение элементов на странице. Также с помощью свойства </a:t>
            </a:r>
            <a:r>
              <a:rPr lang="ru-RU" sz="1600" b="1" dirty="0" err="1" smtClean="0">
                <a:solidFill>
                  <a:schemeClr val="bg1"/>
                </a:solidFill>
              </a:rPr>
              <a:t>display</a:t>
            </a:r>
            <a:r>
              <a:rPr lang="ru-RU" sz="1600" b="1" dirty="0" smtClean="0">
                <a:solidFill>
                  <a:schemeClr val="bg1"/>
                </a:solidFill>
              </a:rPr>
              <a:t> можно изменить тип генерируемого контейнера.</a:t>
            </a:r>
            <a:endParaRPr lang="en-US" sz="1600" b="1" dirty="0" smtClean="0">
              <a:solidFill>
                <a:schemeClr val="bg1"/>
              </a:solidFill>
            </a:endParaRPr>
          </a:p>
          <a:p>
            <a:endParaRPr lang="en-US" sz="1600" b="1" dirty="0" smtClean="0">
              <a:solidFill>
                <a:schemeClr val="bg1"/>
              </a:solidFill>
            </a:endParaRPr>
          </a:p>
          <a:p>
            <a:r>
              <a:rPr lang="ru-RU" sz="1600" b="1" dirty="0" smtClean="0">
                <a:solidFill>
                  <a:schemeClr val="bg1"/>
                </a:solidFill>
              </a:rPr>
              <a:t>Любой html-элемент генерирует на </a:t>
            </a:r>
            <a:r>
              <a:rPr lang="ru-RU" sz="1600" b="1" dirty="0" err="1" smtClean="0">
                <a:solidFill>
                  <a:schemeClr val="bg1"/>
                </a:solidFill>
              </a:rPr>
              <a:t>веб-странице</a:t>
            </a:r>
            <a:r>
              <a:rPr lang="ru-RU" sz="1600" b="1" dirty="0" smtClean="0">
                <a:solidFill>
                  <a:schemeClr val="bg1"/>
                </a:solidFill>
              </a:rPr>
              <a:t> прямоугольный контейнер. Все видимое на экране состоит из контейнеров разных типов.</a:t>
            </a:r>
            <a:endParaRPr lang="en-US" sz="1600" b="1" dirty="0" smtClean="0">
              <a:solidFill>
                <a:schemeClr val="bg1"/>
              </a:solidFill>
            </a:endParaRPr>
          </a:p>
          <a:p>
            <a:endParaRPr lang="en-US" sz="1600" b="1" dirty="0" smtClean="0">
              <a:solidFill>
                <a:schemeClr val="bg1"/>
              </a:solidFill>
            </a:endParaRPr>
          </a:p>
          <a:p>
            <a:r>
              <a:rPr lang="en-US" sz="1600" b="1" dirty="0" smtClean="0">
                <a:solidFill>
                  <a:schemeClr val="bg1"/>
                </a:solidFill>
              </a:rPr>
              <a:t>&lt;div class="art"&gt;</a:t>
            </a:r>
          </a:p>
          <a:p>
            <a:r>
              <a:rPr lang="en-US" sz="1600" b="1" dirty="0" smtClean="0">
                <a:solidFill>
                  <a:schemeClr val="bg1"/>
                </a:solidFill>
              </a:rPr>
              <a:t>&lt;div style="background-</a:t>
            </a:r>
            <a:r>
              <a:rPr lang="en-US" sz="1600" b="1" dirty="0" err="1" smtClean="0">
                <a:solidFill>
                  <a:schemeClr val="bg1"/>
                </a:solidFill>
              </a:rPr>
              <a:t>color:red</a:t>
            </a:r>
            <a:r>
              <a:rPr lang="en-US" sz="1600" b="1" dirty="0" smtClean="0">
                <a:solidFill>
                  <a:schemeClr val="bg1"/>
                </a:solidFill>
              </a:rPr>
              <a:t>;"&gt;1&lt;/div&gt;</a:t>
            </a:r>
          </a:p>
          <a:p>
            <a:r>
              <a:rPr lang="en-US" sz="1600" b="1" dirty="0" smtClean="0">
                <a:solidFill>
                  <a:schemeClr val="bg1"/>
                </a:solidFill>
              </a:rPr>
              <a:t>&lt;div style="background-</a:t>
            </a:r>
            <a:r>
              <a:rPr lang="en-US" sz="1600" b="1" dirty="0" err="1" smtClean="0">
                <a:solidFill>
                  <a:schemeClr val="bg1"/>
                </a:solidFill>
              </a:rPr>
              <a:t>color:green</a:t>
            </a:r>
            <a:r>
              <a:rPr lang="en-US" sz="1600" b="1" dirty="0" smtClean="0">
                <a:solidFill>
                  <a:schemeClr val="bg1"/>
                </a:solidFill>
              </a:rPr>
              <a:t>;"&gt;2&lt;/div&gt;</a:t>
            </a:r>
          </a:p>
          <a:p>
            <a:r>
              <a:rPr lang="en-US" sz="1600" b="1" dirty="0" smtClean="0">
                <a:solidFill>
                  <a:schemeClr val="bg1"/>
                </a:solidFill>
              </a:rPr>
              <a:t>&lt;div style="background-</a:t>
            </a:r>
            <a:r>
              <a:rPr lang="en-US" sz="1600" b="1" dirty="0" err="1" smtClean="0">
                <a:solidFill>
                  <a:schemeClr val="bg1"/>
                </a:solidFill>
              </a:rPr>
              <a:t>color:blue</a:t>
            </a:r>
            <a:r>
              <a:rPr lang="en-US" sz="1600" b="1" dirty="0" smtClean="0">
                <a:solidFill>
                  <a:schemeClr val="bg1"/>
                </a:solidFill>
              </a:rPr>
              <a:t>;"&gt;3&lt;/div&gt;</a:t>
            </a:r>
          </a:p>
          <a:p>
            <a:r>
              <a:rPr lang="en-US" sz="1600" b="1" dirty="0" smtClean="0">
                <a:solidFill>
                  <a:schemeClr val="bg1"/>
                </a:solidFill>
              </a:rPr>
              <a:t>&lt;div style="background-</a:t>
            </a:r>
            <a:r>
              <a:rPr lang="en-US" sz="1600" b="1" dirty="0" err="1" smtClean="0">
                <a:solidFill>
                  <a:schemeClr val="bg1"/>
                </a:solidFill>
              </a:rPr>
              <a:t>color:yellow</a:t>
            </a:r>
            <a:r>
              <a:rPr lang="en-US" sz="1600" b="1" dirty="0" smtClean="0">
                <a:solidFill>
                  <a:schemeClr val="bg1"/>
                </a:solidFill>
              </a:rPr>
              <a:t>;"&gt;4&lt;/div&gt;</a:t>
            </a:r>
          </a:p>
          <a:p>
            <a:r>
              <a:rPr lang="en-US" sz="1600" b="1" dirty="0" smtClean="0">
                <a:solidFill>
                  <a:schemeClr val="bg1"/>
                </a:solidFill>
              </a:rPr>
              <a:t>&lt;div style="background-</a:t>
            </a:r>
            <a:r>
              <a:rPr lang="en-US" sz="1600" b="1" dirty="0" err="1" smtClean="0">
                <a:solidFill>
                  <a:schemeClr val="bg1"/>
                </a:solidFill>
              </a:rPr>
              <a:t>color:purple</a:t>
            </a:r>
            <a:r>
              <a:rPr lang="en-US" sz="1600" b="1" dirty="0" smtClean="0">
                <a:solidFill>
                  <a:schemeClr val="bg1"/>
                </a:solidFill>
              </a:rPr>
              <a:t>;"&gt;5&lt;/div&gt;</a:t>
            </a:r>
          </a:p>
          <a:p>
            <a:r>
              <a:rPr lang="en-US" sz="1600" b="1" dirty="0" smtClean="0">
                <a:solidFill>
                  <a:schemeClr val="bg1"/>
                </a:solidFill>
              </a:rPr>
              <a:t>&lt;/div&gt;</a:t>
            </a:r>
            <a:endParaRPr lang="ru-RU" sz="1600" b="1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404664"/>
            <a:ext cx="8640960" cy="61247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u="sng" dirty="0" smtClean="0">
                <a:solidFill>
                  <a:schemeClr val="bg1"/>
                </a:solidFill>
              </a:rPr>
              <a:t>Свойство </a:t>
            </a:r>
            <a:r>
              <a:rPr lang="en-US" sz="2400" b="1" u="sng" dirty="0" smtClean="0">
                <a:solidFill>
                  <a:schemeClr val="bg1"/>
                </a:solidFill>
              </a:rPr>
              <a:t>display</a:t>
            </a:r>
          </a:p>
          <a:p>
            <a:endParaRPr lang="en-US" sz="1600" b="1" dirty="0" smtClean="0">
              <a:solidFill>
                <a:schemeClr val="bg1"/>
              </a:solidFill>
            </a:endParaRPr>
          </a:p>
          <a:p>
            <a:r>
              <a:rPr lang="ru-RU" sz="1600" b="1" dirty="0" smtClean="0">
                <a:solidFill>
                  <a:schemeClr val="bg1"/>
                </a:solidFill>
              </a:rPr>
              <a:t>Свойство </a:t>
            </a:r>
            <a:r>
              <a:rPr lang="ru-RU" sz="1600" b="1" dirty="0" err="1" smtClean="0">
                <a:solidFill>
                  <a:schemeClr val="bg1"/>
                </a:solidFill>
              </a:rPr>
              <a:t>display</a:t>
            </a:r>
            <a:r>
              <a:rPr lang="ru-RU" sz="1600" b="1" dirty="0" smtClean="0">
                <a:solidFill>
                  <a:schemeClr val="bg1"/>
                </a:solidFill>
              </a:rPr>
              <a:t> отвечает за вывод и визуальное отображение элементов на странице. Также с помощью свойства </a:t>
            </a:r>
            <a:r>
              <a:rPr lang="ru-RU" sz="1600" b="1" dirty="0" err="1" smtClean="0">
                <a:solidFill>
                  <a:schemeClr val="bg1"/>
                </a:solidFill>
              </a:rPr>
              <a:t>display</a:t>
            </a:r>
            <a:r>
              <a:rPr lang="ru-RU" sz="1600" b="1" dirty="0" smtClean="0">
                <a:solidFill>
                  <a:schemeClr val="bg1"/>
                </a:solidFill>
              </a:rPr>
              <a:t> можно изменить тип генерируемого контейнера.</a:t>
            </a:r>
            <a:endParaRPr lang="en-US" sz="1600" b="1" dirty="0" smtClean="0">
              <a:solidFill>
                <a:schemeClr val="bg1"/>
              </a:solidFill>
            </a:endParaRPr>
          </a:p>
          <a:p>
            <a:endParaRPr lang="en-US" sz="1600" b="1" dirty="0" smtClean="0">
              <a:solidFill>
                <a:schemeClr val="bg1"/>
              </a:solidFill>
            </a:endParaRPr>
          </a:p>
          <a:p>
            <a:r>
              <a:rPr lang="ru-RU" sz="1600" b="1" dirty="0" smtClean="0">
                <a:solidFill>
                  <a:schemeClr val="bg1"/>
                </a:solidFill>
              </a:rPr>
              <a:t>Любой html-элемент генерирует на </a:t>
            </a:r>
            <a:r>
              <a:rPr lang="ru-RU" sz="1600" b="1" dirty="0" err="1" smtClean="0">
                <a:solidFill>
                  <a:schemeClr val="bg1"/>
                </a:solidFill>
              </a:rPr>
              <a:t>веб-странице</a:t>
            </a:r>
            <a:r>
              <a:rPr lang="ru-RU" sz="1600" b="1" dirty="0" smtClean="0">
                <a:solidFill>
                  <a:schemeClr val="bg1"/>
                </a:solidFill>
              </a:rPr>
              <a:t> прямоугольный контейнер. Все видимое на экране состоит из контейнеров разных типов.</a:t>
            </a:r>
            <a:endParaRPr lang="en-US" sz="1600" b="1" dirty="0" smtClean="0">
              <a:solidFill>
                <a:schemeClr val="bg1"/>
              </a:solidFill>
            </a:endParaRPr>
          </a:p>
          <a:p>
            <a:endParaRPr lang="en-US" sz="1600" b="1" dirty="0" smtClean="0">
              <a:solidFill>
                <a:schemeClr val="bg1"/>
              </a:solidFill>
            </a:endParaRPr>
          </a:p>
          <a:p>
            <a:r>
              <a:rPr lang="en-US" sz="1600" b="1" dirty="0" smtClean="0">
                <a:solidFill>
                  <a:schemeClr val="bg1"/>
                </a:solidFill>
              </a:rPr>
              <a:t>&lt;div class="art"&gt;</a:t>
            </a:r>
          </a:p>
          <a:p>
            <a:r>
              <a:rPr lang="en-US" sz="1600" b="1" dirty="0" smtClean="0">
                <a:solidFill>
                  <a:schemeClr val="bg1"/>
                </a:solidFill>
              </a:rPr>
              <a:t>&lt;div style="background-</a:t>
            </a:r>
            <a:r>
              <a:rPr lang="en-US" sz="1600" b="1" dirty="0" err="1" smtClean="0">
                <a:solidFill>
                  <a:schemeClr val="bg1"/>
                </a:solidFill>
              </a:rPr>
              <a:t>color:red</a:t>
            </a:r>
            <a:r>
              <a:rPr lang="en-US" sz="1600" b="1" dirty="0" smtClean="0">
                <a:solidFill>
                  <a:schemeClr val="bg1"/>
                </a:solidFill>
              </a:rPr>
              <a:t>;"&gt;1&lt;/div&gt;</a:t>
            </a:r>
          </a:p>
          <a:p>
            <a:r>
              <a:rPr lang="en-US" sz="1600" b="1" dirty="0" smtClean="0">
                <a:solidFill>
                  <a:schemeClr val="bg1"/>
                </a:solidFill>
              </a:rPr>
              <a:t>&lt;div style="background-</a:t>
            </a:r>
            <a:r>
              <a:rPr lang="en-US" sz="1600" b="1" dirty="0" err="1" smtClean="0">
                <a:solidFill>
                  <a:schemeClr val="bg1"/>
                </a:solidFill>
              </a:rPr>
              <a:t>color:green</a:t>
            </a:r>
            <a:r>
              <a:rPr lang="en-US" sz="1600" b="1" dirty="0" smtClean="0">
                <a:solidFill>
                  <a:schemeClr val="bg1"/>
                </a:solidFill>
              </a:rPr>
              <a:t>;"&gt;2&lt;/div&gt;</a:t>
            </a:r>
          </a:p>
          <a:p>
            <a:r>
              <a:rPr lang="en-US" sz="1600" b="1" dirty="0" smtClean="0">
                <a:solidFill>
                  <a:schemeClr val="bg1"/>
                </a:solidFill>
              </a:rPr>
              <a:t>&lt;div style="background-</a:t>
            </a:r>
            <a:r>
              <a:rPr lang="en-US" sz="1600" b="1" dirty="0" err="1" smtClean="0">
                <a:solidFill>
                  <a:schemeClr val="bg1"/>
                </a:solidFill>
              </a:rPr>
              <a:t>color:blue</a:t>
            </a:r>
            <a:r>
              <a:rPr lang="en-US" sz="1600" b="1" dirty="0" smtClean="0">
                <a:solidFill>
                  <a:schemeClr val="bg1"/>
                </a:solidFill>
              </a:rPr>
              <a:t>;"&gt;3&lt;/div&gt;</a:t>
            </a:r>
          </a:p>
          <a:p>
            <a:r>
              <a:rPr lang="en-US" sz="1600" b="1" dirty="0" smtClean="0">
                <a:solidFill>
                  <a:schemeClr val="bg1"/>
                </a:solidFill>
              </a:rPr>
              <a:t>&lt;div style="background-</a:t>
            </a:r>
            <a:r>
              <a:rPr lang="en-US" sz="1600" b="1" dirty="0" err="1" smtClean="0">
                <a:solidFill>
                  <a:schemeClr val="bg1"/>
                </a:solidFill>
              </a:rPr>
              <a:t>color:yellow</a:t>
            </a:r>
            <a:r>
              <a:rPr lang="en-US" sz="1600" b="1" dirty="0" smtClean="0">
                <a:solidFill>
                  <a:schemeClr val="bg1"/>
                </a:solidFill>
              </a:rPr>
              <a:t>;"&gt;4&lt;/div&gt;</a:t>
            </a:r>
          </a:p>
          <a:p>
            <a:r>
              <a:rPr lang="en-US" sz="1600" b="1" dirty="0" smtClean="0">
                <a:solidFill>
                  <a:schemeClr val="bg1"/>
                </a:solidFill>
              </a:rPr>
              <a:t>&lt;div style="background-</a:t>
            </a:r>
            <a:r>
              <a:rPr lang="en-US" sz="1600" b="1" dirty="0" err="1" smtClean="0">
                <a:solidFill>
                  <a:schemeClr val="bg1"/>
                </a:solidFill>
              </a:rPr>
              <a:t>color:purple</a:t>
            </a:r>
            <a:r>
              <a:rPr lang="en-US" sz="1600" b="1" dirty="0" smtClean="0">
                <a:solidFill>
                  <a:schemeClr val="bg1"/>
                </a:solidFill>
              </a:rPr>
              <a:t>;"&gt;5&lt;/div&gt;</a:t>
            </a:r>
          </a:p>
          <a:p>
            <a:r>
              <a:rPr lang="en-US" sz="1600" b="1" dirty="0" smtClean="0">
                <a:solidFill>
                  <a:schemeClr val="bg1"/>
                </a:solidFill>
              </a:rPr>
              <a:t>&lt;/div&gt;</a:t>
            </a:r>
          </a:p>
          <a:p>
            <a:endParaRPr lang="en-US" sz="1600" b="1" dirty="0" smtClean="0">
              <a:solidFill>
                <a:schemeClr val="bg1"/>
              </a:solidFill>
            </a:endParaRPr>
          </a:p>
          <a:p>
            <a:r>
              <a:rPr lang="ru-RU" sz="1600" b="1" dirty="0" smtClean="0">
                <a:solidFill>
                  <a:schemeClr val="bg1"/>
                </a:solidFill>
              </a:rPr>
              <a:t>По умолчанию блочные элементы генерируют структурные блоки и выводятся вертикально один над другим, занимая по ширине 100% ширины блока-контейнера.</a:t>
            </a:r>
          </a:p>
          <a:p>
            <a:endParaRPr lang="ru-RU" sz="1600" b="1" dirty="0" smtClean="0">
              <a:solidFill>
                <a:schemeClr val="bg1"/>
              </a:solidFill>
            </a:endParaRPr>
          </a:p>
          <a:p>
            <a:r>
              <a:rPr lang="ru-RU" sz="1600" b="1" dirty="0" smtClean="0">
                <a:solidFill>
                  <a:schemeClr val="bg1"/>
                </a:solidFill>
              </a:rPr>
              <a:t>Строковые контейнеры генерируют строковые блоки и выводятся в строке горизонтально. Ширина строковых элементов равна ширине их содержимого.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179512" y="-3"/>
          <a:ext cx="8856984" cy="692515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26483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086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4000">
                <a:tc>
                  <a:txBody>
                    <a:bodyPr/>
                    <a:lstStyle/>
                    <a:p>
                      <a:pPr fontAlgn="t"/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inline</a:t>
                      </a:r>
                    </a:p>
                  </a:txBody>
                  <a:tcPr marL="35278" marR="35278" marT="18815" marB="1881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>
                          <a:solidFill>
                            <a:schemeClr val="bg1"/>
                          </a:solidFill>
                        </a:rPr>
                        <a:t>Значение по умолчанию. Элемент генерирует строковый блок. Аналог — тег &lt;span&gt;.</a:t>
                      </a:r>
                    </a:p>
                  </a:txBody>
                  <a:tcPr marL="35278" marR="35278" marT="18815" marB="1881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fontAlgn="t"/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block</a:t>
                      </a:r>
                    </a:p>
                  </a:txBody>
                  <a:tcPr marL="35278" marR="35278" marT="18815" marB="1881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>
                          <a:solidFill>
                            <a:schemeClr val="bg1"/>
                          </a:solidFill>
                        </a:rPr>
                        <a:t>Элемент генерирует структурный блок, как и тег &lt;div&gt;.</a:t>
                      </a:r>
                    </a:p>
                  </a:txBody>
                  <a:tcPr marL="35278" marR="35278" marT="18815" marB="1881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fontAlgn="t"/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flex</a:t>
                      </a:r>
                    </a:p>
                  </a:txBody>
                  <a:tcPr marL="35278" marR="35278" marT="18815" marB="1881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Элемент генерирует структурный блок, который создает адаптивный контейнер для дочерних элементов</a:t>
                      </a:r>
                      <a:r>
                        <a:rPr lang="ru-RU" sz="1600" dirty="0" smtClean="0">
                          <a:solidFill>
                            <a:schemeClr val="bg1"/>
                          </a:solidFill>
                        </a:rPr>
                        <a:t>. </a:t>
                      </a:r>
                      <a:r>
                        <a:rPr lang="en-US" sz="1600" dirty="0" smtClean="0">
                          <a:solidFill>
                            <a:schemeClr val="bg1"/>
                          </a:solidFill>
                        </a:rPr>
                        <a:t>http://css.yoksel.ru/flexbox/</a:t>
                      </a:r>
                      <a:endParaRPr lang="ru-RU" sz="1600" dirty="0">
                        <a:solidFill>
                          <a:schemeClr val="bg1"/>
                        </a:solidFill>
                      </a:endParaRPr>
                    </a:p>
                  </a:txBody>
                  <a:tcPr marL="35278" marR="35278" marT="18815" marB="1881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4000">
                <a:tc gridSpan="2">
                  <a:txBody>
                    <a:bodyPr/>
                    <a:lstStyle/>
                    <a:p>
                      <a:pPr marL="0" marR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Особенности </a:t>
                      </a:r>
                      <a:r>
                        <a:rPr kumimoji="0" lang="ru-RU" sz="120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inline</a:t>
                      </a:r>
                      <a:r>
                        <a:rPr kumimoji="0" lang="ru-RU" sz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 элементов:</a:t>
                      </a:r>
                      <a:br>
                        <a:rPr kumimoji="0" lang="ru-RU" sz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ru-RU" sz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 им можно задавать размеры, рамки и отступы, как и блочным элементам;</a:t>
                      </a:r>
                      <a:br>
                        <a:rPr kumimoji="0" lang="ru-RU" sz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ru-RU" sz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 их ширина по умолчанию зависит от содержания, а не растягивается на всю ширину контейнера;</a:t>
                      </a:r>
                      <a:endParaRPr 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 marL="35278" marR="35278" marT="18815" marB="18815"/>
                </a:tc>
                <a:tc hMerge="1">
                  <a:txBody>
                    <a:bodyPr/>
                    <a:lstStyle/>
                    <a:p>
                      <a:pPr marL="0" algn="l" rtl="0" eaLnBrk="1" fontAlgn="t" latinLnBrk="0" hangingPunct="1"/>
                      <a:endParaRPr kumimoji="0" lang="ru-RU" sz="14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5278" marR="35278" marT="18815" marB="1881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inline-block</a:t>
                      </a:r>
                    </a:p>
                  </a:txBody>
                  <a:tcPr marL="35278" marR="35278" marT="18815" marB="18815"/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ru-RU" sz="16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Элемент генерирует строковый блок</a:t>
                      </a:r>
                      <a:r>
                        <a:rPr kumimoji="0" lang="ru-RU" sz="16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35278" marR="35278" marT="18815" marB="1881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inline-flex</a:t>
                      </a:r>
                    </a:p>
                  </a:txBody>
                  <a:tcPr marL="35278" marR="35278" marT="18815" marB="18815"/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ru-RU" sz="16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Элемент генерирует строковый блок, который создает адаптивный контейнер для дочерних элементов.</a:t>
                      </a:r>
                    </a:p>
                  </a:txBody>
                  <a:tcPr marL="35278" marR="35278" marT="18815" marB="1881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inline-table</a:t>
                      </a:r>
                    </a:p>
                  </a:txBody>
                  <a:tcPr marL="35278" marR="35278" marT="18815" marB="1881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Элемент определяет структурный блок, который генерирует строковый блок.</a:t>
                      </a:r>
                    </a:p>
                  </a:txBody>
                  <a:tcPr marL="35278" marR="35278" marT="18815" marB="1881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list-item</a:t>
                      </a:r>
                    </a:p>
                  </a:txBody>
                  <a:tcPr marL="35278" marR="35278" marT="18815" marB="1881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Элемент генерирует структурный блок, который отображается как элемент списка &lt;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li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&gt;.</a:t>
                      </a:r>
                    </a:p>
                  </a:txBody>
                  <a:tcPr marL="35278" marR="35278" marT="18815" marB="1881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table</a:t>
                      </a:r>
                    </a:p>
                  </a:txBody>
                  <a:tcPr marL="35278" marR="35278" marT="18815" marB="1881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Элемент генерирует структурный блок. На странице ведет себя аналогично &lt;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table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&gt;.</a:t>
                      </a:r>
                    </a:p>
                  </a:txBody>
                  <a:tcPr marL="35278" marR="35278" marT="18815" marB="18815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table-caption</a:t>
                      </a:r>
                    </a:p>
                  </a:txBody>
                  <a:tcPr marL="35278" marR="35278" marT="18815" marB="18815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Элемент генерирует основной заголовок таблицы. На странице ведет себя аналогично &lt;</a:t>
                      </a:r>
                      <a:r>
                        <a:rPr lang="ru-RU" sz="1600" dirty="0" err="1">
                          <a:solidFill>
                            <a:schemeClr val="bg1"/>
                          </a:solidFill>
                        </a:rPr>
                        <a:t>caption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&gt;.</a:t>
                      </a:r>
                    </a:p>
                  </a:txBody>
                  <a:tcPr marL="35278" marR="35278" marT="18815" marB="18815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179512" y="260648"/>
          <a:ext cx="8712968" cy="579085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2605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76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en-US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table-column</a:t>
                      </a:r>
                    </a:p>
                  </a:txBody>
                  <a:tcPr marL="35278" marR="35278" marT="18815" marB="18815"/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ru-RU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Элемент описывает столбец ячеек, визуальное представление не генерируется. Аналог — &lt;col&gt;.</a:t>
                      </a:r>
                    </a:p>
                  </a:txBody>
                  <a:tcPr marL="35278" marR="35278" marT="18815" marB="1881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en-US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table-column-group</a:t>
                      </a:r>
                    </a:p>
                  </a:txBody>
                  <a:tcPr marL="35278" marR="35278" marT="18815" marB="18815"/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ru-RU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Элемент объединяет один или несколько столбцов. Аналог — &lt;</a:t>
                      </a:r>
                      <a:r>
                        <a:rPr kumimoji="0" lang="ru-RU" sz="1800" b="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colgroup</a:t>
                      </a:r>
                      <a:r>
                        <a:rPr kumimoji="0" lang="ru-RU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&gt;.</a:t>
                      </a:r>
                    </a:p>
                  </a:txBody>
                  <a:tcPr marL="35278" marR="35278" marT="18815" marB="1881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en-US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table-cell</a:t>
                      </a:r>
                    </a:p>
                  </a:txBody>
                  <a:tcPr marL="35278" marR="35278" marT="18815" marB="18815"/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ru-RU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Элемент генерирует отдельную ячейку таблицы, на странице </a:t>
                      </a:r>
                      <a:r>
                        <a:rPr kumimoji="0" lang="ru-RU" sz="1800" b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ведет </a:t>
                      </a:r>
                      <a:r>
                        <a:rPr kumimoji="0" lang="ru-RU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себя аналогично &lt;</a:t>
                      </a:r>
                      <a:r>
                        <a:rPr kumimoji="0" lang="ru-RU" sz="1800" b="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th</a:t>
                      </a:r>
                      <a:r>
                        <a:rPr kumimoji="0" lang="ru-RU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&gt; и &lt;</a:t>
                      </a:r>
                      <a:r>
                        <a:rPr kumimoji="0" lang="ru-RU" sz="1800" b="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td</a:t>
                      </a:r>
                      <a:r>
                        <a:rPr kumimoji="0" lang="ru-RU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&gt;.</a:t>
                      </a:r>
                    </a:p>
                  </a:txBody>
                  <a:tcPr marL="35278" marR="35278" marT="18815" marB="1881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en-US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table-header-group</a:t>
                      </a:r>
                    </a:p>
                  </a:txBody>
                  <a:tcPr marL="35278" marR="35278" marT="18815" marB="18815"/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ru-RU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Элемент определяет группу строк заголовка, которая всегда отображается перед остальными строками и группами строк. Аналог — &lt;thead&gt;.</a:t>
                      </a:r>
                    </a:p>
                  </a:txBody>
                  <a:tcPr marL="35278" marR="35278" marT="18815" marB="1881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en-US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table-footer-group</a:t>
                      </a:r>
                    </a:p>
                  </a:txBody>
                  <a:tcPr marL="35278" marR="35278" marT="18815" marB="18815"/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ru-RU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Элемент определяет группу строк заголовка, которая всегда отображается после всех остальных строк и перед любым нижним основным заголовком. Ведет себя аналогично &lt;</a:t>
                      </a:r>
                      <a:r>
                        <a:rPr kumimoji="0" lang="ru-RU" sz="1800" b="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tfoot</a:t>
                      </a:r>
                      <a:r>
                        <a:rPr kumimoji="0" lang="ru-RU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&gt;.</a:t>
                      </a:r>
                    </a:p>
                  </a:txBody>
                  <a:tcPr marL="35278" marR="35278" marT="18815" marB="1881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en-US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table-row-group</a:t>
                      </a:r>
                    </a:p>
                  </a:txBody>
                  <a:tcPr marL="35278" marR="35278" marT="18815" marB="18815"/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ru-RU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Элемент объединяет одну или несколько строк. Аналог — &lt;</a:t>
                      </a:r>
                      <a:r>
                        <a:rPr kumimoji="0" lang="ru-RU" sz="1800" b="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tbody</a:t>
                      </a:r>
                      <a:r>
                        <a:rPr kumimoji="0" lang="ru-RU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35278" marR="35278" marT="18815" marB="1881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en-US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table-row</a:t>
                      </a:r>
                    </a:p>
                  </a:txBody>
                  <a:tcPr marL="35278" marR="35278" marT="18815" marB="18815"/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ru-RU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Элемент является строкой ячеек. Пример — &lt;</a:t>
                      </a:r>
                      <a:r>
                        <a:rPr kumimoji="0" lang="ru-RU" sz="1800" b="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tr</a:t>
                      </a:r>
                      <a:r>
                        <a:rPr kumimoji="0" lang="ru-RU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&gt;.</a:t>
                      </a:r>
                    </a:p>
                  </a:txBody>
                  <a:tcPr marL="35278" marR="35278" marT="18815" marB="1881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en-US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none</a:t>
                      </a:r>
                    </a:p>
                  </a:txBody>
                  <a:tcPr marL="35278" marR="35278" marT="18815" marB="18815"/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ru-RU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Элемент не генерирует никакой контейнер, полностью удаляясь со страницы.</a:t>
                      </a:r>
                    </a:p>
                  </a:txBody>
                  <a:tcPr marL="35278" marR="35278" marT="18815" marB="1881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en-US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inherit</a:t>
                      </a:r>
                    </a:p>
                  </a:txBody>
                  <a:tcPr marL="35278" marR="35278" marT="18815" marB="18815"/>
                </a:tc>
                <a:tc>
                  <a:txBody>
                    <a:bodyPr/>
                    <a:lstStyle/>
                    <a:p>
                      <a:pPr marL="0" algn="l" rtl="0" eaLnBrk="1" fontAlgn="t" latinLnBrk="0" hangingPunct="1"/>
                      <a:r>
                        <a:rPr kumimoji="0" lang="ru-RU" sz="1800" b="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Наследует свойство от родительского элемента.</a:t>
                      </a:r>
                    </a:p>
                  </a:txBody>
                  <a:tcPr marL="35278" marR="35278" marT="18815" marB="18815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420888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4</a:t>
            </a:r>
            <a:r>
              <a:rPr lang="en-US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</a:t>
            </a:r>
            <a:r>
              <a:rPr lang="ru-RU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4000" b="1" u="sng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Псевдоклассы</a:t>
            </a:r>
            <a:endParaRPr lang="en-US" sz="4000" b="1" u="sng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404664"/>
            <a:ext cx="8640960" cy="59708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b="1" dirty="0" smtClean="0">
                <a:solidFill>
                  <a:schemeClr val="bg1"/>
                </a:solidFill>
              </a:rPr>
              <a:t>Динамические </a:t>
            </a:r>
            <a:r>
              <a:rPr lang="ru-RU" sz="2000" b="1" dirty="0" err="1" smtClean="0">
                <a:solidFill>
                  <a:schemeClr val="bg1"/>
                </a:solidFill>
              </a:rPr>
              <a:t>псевдоклассы</a:t>
            </a:r>
            <a:endParaRPr lang="ru-RU" sz="2000" b="1" dirty="0" smtClean="0">
              <a:solidFill>
                <a:schemeClr val="bg1"/>
              </a:solidFill>
            </a:endParaRPr>
          </a:p>
          <a:p>
            <a:endParaRPr lang="ru-RU" sz="2800" dirty="0" smtClean="0">
              <a:solidFill>
                <a:schemeClr val="bg1"/>
              </a:solidFill>
            </a:endParaRPr>
          </a:p>
          <a:p>
            <a:r>
              <a:rPr lang="ru-RU" dirty="0" smtClean="0">
                <a:solidFill>
                  <a:schemeClr val="bg1"/>
                </a:solidFill>
              </a:rPr>
              <a:t>Выбирают ссылки на странице, которые имеют атрибут </a:t>
            </a:r>
            <a:r>
              <a:rPr lang="ru-RU" dirty="0" err="1" smtClean="0">
                <a:solidFill>
                  <a:schemeClr val="bg1"/>
                </a:solidFill>
              </a:rPr>
              <a:t>href</a:t>
            </a:r>
            <a:r>
              <a:rPr lang="ru-RU" dirty="0" smtClean="0">
                <a:solidFill>
                  <a:schemeClr val="bg1"/>
                </a:solidFill>
              </a:rPr>
              <a:t> и находятся в определенном состоянии, а также некоторые другие элементы:</a:t>
            </a:r>
          </a:p>
          <a:p>
            <a:endParaRPr lang="ru-RU" dirty="0" smtClean="0">
              <a:solidFill>
                <a:schemeClr val="bg1"/>
              </a:solidFill>
            </a:endParaRPr>
          </a:p>
          <a:p>
            <a:r>
              <a:rPr lang="ru-RU" dirty="0" smtClean="0">
                <a:solidFill>
                  <a:schemeClr val="bg1"/>
                </a:solidFill>
              </a:rPr>
              <a:t>:</a:t>
            </a:r>
            <a:r>
              <a:rPr lang="ru-RU" dirty="0" err="1" smtClean="0">
                <a:solidFill>
                  <a:schemeClr val="bg1"/>
                </a:solidFill>
              </a:rPr>
              <a:t>link</a:t>
            </a:r>
            <a:r>
              <a:rPr lang="ru-RU" dirty="0" smtClean="0">
                <a:solidFill>
                  <a:schemeClr val="bg1"/>
                </a:solidFill>
              </a:rPr>
              <a:t> — не посещенная ссылка;</a:t>
            </a:r>
          </a:p>
          <a:p>
            <a:endParaRPr lang="ru-RU" dirty="0" smtClean="0">
              <a:solidFill>
                <a:schemeClr val="bg1"/>
              </a:solidFill>
            </a:endParaRPr>
          </a:p>
          <a:p>
            <a:r>
              <a:rPr lang="ru-RU" dirty="0" smtClean="0">
                <a:solidFill>
                  <a:schemeClr val="bg1"/>
                </a:solidFill>
              </a:rPr>
              <a:t>:</a:t>
            </a:r>
            <a:r>
              <a:rPr lang="ru-RU" dirty="0" err="1" smtClean="0">
                <a:solidFill>
                  <a:schemeClr val="bg1"/>
                </a:solidFill>
              </a:rPr>
              <a:t>visited</a:t>
            </a:r>
            <a:r>
              <a:rPr lang="ru-RU" dirty="0" smtClean="0">
                <a:solidFill>
                  <a:schemeClr val="bg1"/>
                </a:solidFill>
              </a:rPr>
              <a:t> — посещенная ссылка;</a:t>
            </a:r>
          </a:p>
          <a:p>
            <a:endParaRPr lang="ru-RU" dirty="0" smtClean="0">
              <a:solidFill>
                <a:schemeClr val="bg1"/>
              </a:solidFill>
            </a:endParaRPr>
          </a:p>
          <a:p>
            <a:r>
              <a:rPr lang="ru-RU" dirty="0" smtClean="0">
                <a:solidFill>
                  <a:schemeClr val="bg1"/>
                </a:solidFill>
              </a:rPr>
              <a:t>:</a:t>
            </a:r>
            <a:r>
              <a:rPr lang="ru-RU" dirty="0" err="1" smtClean="0">
                <a:solidFill>
                  <a:schemeClr val="bg1"/>
                </a:solidFill>
              </a:rPr>
              <a:t>focus</a:t>
            </a:r>
            <a:r>
              <a:rPr lang="ru-RU" dirty="0" smtClean="0">
                <a:solidFill>
                  <a:schemeClr val="bg1"/>
                </a:solidFill>
              </a:rPr>
              <a:t> — ссылки, а также элементы форм, которые активированы посредством курсора мыши или на которые перешли с помощью клавиатуры (кнопка TAB);</a:t>
            </a:r>
          </a:p>
          <a:p>
            <a:endParaRPr lang="ru-RU" dirty="0" smtClean="0">
              <a:solidFill>
                <a:schemeClr val="bg1"/>
              </a:solidFill>
            </a:endParaRPr>
          </a:p>
          <a:p>
            <a:r>
              <a:rPr lang="ru-RU" dirty="0" smtClean="0">
                <a:solidFill>
                  <a:schemeClr val="bg1"/>
                </a:solidFill>
              </a:rPr>
              <a:t>:</a:t>
            </a:r>
            <a:r>
              <a:rPr lang="ru-RU" dirty="0" err="1" smtClean="0">
                <a:solidFill>
                  <a:schemeClr val="bg1"/>
                </a:solidFill>
              </a:rPr>
              <a:t>hover</a:t>
            </a:r>
            <a:r>
              <a:rPr lang="ru-RU" dirty="0" smtClean="0">
                <a:solidFill>
                  <a:schemeClr val="bg1"/>
                </a:solidFill>
              </a:rPr>
              <a:t> — ссылки, а также другие элементы, стили применяются при наведении пользователем на элемент;</a:t>
            </a:r>
          </a:p>
          <a:p>
            <a:endParaRPr lang="ru-RU" dirty="0" smtClean="0">
              <a:solidFill>
                <a:schemeClr val="bg1"/>
              </a:solidFill>
            </a:endParaRPr>
          </a:p>
          <a:p>
            <a:r>
              <a:rPr lang="ru-RU" dirty="0" smtClean="0">
                <a:solidFill>
                  <a:schemeClr val="bg1"/>
                </a:solidFill>
              </a:rPr>
              <a:t>:</a:t>
            </a:r>
            <a:r>
              <a:rPr lang="ru-RU" dirty="0" err="1" smtClean="0">
                <a:solidFill>
                  <a:schemeClr val="bg1"/>
                </a:solidFill>
              </a:rPr>
              <a:t>active</a:t>
            </a:r>
            <a:r>
              <a:rPr lang="ru-RU" dirty="0" smtClean="0">
                <a:solidFill>
                  <a:schemeClr val="bg1"/>
                </a:solidFill>
              </a:rPr>
              <a:t> — выбирает элемент, активированный пользователем с помощью клика мышки. Обычно применяется для ссылок, но может отбирать и другие элементы на странице.</a:t>
            </a:r>
            <a:endParaRPr lang="ru-RU" sz="2800" dirty="0" smtClean="0">
              <a:solidFill>
                <a:schemeClr val="bg1"/>
              </a:solidFill>
            </a:endParaRPr>
          </a:p>
          <a:p>
            <a:endParaRPr lang="ru-RU" sz="2800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404664"/>
            <a:ext cx="8640960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b="1" dirty="0" smtClean="0">
                <a:solidFill>
                  <a:schemeClr val="bg1"/>
                </a:solidFill>
              </a:rPr>
              <a:t>Структурные </a:t>
            </a:r>
            <a:r>
              <a:rPr lang="ru-RU" sz="2000" b="1" dirty="0" err="1" smtClean="0">
                <a:solidFill>
                  <a:schemeClr val="bg1"/>
                </a:solidFill>
              </a:rPr>
              <a:t>псевдоклассы</a:t>
            </a:r>
            <a:endParaRPr lang="ru-RU" sz="2000" b="1" dirty="0" smtClean="0">
              <a:solidFill>
                <a:schemeClr val="bg1"/>
              </a:solidFill>
            </a:endParaRPr>
          </a:p>
          <a:p>
            <a:endParaRPr lang="ru-RU" dirty="0" smtClean="0">
              <a:solidFill>
                <a:schemeClr val="bg1"/>
              </a:solidFill>
            </a:endParaRPr>
          </a:p>
          <a:p>
            <a:r>
              <a:rPr lang="ru-RU" dirty="0" smtClean="0">
                <a:solidFill>
                  <a:schemeClr val="bg1"/>
                </a:solidFill>
              </a:rPr>
              <a:t>:</a:t>
            </a:r>
            <a:r>
              <a:rPr lang="ru-RU" dirty="0" err="1" smtClean="0">
                <a:solidFill>
                  <a:schemeClr val="bg1"/>
                </a:solidFill>
              </a:rPr>
              <a:t>first-child</a:t>
            </a:r>
            <a:r>
              <a:rPr lang="ru-RU" dirty="0" smtClean="0">
                <a:solidFill>
                  <a:schemeClr val="bg1"/>
                </a:solidFill>
              </a:rPr>
              <a:t> — элемент, который является первым дочерним элементом некоторого другого элемента;</a:t>
            </a:r>
          </a:p>
          <a:p>
            <a:endParaRPr lang="ru-RU" dirty="0" smtClean="0">
              <a:solidFill>
                <a:schemeClr val="bg1"/>
              </a:solidFill>
            </a:endParaRPr>
          </a:p>
          <a:p>
            <a:r>
              <a:rPr lang="ru-RU" dirty="0" smtClean="0">
                <a:solidFill>
                  <a:schemeClr val="bg1"/>
                </a:solidFill>
              </a:rPr>
              <a:t>:</a:t>
            </a:r>
            <a:r>
              <a:rPr lang="ru-RU" dirty="0" err="1" smtClean="0">
                <a:solidFill>
                  <a:schemeClr val="bg1"/>
                </a:solidFill>
              </a:rPr>
              <a:t>last-child</a:t>
            </a:r>
            <a:r>
              <a:rPr lang="ru-RU" dirty="0" smtClean="0">
                <a:solidFill>
                  <a:schemeClr val="bg1"/>
                </a:solidFill>
              </a:rPr>
              <a:t> — последний дочерний элемент элемента-контейнера;</a:t>
            </a:r>
          </a:p>
          <a:p>
            <a:endParaRPr lang="ru-RU" dirty="0" smtClean="0">
              <a:solidFill>
                <a:schemeClr val="bg1"/>
              </a:solidFill>
            </a:endParaRPr>
          </a:p>
          <a:p>
            <a:r>
              <a:rPr lang="ru-RU" dirty="0" smtClean="0">
                <a:solidFill>
                  <a:schemeClr val="bg1"/>
                </a:solidFill>
              </a:rPr>
              <a:t>:</a:t>
            </a:r>
            <a:r>
              <a:rPr lang="ru-RU" dirty="0" err="1" smtClean="0">
                <a:solidFill>
                  <a:schemeClr val="bg1"/>
                </a:solidFill>
              </a:rPr>
              <a:t>first-line</a:t>
            </a:r>
            <a:r>
              <a:rPr lang="ru-RU" dirty="0" smtClean="0">
                <a:solidFill>
                  <a:schemeClr val="bg1"/>
                </a:solidFill>
              </a:rPr>
              <a:t> задает стиль первой строки форматированного текста. Длина этой строки зависит от многих факторов, таких как используемый шрифт, размер окна браузера, ширина блока, языка и т.д. В правилах стиля допустимо использовать только свойства, относящиеся к шрифту, изменению цвета текста и фона.</a:t>
            </a:r>
          </a:p>
          <a:p>
            <a:endParaRPr lang="ru-RU" dirty="0" smtClean="0">
              <a:solidFill>
                <a:schemeClr val="bg1"/>
              </a:solidFill>
            </a:endParaRPr>
          </a:p>
          <a:p>
            <a:r>
              <a:rPr lang="ru-RU" dirty="0" smtClean="0">
                <a:solidFill>
                  <a:schemeClr val="bg1"/>
                </a:solidFill>
              </a:rPr>
              <a:t>:</a:t>
            </a:r>
            <a:r>
              <a:rPr lang="ru-RU" dirty="0" err="1" smtClean="0">
                <a:solidFill>
                  <a:schemeClr val="bg1"/>
                </a:solidFill>
              </a:rPr>
              <a:t>first-letter</a:t>
            </a:r>
            <a:r>
              <a:rPr lang="ru-RU" dirty="0" smtClean="0">
                <a:solidFill>
                  <a:schemeClr val="bg1"/>
                </a:solidFill>
              </a:rPr>
              <a:t> определяет стиль первого символа в тексте элемента, к которому добавляется. К этому </a:t>
            </a:r>
            <a:r>
              <a:rPr lang="ru-RU" dirty="0" err="1" smtClean="0">
                <a:solidFill>
                  <a:schemeClr val="bg1"/>
                </a:solidFill>
              </a:rPr>
              <a:t>псевдоэлементу</a:t>
            </a:r>
            <a:r>
              <a:rPr lang="ru-RU" dirty="0" smtClean="0">
                <a:solidFill>
                  <a:schemeClr val="bg1"/>
                </a:solidFill>
              </a:rPr>
              <a:t> могут применяться только стилевые свойства, связанные со свойствами шрифта, полями, отступами, границами, цветом и фоном.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51520" y="188640"/>
            <a:ext cx="864096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 smtClean="0">
                <a:solidFill>
                  <a:schemeClr val="bg1"/>
                </a:solidFill>
              </a:rPr>
              <a:t>CSS </a:t>
            </a:r>
            <a:r>
              <a:rPr lang="ru-RU" sz="2000" b="1" dirty="0" smtClean="0">
                <a:solidFill>
                  <a:schemeClr val="bg1"/>
                </a:solidFill>
              </a:rPr>
              <a:t>свойство </a:t>
            </a:r>
            <a:r>
              <a:rPr lang="en-US" sz="2000" b="1" dirty="0" smtClean="0">
                <a:solidFill>
                  <a:schemeClr val="bg1"/>
                </a:solidFill>
              </a:rPr>
              <a:t>cursor</a:t>
            </a:r>
            <a:endParaRPr lang="ru-RU" dirty="0" smtClean="0">
              <a:solidFill>
                <a:schemeClr val="bg1"/>
              </a:solidFill>
            </a:endParaRP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251518" y="692696"/>
          <a:ext cx="8640962" cy="612000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43204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4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Значение</a:t>
                      </a:r>
                    </a:p>
                  </a:txBody>
                  <a:tcPr marL="14963" marR="14963" marT="14963" marB="14963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/>
                          </a:solidFill>
                        </a:rPr>
                        <a:t>Пример</a:t>
                      </a:r>
                    </a:p>
                  </a:txBody>
                  <a:tcPr marL="14963" marR="14963" marT="14963" marB="14963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default</a:t>
                      </a:r>
                    </a:p>
                  </a:txBody>
                  <a:tcPr marL="14963" marR="14963" marT="14963" marB="14963" anchor="ctr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P {cursor: default}</a:t>
                      </a:r>
                    </a:p>
                  </a:txBody>
                  <a:tcPr marL="14963" marR="14963" marT="14963" marB="14963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crosshair</a:t>
                      </a:r>
                    </a:p>
                  </a:txBody>
                  <a:tcPr marL="14963" marR="14963" marT="14963" marB="14963" anchor="ctr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P {cursor: crosshair}</a:t>
                      </a:r>
                    </a:p>
                  </a:txBody>
                  <a:tcPr marL="14963" marR="14963" marT="14963" marB="14963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help</a:t>
                      </a:r>
                    </a:p>
                  </a:txBody>
                  <a:tcPr marL="14963" marR="14963" marT="14963" marB="14963" anchor="ctr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P {cursor: help}</a:t>
                      </a:r>
                    </a:p>
                  </a:txBody>
                  <a:tcPr marL="14963" marR="14963" marT="14963" marB="14963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move</a:t>
                      </a:r>
                    </a:p>
                  </a:txBody>
                  <a:tcPr marL="14963" marR="14963" marT="14963" marB="14963" anchor="ctr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P {cursor: move}</a:t>
                      </a:r>
                    </a:p>
                  </a:txBody>
                  <a:tcPr marL="14963" marR="14963" marT="14963" marB="14963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pointer</a:t>
                      </a:r>
                    </a:p>
                  </a:txBody>
                  <a:tcPr marL="14963" marR="14963" marT="14963" marB="14963" anchor="ctr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P {cursor: pointer}</a:t>
                      </a:r>
                    </a:p>
                  </a:txBody>
                  <a:tcPr marL="14963" marR="14963" marT="14963" marB="14963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progress</a:t>
                      </a:r>
                    </a:p>
                  </a:txBody>
                  <a:tcPr marL="14963" marR="14963" marT="14963" marB="14963" anchor="ctr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P {cursor: progress}</a:t>
                      </a:r>
                    </a:p>
                  </a:txBody>
                  <a:tcPr marL="14963" marR="14963" marT="14963" marB="14963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text</a:t>
                      </a:r>
                    </a:p>
                  </a:txBody>
                  <a:tcPr marL="14963" marR="14963" marT="14963" marB="14963" anchor="ctr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P {cursor: text}</a:t>
                      </a:r>
                    </a:p>
                  </a:txBody>
                  <a:tcPr marL="14963" marR="14963" marT="14963" marB="14963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wait</a:t>
                      </a:r>
                    </a:p>
                  </a:txBody>
                  <a:tcPr marL="14963" marR="14963" marT="14963" marB="14963" anchor="ctr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P {cursor: wait}</a:t>
                      </a:r>
                    </a:p>
                  </a:txBody>
                  <a:tcPr marL="14963" marR="14963" marT="14963" marB="14963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n-resize</a:t>
                      </a:r>
                    </a:p>
                  </a:txBody>
                  <a:tcPr marL="14963" marR="14963" marT="14963" marB="14963" anchor="ctr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P {cursor: n-resize}</a:t>
                      </a:r>
                    </a:p>
                  </a:txBody>
                  <a:tcPr marL="14963" marR="14963" marT="14963" marB="14963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ne-resize</a:t>
                      </a:r>
                    </a:p>
                  </a:txBody>
                  <a:tcPr marL="14963" marR="14963" marT="14963" marB="14963" anchor="ctr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P {cursor: ne-resize}</a:t>
                      </a:r>
                    </a:p>
                  </a:txBody>
                  <a:tcPr marL="14963" marR="14963" marT="14963" marB="14963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e-resize</a:t>
                      </a:r>
                    </a:p>
                  </a:txBody>
                  <a:tcPr marL="14963" marR="14963" marT="14963" marB="14963" anchor="ctr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P {cursor :e-resize}</a:t>
                      </a:r>
                    </a:p>
                  </a:txBody>
                  <a:tcPr marL="14963" marR="14963" marT="14963" marB="14963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se-resize</a:t>
                      </a:r>
                    </a:p>
                  </a:txBody>
                  <a:tcPr marL="14963" marR="14963" marT="14963" marB="14963" anchor="ctr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P {cursor: se-resize}</a:t>
                      </a:r>
                    </a:p>
                  </a:txBody>
                  <a:tcPr marL="14963" marR="14963" marT="14963" marB="14963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s-resize</a:t>
                      </a:r>
                    </a:p>
                  </a:txBody>
                  <a:tcPr marL="14963" marR="14963" marT="14963" marB="14963" anchor="ctr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P {cursor: s-resize}</a:t>
                      </a:r>
                    </a:p>
                  </a:txBody>
                  <a:tcPr marL="14963" marR="14963" marT="14963" marB="14963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sw-resize</a:t>
                      </a:r>
                    </a:p>
                  </a:txBody>
                  <a:tcPr marL="14963" marR="14963" marT="14963" marB="14963" anchor="ctr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P {cursor: sw-resize}</a:t>
                      </a:r>
                    </a:p>
                  </a:txBody>
                  <a:tcPr marL="14963" marR="14963" marT="14963" marB="14963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w-resize</a:t>
                      </a:r>
                    </a:p>
                  </a:txBody>
                  <a:tcPr marL="14963" marR="14963" marT="14963" marB="14963" anchor="ctr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P {cursor: w-resize}</a:t>
                      </a:r>
                    </a:p>
                  </a:txBody>
                  <a:tcPr marL="14963" marR="14963" marT="14963" marB="14963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chemeClr val="bg1"/>
                          </a:solidFill>
                        </a:rPr>
                        <a:t>nw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-resize</a:t>
                      </a:r>
                    </a:p>
                  </a:txBody>
                  <a:tcPr marL="14963" marR="14963" marT="14963" marB="14963" anchor="ctr"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P {cursor :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</a:rPr>
                        <a:t>nw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-resize}</a:t>
                      </a:r>
                    </a:p>
                  </a:txBody>
                  <a:tcPr marL="14963" marR="14963" marT="14963" marB="14963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pic>
        <p:nvPicPr>
          <p:cNvPr id="87043" name="Picture 3" descr="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36118" y="1484784"/>
            <a:ext cx="247650" cy="247650"/>
          </a:xfrm>
          <a:prstGeom prst="rect">
            <a:avLst/>
          </a:prstGeom>
          <a:noFill/>
        </p:spPr>
      </p:pic>
      <p:pic>
        <p:nvPicPr>
          <p:cNvPr id="87044" name="Picture 4" descr="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236118" y="1844824"/>
            <a:ext cx="247650" cy="247650"/>
          </a:xfrm>
          <a:prstGeom prst="rect">
            <a:avLst/>
          </a:prstGeom>
          <a:noFill/>
        </p:spPr>
      </p:pic>
      <p:pic>
        <p:nvPicPr>
          <p:cNvPr id="87045" name="Picture 5" descr="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236118" y="2204864"/>
            <a:ext cx="247650" cy="247650"/>
          </a:xfrm>
          <a:prstGeom prst="rect">
            <a:avLst/>
          </a:prstGeom>
          <a:noFill/>
        </p:spPr>
      </p:pic>
      <p:pic>
        <p:nvPicPr>
          <p:cNvPr id="87046" name="Picture 6" descr="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236118" y="2492896"/>
            <a:ext cx="247650" cy="247650"/>
          </a:xfrm>
          <a:prstGeom prst="rect">
            <a:avLst/>
          </a:prstGeom>
          <a:noFill/>
        </p:spPr>
      </p:pic>
      <p:pic>
        <p:nvPicPr>
          <p:cNvPr id="87047" name="Picture 7" descr="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2236118" y="2924944"/>
            <a:ext cx="238125" cy="247650"/>
          </a:xfrm>
          <a:prstGeom prst="rect">
            <a:avLst/>
          </a:prstGeom>
          <a:noFill/>
        </p:spPr>
      </p:pic>
      <p:pic>
        <p:nvPicPr>
          <p:cNvPr id="87048" name="Picture 8" descr="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2236118" y="3284984"/>
            <a:ext cx="247650" cy="247650"/>
          </a:xfrm>
          <a:prstGeom prst="rect">
            <a:avLst/>
          </a:prstGeom>
          <a:noFill/>
        </p:spPr>
      </p:pic>
      <p:pic>
        <p:nvPicPr>
          <p:cNvPr id="87049" name="Picture 9" descr="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2236118" y="3645024"/>
            <a:ext cx="247650" cy="247650"/>
          </a:xfrm>
          <a:prstGeom prst="rect">
            <a:avLst/>
          </a:prstGeom>
          <a:noFill/>
        </p:spPr>
      </p:pic>
      <p:pic>
        <p:nvPicPr>
          <p:cNvPr id="87050" name="Picture 10" descr=""/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2236118" y="4005064"/>
            <a:ext cx="247650" cy="247650"/>
          </a:xfrm>
          <a:prstGeom prst="rect">
            <a:avLst/>
          </a:prstGeom>
          <a:noFill/>
        </p:spPr>
      </p:pic>
      <p:pic>
        <p:nvPicPr>
          <p:cNvPr id="87051" name="Picture 11" descr=""/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2236118" y="4365104"/>
            <a:ext cx="247650" cy="247650"/>
          </a:xfrm>
          <a:prstGeom prst="rect">
            <a:avLst/>
          </a:prstGeom>
          <a:noFill/>
        </p:spPr>
      </p:pic>
      <p:pic>
        <p:nvPicPr>
          <p:cNvPr id="87052" name="Picture 12" descr="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2236118" y="4725144"/>
            <a:ext cx="247650" cy="247650"/>
          </a:xfrm>
          <a:prstGeom prst="rect">
            <a:avLst/>
          </a:prstGeom>
          <a:noFill/>
        </p:spPr>
      </p:pic>
      <p:pic>
        <p:nvPicPr>
          <p:cNvPr id="87053" name="Picture 13" descr=" /"/>
          <p:cNvPicPr>
            <a:picLocks noChangeAspect="1"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2236118" y="5053558"/>
            <a:ext cx="247650" cy="247650"/>
          </a:xfrm>
          <a:prstGeom prst="rect">
            <a:avLst/>
          </a:prstGeom>
          <a:noFill/>
        </p:spPr>
      </p:pic>
      <p:pic>
        <p:nvPicPr>
          <p:cNvPr id="87054" name="Picture 14" descr=""/>
          <p:cNvPicPr>
            <a:picLocks noChangeAspect="1" noChangeArrowheads="1"/>
          </p:cNvPicPr>
          <p:nvPr/>
        </p:nvPicPr>
        <p:blipFill>
          <a:blip r:embed="rId14" cstate="print"/>
          <a:srcRect/>
          <a:stretch>
            <a:fillRect/>
          </a:stretch>
        </p:blipFill>
        <p:spPr bwMode="auto">
          <a:xfrm>
            <a:off x="2236118" y="5413598"/>
            <a:ext cx="247650" cy="247650"/>
          </a:xfrm>
          <a:prstGeom prst="rect">
            <a:avLst/>
          </a:prstGeom>
          <a:noFill/>
        </p:spPr>
      </p:pic>
      <p:pic>
        <p:nvPicPr>
          <p:cNvPr id="87055" name="Picture 15" descr="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236118" y="5805264"/>
            <a:ext cx="247650" cy="247650"/>
          </a:xfrm>
          <a:prstGeom prst="rect">
            <a:avLst/>
          </a:prstGeom>
          <a:noFill/>
        </p:spPr>
      </p:pic>
      <p:pic>
        <p:nvPicPr>
          <p:cNvPr id="87056" name="Picture 16" descr=""/>
          <p:cNvPicPr>
            <a:picLocks noChangeAspect="1" noChangeArrowheads="1"/>
          </p:cNvPicPr>
          <p:nvPr/>
        </p:nvPicPr>
        <p:blipFill>
          <a:blip r:embed="rId16" cstate="print"/>
          <a:srcRect/>
          <a:stretch>
            <a:fillRect/>
          </a:stretch>
        </p:blipFill>
        <p:spPr bwMode="auto">
          <a:xfrm>
            <a:off x="2236118" y="6165304"/>
            <a:ext cx="247650" cy="247650"/>
          </a:xfrm>
          <a:prstGeom prst="rect">
            <a:avLst/>
          </a:prstGeom>
          <a:noFill/>
        </p:spPr>
      </p:pic>
      <p:pic>
        <p:nvPicPr>
          <p:cNvPr id="87057" name="Picture 17" descr=""/>
          <p:cNvPicPr>
            <a:picLocks noChangeAspect="1" noChangeArrowheads="1"/>
          </p:cNvPicPr>
          <p:nvPr/>
        </p:nvPicPr>
        <p:blipFill>
          <a:blip r:embed="rId17" cstate="print"/>
          <a:srcRect/>
          <a:stretch>
            <a:fillRect/>
          </a:stretch>
        </p:blipFill>
        <p:spPr bwMode="auto">
          <a:xfrm>
            <a:off x="2236118" y="1124744"/>
            <a:ext cx="247650" cy="247650"/>
          </a:xfrm>
          <a:prstGeom prst="rect">
            <a:avLst/>
          </a:prstGeom>
          <a:noFill/>
        </p:spPr>
      </p:pic>
      <p:pic>
        <p:nvPicPr>
          <p:cNvPr id="21" name="Picture 17" descr=""/>
          <p:cNvPicPr>
            <a:picLocks noChangeAspect="1" noChangeArrowheads="1"/>
          </p:cNvPicPr>
          <p:nvPr/>
        </p:nvPicPr>
        <p:blipFill>
          <a:blip r:embed="rId17" cstate="print"/>
          <a:srcRect/>
          <a:stretch>
            <a:fillRect/>
          </a:stretch>
        </p:blipFill>
        <p:spPr bwMode="auto">
          <a:xfrm>
            <a:off x="2236118" y="6525344"/>
            <a:ext cx="247650" cy="247650"/>
          </a:xfrm>
          <a:prstGeom prst="rect">
            <a:avLst/>
          </a:prstGeom>
          <a:noFill/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348880"/>
            <a:ext cx="8640960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Домашнее задание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563231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Нужно создать 2 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страницы с возможностью переключения между страницами с помощью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горизонтальное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меню, при наведении и клике на меню должен изменятся цвет ссылки. При формировании страниц обязательно использовать классы!!!</a:t>
            </a:r>
          </a:p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Ширина блока с 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контентом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1200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px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На 1 странице должна быть 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фотогалерея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минимум из 6 фотографий</a:t>
            </a:r>
          </a:p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При наведении на фото должна появляться рамка во круг фото.</a:t>
            </a:r>
          </a:p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При нажатии фотография должна  открываться в новом окне. Фон на первой странице должен быть цветом.</a:t>
            </a:r>
          </a:p>
          <a:p>
            <a:pPr algn="ctr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2 страница</a:t>
            </a:r>
          </a:p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Фон должен быть картинкой!!! </a:t>
            </a:r>
          </a:p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 минимум 1000 символов, с использованием одного из </a:t>
            </a:r>
          </a:p>
          <a:p>
            <a:pPr algn="ctr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first-child, first-line, first-letter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 тексте должна быть картинка выровненная по правому краю</a:t>
            </a:r>
            <a:endParaRPr lang="en-US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У блока с текстом должен быть отступ слева и 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border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слева, при этом отступ должен быть от бордюра.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ssicPhotoAlbum">
  <a:themeElements>
    <a:clrScheme name="Technic">
      <a:dk1>
        <a:sysClr val="windowText" lastClr="000000"/>
      </a:dk1>
      <a:lt1>
        <a:sysClr val="window" lastClr="FFFFFF"/>
      </a:lt1>
      <a:dk2>
        <a:srgbClr val="3B3B3B"/>
      </a:dk2>
      <a:lt2>
        <a:srgbClr val="D4D2D0"/>
      </a:lt2>
      <a:accent1>
        <a:srgbClr val="6EA0B0"/>
      </a:accent1>
      <a:accent2>
        <a:srgbClr val="CCAF0A"/>
      </a:accent2>
      <a:accent3>
        <a:srgbClr val="8D89A4"/>
      </a:accent3>
      <a:accent4>
        <a:srgbClr val="748560"/>
      </a:accent4>
      <a:accent5>
        <a:srgbClr val="9E9273"/>
      </a:accent5>
      <a:accent6>
        <a:srgbClr val="7E848D"/>
      </a:accent6>
      <a:hlink>
        <a:srgbClr val="00C8C3"/>
      </a:hlink>
      <a:folHlink>
        <a:srgbClr val="A116E0"/>
      </a:folHlink>
    </a:clrScheme>
    <a:fontScheme name="Oriel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rek">
      <a:fillStyleLst>
        <a:solidFill>
          <a:schemeClr val="phClr"/>
        </a:solidFill>
        <a:gradFill rotWithShape="1">
          <a:gsLst>
            <a:gs pos="0">
              <a:schemeClr val="phClr">
                <a:tint val="30000"/>
                <a:satMod val="250000"/>
              </a:schemeClr>
            </a:gs>
            <a:gs pos="72000">
              <a:schemeClr val="phClr">
                <a:tint val="75000"/>
                <a:satMod val="210000"/>
              </a:schemeClr>
            </a:gs>
            <a:gs pos="100000">
              <a:schemeClr val="phClr">
                <a:tint val="85000"/>
                <a:satMod val="21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5000"/>
                <a:shade val="85000"/>
                <a:satMod val="230000"/>
              </a:schemeClr>
            </a:gs>
            <a:gs pos="25000">
              <a:schemeClr val="phClr">
                <a:tint val="90000"/>
                <a:shade val="70000"/>
                <a:satMod val="220000"/>
              </a:schemeClr>
            </a:gs>
            <a:gs pos="50000">
              <a:schemeClr val="phClr">
                <a:tint val="90000"/>
                <a:shade val="58000"/>
                <a:satMod val="225000"/>
              </a:schemeClr>
            </a:gs>
            <a:gs pos="65000">
              <a:schemeClr val="phClr">
                <a:tint val="90000"/>
                <a:shade val="58000"/>
                <a:satMod val="225000"/>
              </a:schemeClr>
            </a:gs>
            <a:gs pos="80000">
              <a:schemeClr val="phClr">
                <a:tint val="90000"/>
                <a:shade val="69000"/>
                <a:satMod val="220000"/>
              </a:schemeClr>
            </a:gs>
            <a:gs pos="100000">
              <a:schemeClr val="phClr">
                <a:tint val="77000"/>
                <a:shade val="80000"/>
                <a:satMod val="230000"/>
              </a:schemeClr>
            </a:gs>
          </a:gsLst>
          <a:lin ang="5400000" scaled="1"/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0"/>
            </a:lightRig>
          </a:scene3d>
          <a:sp3d prstMaterial="metal">
            <a:bevelT w="10000" h="10000"/>
          </a:sp3d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bliqueTopLeft" fov="600000">
              <a:rot lat="0" lon="0" rev="0"/>
            </a:camera>
            <a:lightRig rig="balanced" dir="t">
              <a:rot lat="0" lon="0" rev="19200000"/>
            </a:lightRig>
          </a:scene3d>
          <a:sp3d contourW="12700" prstMaterial="matte">
            <a:bevelT w="60000" h="50800"/>
            <a:contourClr>
              <a:schemeClr val="phClr">
                <a:shade val="60000"/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70000"/>
                <a:satMod val="350000"/>
              </a:schemeClr>
            </a:gs>
          </a:gsLst>
          <a:path path="circle">
            <a:fillToRect l="51000" t="-20000" r="2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25000"/>
                <a:satMod val="350000"/>
              </a:schemeClr>
              <a:schemeClr val="phClr">
                <a:tint val="83000"/>
                <a:satMod val="115000"/>
              </a:schemeClr>
            </a:duotone>
          </a:blip>
          <a:tile tx="0" ty="0" sx="120000" sy="120000" flip="xy" algn="t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</cp:revision>
  <dcterms:created xsi:type="dcterms:W3CDTF">2026-10-01T06:36:45Z</dcterms:created>
  <dcterms:modified xsi:type="dcterms:W3CDTF">2026-10-01T06:36:45Z</dcterms:modified>
</cp:coreProperties>
</file>