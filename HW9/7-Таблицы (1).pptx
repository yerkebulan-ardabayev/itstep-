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355" r:id="rId2"/>
    <p:sldId id="364" r:id="rId3"/>
    <p:sldId id="456" r:id="rId4"/>
    <p:sldId id="519" r:id="rId5"/>
    <p:sldId id="357" r:id="rId6"/>
    <p:sldId id="520" r:id="rId7"/>
    <p:sldId id="521" r:id="rId8"/>
    <p:sldId id="522" r:id="rId9"/>
    <p:sldId id="523" r:id="rId10"/>
    <p:sldId id="524" r:id="rId11"/>
    <p:sldId id="526" r:id="rId12"/>
    <p:sldId id="527" r:id="rId13"/>
    <p:sldId id="529" r:id="rId14"/>
    <p:sldId id="528" r:id="rId15"/>
    <p:sldId id="530" r:id="rId16"/>
    <p:sldId id="531" r:id="rId17"/>
    <p:sldId id="532" r:id="rId18"/>
    <p:sldId id="533" r:id="rId19"/>
    <p:sldId id="535" r:id="rId20"/>
    <p:sldId id="534" r:id="rId21"/>
    <p:sldId id="536" r:id="rId22"/>
    <p:sldId id="538" r:id="rId23"/>
    <p:sldId id="539" r:id="rId24"/>
    <p:sldId id="540" r:id="rId25"/>
    <p:sldId id="541" r:id="rId26"/>
    <p:sldId id="542" r:id="rId27"/>
    <p:sldId id="543" r:id="rId28"/>
    <p:sldId id="454" r:id="rId29"/>
    <p:sldId id="455" r:id="rId30"/>
  </p:sldIdLst>
  <p:sldSz cx="9144000" cy="6858000" type="screen4x3"/>
  <p:notesSz cx="6858000" cy="9144000"/>
  <p:defaultTextStyle>
    <a:lvl1pPr marL="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9729"/>
    <a:srgbClr val="0000FF"/>
    <a:srgbClr val="F94949"/>
    <a:srgbClr val="CC00CC"/>
    <a:srgbClr val="FF0000"/>
    <a:srgbClr val="00FF00"/>
    <a:srgbClr val="111111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Светлый стиль 3 -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Светлый стиль 1 -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-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Светлый стиль 3 -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06799F8-075E-4A3A-A7F6-7FBC6576F1A4}" styleName="Стиль из темы 2 - акцент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46F890A9-2807-4EBB-B81D-B2AA78EC7F39}" styleName="Темный стиль 2 - акцент 5/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Темный стиль 2 -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Темный стиль 2 - акцент 1/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8024" autoAdjust="0"/>
  </p:normalViewPr>
  <p:slideViewPr>
    <p:cSldViewPr>
      <p:cViewPr varScale="1">
        <p:scale>
          <a:sx n="110" d="100"/>
          <a:sy n="110" d="100"/>
        </p:scale>
        <p:origin x="164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3" name="Rectangle 3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ru-RU" sz="1200"/>
            </a:lvl1pPr>
            <a:extLst/>
          </a:lstStyle>
          <a:p>
            <a:fld id="{68F88C59-319B-4332-9A1D-2A62CFCB00D8}" type="datetimeFigureOut">
              <a:rPr lang="ru-RU" smtClean="0"/>
              <a:pPr/>
              <a:t>06.12.2021</a:t>
            </a:fld>
            <a:endParaRPr lang="ru-RU" dirty="0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ru-RU" sz="1200"/>
            </a:lvl1pPr>
            <a:extLst/>
          </a:lstStyle>
          <a:p>
            <a:fld id="{B16A41B8-7DC3-4DB6-84E4-E105629EAA36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ru-RU" sz="1200"/>
            </a:lvl1pPr>
            <a:extLst/>
          </a:lstStyle>
          <a:p>
            <a:fld id="{968B300D-05F0-4B43-940D-46DED5A791AD}" type="datetimeFigureOut">
              <a:rPr lang="ru-RU"/>
              <a:pPr/>
              <a:t>06.12.2021</a:t>
            </a:fld>
            <a:endParaRPr lang="ru-RU" dirty="0"/>
          </a:p>
        </p:txBody>
      </p:sp>
      <p:sp>
        <p:nvSpPr>
          <p:cNvPr id="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ru-RU" dirty="0"/>
          </a:p>
        </p:txBody>
      </p:sp>
      <p:sp>
        <p:nvSpPr>
          <p:cNvPr id="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ru-RU" sz="1200"/>
            </a:lvl1pPr>
            <a:extLst/>
          </a:lstStyle>
          <a:p>
            <a:fld id="{9B26CD33-4337-4529-948A-94F6960B2374}" type="slidenum">
              <a:rPr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</a:t>
            </a:fld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</a:t>
            </a:fld>
            <a:endParaRPr lang="ru-RU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</a:t>
            </a:fld>
            <a:endParaRPr lang="ru-RU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</a:t>
            </a:fld>
            <a:endParaRPr lang="ru-RU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5</a:t>
            </a:fld>
            <a:endParaRPr lang="ru-RU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6</a:t>
            </a:fld>
            <a:endParaRPr lang="ru-RU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7</a:t>
            </a:fld>
            <a:endParaRPr lang="ru-RU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8</a:t>
            </a:fld>
            <a:endParaRPr lang="ru-RU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9</a:t>
            </a:fld>
            <a:endParaRPr lang="ru-RU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10</a:t>
            </a:fld>
            <a:endParaRPr lang="ru-RU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11</a:t>
            </a:fld>
            <a:endParaRPr lang="ru-RU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12</a:t>
            </a:fld>
            <a:endParaRPr lang="ru-RU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13</a:t>
            </a:fld>
            <a:endParaRPr lang="ru-RU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14</a:t>
            </a:fld>
            <a:endParaRPr lang="ru-RU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15</a:t>
            </a:fld>
            <a:endParaRPr lang="ru-RU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16</a:t>
            </a:fld>
            <a:endParaRPr lang="ru-RU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17</a:t>
            </a:fld>
            <a:endParaRPr lang="ru-RU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18</a:t>
            </a:fld>
            <a:endParaRPr lang="ru-RU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19</a:t>
            </a:fld>
            <a:endParaRPr lang="ru-RU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20</a:t>
            </a:fld>
            <a:endParaRPr lang="ru-RU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21</a:t>
            </a:fld>
            <a:endParaRPr lang="ru-RU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22</a:t>
            </a:fld>
            <a:endParaRPr lang="ru-RU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23</a:t>
            </a:fld>
            <a:endParaRPr lang="ru-RU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24</a:t>
            </a:fld>
            <a:endParaRPr lang="ru-RU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25</a:t>
            </a:fld>
            <a:endParaRPr lang="ru-RU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26</a:t>
            </a:fld>
            <a:endParaRPr lang="ru-RU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27</a:t>
            </a:fld>
            <a:endParaRPr lang="ru-RU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28</a:t>
            </a:fld>
            <a:endParaRPr lang="ru-RU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29</a:t>
            </a:fld>
            <a:endParaRPr lang="ru-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ложка альбо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title" hasCustomPrompt="1"/>
          </p:nvPr>
        </p:nvSpPr>
        <p:spPr>
          <a:xfrm>
            <a:off x="228601" y="3962400"/>
            <a:ext cx="8298485" cy="1066800"/>
          </a:xfrm>
        </p:spPr>
        <p:txBody>
          <a:bodyPr bIns="0"/>
          <a:lstStyle>
            <a:lvl1pPr algn="r" eaLnBrk="1" latinLnBrk="0" hangingPunct="1">
              <a:defRPr kumimoji="0" lang="ru-RU"/>
            </a:lvl1pPr>
            <a:extLst/>
          </a:lstStyle>
          <a:p>
            <a:r>
              <a:rPr kumimoji="0" lang="ru-RU"/>
              <a:t>Заголовок фотоальбома</a:t>
            </a:r>
          </a:p>
        </p:txBody>
      </p:sp>
      <p:sp>
        <p:nvSpPr>
          <p:cNvPr id="30" name="Rectangle 7"/>
          <p:cNvSpPr>
            <a:spLocks/>
          </p:cNvSpPr>
          <p:nvPr/>
        </p:nvSpPr>
        <p:spPr>
          <a:xfrm>
            <a:off x="453736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/>
            </a:pPr>
            <a:endParaRPr kumimoji="0" lang="ru-RU" sz="3200" b="0" i="1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Rectangle 7"/>
          <p:cNvSpPr>
            <a:spLocks noGrp="1"/>
          </p:cNvSpPr>
          <p:nvPr>
            <p:ph type="body" sz="quarter" idx="10" hasCustomPrompt="1"/>
          </p:nvPr>
        </p:nvSpPr>
        <p:spPr>
          <a:xfrm>
            <a:off x="2133600" y="5133975"/>
            <a:ext cx="6386946" cy="1219200"/>
          </a:xfrm>
        </p:spPr>
        <p:txBody>
          <a:bodyPr vert="horz" tIns="0" anchor="t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Щелкните, чтобы добавить дату и прочие сведения</a:t>
            </a:r>
          </a:p>
        </p:txBody>
      </p:sp>
      <p:sp>
        <p:nvSpPr>
          <p:cNvPr id="27" name="Rectangle 6"/>
          <p:cNvSpPr>
            <a:spLocks noGrp="1"/>
          </p:cNvSpPr>
          <p:nvPr>
            <p:ph type="pic" sz="quarter" idx="11"/>
          </p:nvPr>
        </p:nvSpPr>
        <p:spPr>
          <a:xfrm>
            <a:off x="6096000" y="1600200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6" name="Rectangle 5"/>
          <p:cNvSpPr/>
          <p:nvPr userDrawn="1"/>
        </p:nvSpPr>
        <p:spPr>
          <a:xfrm>
            <a:off x="176844" y="186904"/>
            <a:ext cx="8763000" cy="6213896"/>
          </a:xfrm>
          <a:prstGeom prst="rect">
            <a:avLst/>
          </a:prstGeom>
          <a:noFill/>
          <a:ln w="9525" cap="rnd" cmpd="sng" algn="ctr">
            <a:solidFill>
              <a:schemeClr val="bg1">
                <a:tint val="85000"/>
              </a:schemeClr>
            </a:solidFill>
            <a:prstDash val="dash"/>
          </a:ln>
          <a:effectLst>
            <a:outerShdw blurRad="25400" dist="12700" dir="5400000" algn="tl" rotWithShape="0">
              <a:schemeClr val="bg1">
                <a:alpha val="60000"/>
              </a:scheme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06.12.2021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3" name="Rectangle 1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spect="1"/>
          </p:cNvSpPr>
          <p:nvPr>
            <p:ph type="pic" sz="quarter" idx="10"/>
          </p:nvPr>
        </p:nvSpPr>
        <p:spPr>
          <a:xfrm>
            <a:off x="914400" y="294590"/>
            <a:ext cx="7467600" cy="56007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Rectangle 5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6019800"/>
            <a:ext cx="7467600" cy="38100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06.12.2021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Книж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/>
          <p:cNvSpPr>
            <a:spLocks noGrp="1"/>
          </p:cNvSpPr>
          <p:nvPr>
            <p:ph type="pic" sz="quarter" idx="10"/>
          </p:nvPr>
        </p:nvSpPr>
        <p:spPr>
          <a:xfrm>
            <a:off x="419375" y="233241"/>
            <a:ext cx="4640305" cy="61722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3" name="Rectangle 6"/>
          <p:cNvSpPr>
            <a:spLocks noGrp="1"/>
          </p:cNvSpPr>
          <p:nvPr>
            <p:ph type="body" sz="quarter" idx="11" hasCustomPrompt="1"/>
          </p:nvPr>
        </p:nvSpPr>
        <p:spPr>
          <a:xfrm>
            <a:off x="5257800" y="3048000"/>
            <a:ext cx="3505200" cy="3352800"/>
          </a:xfrm>
        </p:spPr>
        <p:txBody>
          <a:bodyPr tIns="91440" bIns="91440"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06.12.2021</a:t>
            </a:fld>
            <a:endParaRPr kumimoji="0" lang="ru-RU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Альбомная (на весь экра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noFill/>
          <a:ln w="25400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>
              <a:buFontTx/>
              <a:buNone/>
            </a:pPr>
            <a:r>
              <a:rPr kumimoji="0" lang="ru-RU" i="0" dirty="0"/>
              <a:t>Щелкните значок,</a:t>
            </a:r>
            <a:r>
              <a:rPr kumimoji="0" lang="ru-RU" i="0" baseline="0" dirty="0"/>
              <a:t> чтобы добавить </a:t>
            </a:r>
            <a:r>
              <a:rPr kumimoji="0" lang="ru-RU" i="0" dirty="0"/>
              <a:t>фотографию размером со всю страницу</a:t>
            </a:r>
            <a:endParaRPr kumimoji="0" lang="ru-RU" i="0" baseline="0" dirty="0"/>
          </a:p>
          <a:p>
            <a:pPr marL="0" marR="0" indent="0" algn="ctr">
              <a:buFontTx/>
              <a:buNone/>
            </a:pPr>
            <a:endParaRPr kumimoji="0" lang="ru-RU" i="0" dirty="0"/>
          </a:p>
          <a:p>
            <a:pPr algn="ctr">
              <a:buFontTx/>
              <a:buNone/>
            </a:pPr>
            <a:endParaRPr kumimoji="0" lang="ru-RU" i="0" dirty="0"/>
          </a:p>
          <a:p>
            <a:pPr algn="ctr">
              <a:buFontTx/>
              <a:buNone/>
            </a:pPr>
            <a:endParaRPr kumimoji="0" lang="ru-RU" i="0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здел альбо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/>
          </p:cNvSpPr>
          <p:nvPr>
            <p:ph type="title" hasCustomPrompt="1"/>
          </p:nvPr>
        </p:nvSpPr>
        <p:spPr>
          <a:xfrm>
            <a:off x="752670" y="4572000"/>
            <a:ext cx="7781730" cy="990600"/>
          </a:xfrm>
        </p:spPr>
        <p:txBody>
          <a:bodyPr vert="horz" bIns="0" anchor="b" anchorCtr="0"/>
          <a:lstStyle>
            <a:lvl1pPr eaLnBrk="1" latinLnBrk="0" hangingPunct="1">
              <a:defRPr kumimoji="0" lang="ru-RU" baseline="0"/>
            </a:lvl1pPr>
            <a:extLst/>
          </a:lstStyle>
          <a:p>
            <a:r>
              <a:rPr kumimoji="0" lang="ru-RU"/>
              <a:t>Заголовок раздела</a:t>
            </a:r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752670" y="5600700"/>
            <a:ext cx="7772400" cy="838200"/>
          </a:xfrm>
        </p:spPr>
        <p:txBody>
          <a:bodyPr vert="horz" tIns="0"/>
          <a:lstStyle>
            <a:lvl1pPr eaLnBrk="1" latinLnBrk="0" hangingPunct="1">
              <a:buFontTx/>
              <a:buNone/>
              <a:defRPr kumimoji="0" lang="ru-RU" sz="1800"/>
            </a:lvl1pPr>
            <a:extLst/>
          </a:lstStyle>
          <a:p>
            <a:pPr lvl="0"/>
            <a:r>
              <a:rPr kumimoji="0" lang="ru-RU"/>
              <a:t>Подзаголовок слайда</a:t>
            </a:r>
          </a:p>
        </p:txBody>
      </p:sp>
      <p:sp>
        <p:nvSpPr>
          <p:cNvPr id="7" name="Rectangle 6"/>
          <p:cNvSpPr>
            <a:spLocks noGrp="1"/>
          </p:cNvSpPr>
          <p:nvPr>
            <p:ph type="pic" sz="quarter" idx="11"/>
          </p:nvPr>
        </p:nvSpPr>
        <p:spPr>
          <a:xfrm>
            <a:off x="786338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8" name="Rectangle 6"/>
          <p:cNvSpPr>
            <a:spLocks noGrp="1"/>
          </p:cNvSpPr>
          <p:nvPr>
            <p:ph type="pic" sz="quarter" idx="15"/>
          </p:nvPr>
        </p:nvSpPr>
        <p:spPr>
          <a:xfrm>
            <a:off x="3474604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" name="Rectangle 6"/>
          <p:cNvSpPr>
            <a:spLocks noGrp="1"/>
          </p:cNvSpPr>
          <p:nvPr>
            <p:ph type="pic" sz="quarter" idx="16"/>
          </p:nvPr>
        </p:nvSpPr>
        <p:spPr>
          <a:xfrm>
            <a:off x="6162870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06.12.2021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2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4722047" y="609600"/>
            <a:ext cx="3431353" cy="4575141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1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1066800" y="609600"/>
            <a:ext cx="3429000" cy="4572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3" name="Rectangle 7"/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06.12.2021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альбом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48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5" name="Rectangle 7"/>
          <p:cNvSpPr>
            <a:spLocks noGrp="1" noChangeAspect="1"/>
          </p:cNvSpPr>
          <p:nvPr>
            <p:ph type="pic" sz="quarter" idx="14"/>
          </p:nvPr>
        </p:nvSpPr>
        <p:spPr>
          <a:xfrm>
            <a:off x="457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7" hasCustomPrompt="1"/>
          </p:nvPr>
        </p:nvSpPr>
        <p:spPr>
          <a:xfrm>
            <a:off x="4648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06.12.2021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смешан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141976" y="381000"/>
            <a:ext cx="3773424" cy="2830068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2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4152" y="381000"/>
            <a:ext cx="4462272" cy="5949696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1" name="Rectangle 7"/>
          <p:cNvSpPr>
            <a:spLocks noGrp="1"/>
          </p:cNvSpPr>
          <p:nvPr>
            <p:ph type="body" sz="quarter" idx="13" hasCustomPrompt="1"/>
          </p:nvPr>
        </p:nvSpPr>
        <p:spPr>
          <a:xfrm>
            <a:off x="5141976" y="3352800"/>
            <a:ext cx="3773425" cy="2971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06.12.2021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2286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4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32004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31" name="Rectangle 8"/>
          <p:cNvSpPr>
            <a:spLocks noGrp="1" noChangeAspect="1"/>
          </p:cNvSpPr>
          <p:nvPr>
            <p:ph type="pic" sz="quarter" idx="12"/>
          </p:nvPr>
        </p:nvSpPr>
        <p:spPr>
          <a:xfrm>
            <a:off x="61722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6"/>
          <p:cNvSpPr>
            <a:spLocks noGrp="1"/>
          </p:cNvSpPr>
          <p:nvPr>
            <p:ph type="body" sz="quarter" idx="14" hasCustomPrompt="1"/>
          </p:nvPr>
        </p:nvSpPr>
        <p:spPr>
          <a:xfrm>
            <a:off x="32004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4" name="Rectangle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22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06.12.2021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466344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5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720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63440" y="228600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4023360" cy="3017520"/>
          </a:xfrm>
        </p:spPr>
        <p:txBody>
          <a:bodyPr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06.12.2021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смешанна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067300" y="3436620"/>
            <a:ext cx="3649900" cy="2889504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9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26720" y="384048"/>
            <a:ext cx="4457700" cy="5943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5067300" y="389332"/>
            <a:ext cx="3657600" cy="2887269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06.12.2021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7"/>
          <p:cNvSpPr>
            <a:spLocks noGrp="1"/>
          </p:cNvSpPr>
          <p:nvPr>
            <p:ph type="pic" sz="quarter" idx="14"/>
          </p:nvPr>
        </p:nvSpPr>
        <p:spPr>
          <a:xfrm>
            <a:off x="2229297" y="228600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3" name="Rectangle 7"/>
          <p:cNvSpPr>
            <a:spLocks noGrp="1"/>
          </p:cNvSpPr>
          <p:nvPr>
            <p:ph type="pic" sz="quarter" idx="26"/>
          </p:nvPr>
        </p:nvSpPr>
        <p:spPr>
          <a:xfrm>
            <a:off x="22292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25"/>
          </p:nvPr>
        </p:nvSpPr>
        <p:spPr>
          <a:xfrm>
            <a:off x="4672217" y="228600"/>
            <a:ext cx="2286000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27"/>
          </p:nvPr>
        </p:nvSpPr>
        <p:spPr>
          <a:xfrm>
            <a:off x="46676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00497" y="1295400"/>
            <a:ext cx="1676400" cy="1905000"/>
          </a:xfrm>
        </p:spPr>
        <p:txBody>
          <a:bodyPr anchor="b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lang="ru-RU" sz="16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7086600" y="1295400"/>
            <a:ext cx="1676400" cy="1905000"/>
          </a:xfrm>
        </p:spPr>
        <p:txBody>
          <a:bodyPr anchor="b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8" hasCustomPrompt="1"/>
          </p:nvPr>
        </p:nvSpPr>
        <p:spPr>
          <a:xfrm>
            <a:off x="400497" y="3352800"/>
            <a:ext cx="1676400" cy="1905000"/>
          </a:xfrm>
        </p:spPr>
        <p:txBody>
          <a:bodyPr anchor="t" anchorCtr="0"/>
          <a:lstStyle>
            <a:lvl1pPr marL="0" marR="0" indent="0" algn="r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3" name="Rectangle 7"/>
          <p:cNvSpPr>
            <a:spLocks noGrp="1"/>
          </p:cNvSpPr>
          <p:nvPr>
            <p:ph type="body" sz="quarter" idx="30" hasCustomPrompt="1"/>
          </p:nvPr>
        </p:nvSpPr>
        <p:spPr>
          <a:xfrm>
            <a:off x="7086600" y="3352800"/>
            <a:ext cx="16764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1" name="Rectangle 10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06.12.2021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5" name="Rectangle 14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pic" sz="quarter" idx="14"/>
          </p:nvPr>
        </p:nvSpPr>
        <p:spPr>
          <a:xfrm>
            <a:off x="926821" y="533400"/>
            <a:ext cx="3653297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9268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9" name="Rectangle 7"/>
          <p:cNvSpPr>
            <a:spLocks noGrp="1"/>
          </p:cNvSpPr>
          <p:nvPr>
            <p:ph type="pic" sz="quarter" idx="17"/>
          </p:nvPr>
        </p:nvSpPr>
        <p:spPr>
          <a:xfrm>
            <a:off x="4660621" y="5334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/>
          </p:cNvSpPr>
          <p:nvPr>
            <p:ph type="pic" sz="quarter" idx="18"/>
          </p:nvPr>
        </p:nvSpPr>
        <p:spPr>
          <a:xfrm>
            <a:off x="9268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4" name="Rectangle 7"/>
          <p:cNvSpPr>
            <a:spLocks noGrp="1"/>
          </p:cNvSpPr>
          <p:nvPr>
            <p:ph type="pic" sz="quarter" idx="19"/>
          </p:nvPr>
        </p:nvSpPr>
        <p:spPr>
          <a:xfrm>
            <a:off x="46606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2" hasCustomPrompt="1"/>
          </p:nvPr>
        </p:nvSpPr>
        <p:spPr>
          <a:xfrm>
            <a:off x="9268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8" name="Rectangle 7"/>
          <p:cNvSpPr>
            <a:spLocks noGrp="1"/>
          </p:cNvSpPr>
          <p:nvPr>
            <p:ph type="body" sz="quarter" idx="23" hasCustomPrompt="1"/>
          </p:nvPr>
        </p:nvSpPr>
        <p:spPr>
          <a:xfrm>
            <a:off x="46606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6" name="Rectangle 7"/>
          <p:cNvSpPr>
            <a:spLocks noGrp="1"/>
          </p:cNvSpPr>
          <p:nvPr>
            <p:ph type="body" sz="quarter" idx="24" hasCustomPrompt="1"/>
          </p:nvPr>
        </p:nvSpPr>
        <p:spPr>
          <a:xfrm>
            <a:off x="46606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0" name="Rectangle 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06.12.2021</a:t>
            </a:fld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книжная с большой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15240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1"/>
          </p:nvPr>
        </p:nvSpPr>
        <p:spPr>
          <a:xfrm>
            <a:off x="454660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Rectangle 7"/>
          <p:cNvSpPr>
            <a:spLocks noGrp="1"/>
          </p:cNvSpPr>
          <p:nvPr>
            <p:ph type="pic" sz="quarter" idx="30"/>
          </p:nvPr>
        </p:nvSpPr>
        <p:spPr>
          <a:xfrm>
            <a:off x="234906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9" name="Rectangle 7"/>
          <p:cNvSpPr>
            <a:spLocks noGrp="1"/>
          </p:cNvSpPr>
          <p:nvPr>
            <p:ph type="pic" sz="quarter" idx="32"/>
          </p:nvPr>
        </p:nvSpPr>
        <p:spPr>
          <a:xfrm>
            <a:off x="6740166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152400" y="4495800"/>
            <a:ext cx="87630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lang="ru-RU" sz="24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06.12.2021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: 1 книжная и 3 альбом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685800" y="257665"/>
            <a:ext cx="4617720" cy="6172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4" name="Rectangle 7"/>
          <p:cNvSpPr>
            <a:spLocks noGrp="1" noChangeAspect="1"/>
          </p:cNvSpPr>
          <p:nvPr>
            <p:ph type="pic" sz="quarter" idx="18"/>
          </p:nvPr>
        </p:nvSpPr>
        <p:spPr>
          <a:xfrm>
            <a:off x="5788848" y="257665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 noChangeAspect="1"/>
          </p:cNvSpPr>
          <p:nvPr>
            <p:ph type="pic" sz="quarter" idx="22"/>
          </p:nvPr>
        </p:nvSpPr>
        <p:spPr>
          <a:xfrm>
            <a:off x="5788848" y="2432657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4" name="Rectangle 7"/>
          <p:cNvSpPr>
            <a:spLocks noGrp="1" noChangeAspect="1"/>
          </p:cNvSpPr>
          <p:nvPr>
            <p:ph type="pic" sz="quarter" idx="23"/>
          </p:nvPr>
        </p:nvSpPr>
        <p:spPr>
          <a:xfrm>
            <a:off x="5788848" y="4607649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06.12.2021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 сверху: 3 альбомных и 2 книж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Grp="1"/>
          </p:cNvSpPr>
          <p:nvPr>
            <p:ph type="pic" sz="quarter" idx="14"/>
          </p:nvPr>
        </p:nvSpPr>
        <p:spPr>
          <a:xfrm>
            <a:off x="609600" y="34290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17"/>
          </p:nvPr>
        </p:nvSpPr>
        <p:spPr>
          <a:xfrm>
            <a:off x="3033848" y="228600"/>
            <a:ext cx="5562600" cy="4171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6"/>
          </p:nvPr>
        </p:nvSpPr>
        <p:spPr>
          <a:xfrm>
            <a:off x="609600" y="2286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27"/>
          </p:nvPr>
        </p:nvSpPr>
        <p:spPr>
          <a:xfrm>
            <a:off x="5943600" y="4495800"/>
            <a:ext cx="2666999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3" name="Rectangle 7"/>
          <p:cNvSpPr>
            <a:spLocks noGrp="1" noChangeAspect="1"/>
          </p:cNvSpPr>
          <p:nvPr>
            <p:ph type="pic" sz="quarter" idx="28"/>
          </p:nvPr>
        </p:nvSpPr>
        <p:spPr>
          <a:xfrm>
            <a:off x="3033848" y="4495800"/>
            <a:ext cx="2757352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06.12.2021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 сверху: 3 книжных и 2 альбом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Grp="1"/>
          </p:cNvSpPr>
          <p:nvPr>
            <p:ph type="pic" sz="quarter" idx="26"/>
          </p:nvPr>
        </p:nvSpPr>
        <p:spPr>
          <a:xfrm>
            <a:off x="5121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3" name="Rectangle 7"/>
          <p:cNvSpPr>
            <a:spLocks noGrp="1"/>
          </p:cNvSpPr>
          <p:nvPr>
            <p:ph type="pic" sz="quarter" idx="29"/>
          </p:nvPr>
        </p:nvSpPr>
        <p:spPr>
          <a:xfrm>
            <a:off x="51213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0"/>
          </p:nvPr>
        </p:nvSpPr>
        <p:spPr>
          <a:xfrm>
            <a:off x="471837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2" name="Rectangle 7"/>
          <p:cNvSpPr>
            <a:spLocks noGrp="1"/>
          </p:cNvSpPr>
          <p:nvPr>
            <p:ph type="pic" sz="quarter" idx="27"/>
          </p:nvPr>
        </p:nvSpPr>
        <p:spPr>
          <a:xfrm>
            <a:off x="32934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8"/>
          </p:nvPr>
        </p:nvSpPr>
        <p:spPr>
          <a:xfrm>
            <a:off x="60747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06.12.2021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вадрат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3050273" y="16002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3048000" y="48768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06.12.2021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квадрат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4955273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6" name="W¥ل云玗İαЂôÁûÂÚ丫:Pïçtúrê Plå¢éhõlðér 表¥鷗字㌍ 表_W 5"/>
          <p:cNvSpPr>
            <a:spLocks noGrp="1" noChangeAspect="1"/>
          </p:cNvSpPr>
          <p:nvPr>
            <p:ph type="pic" sz="quarter" idx="14"/>
          </p:nvPr>
        </p:nvSpPr>
        <p:spPr>
          <a:xfrm>
            <a:off x="1143000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W¥ل云玗İαЂÕØÚáÛ丫:Téxt Plàçèhòlðêr 表¥鷗字㌍_W 7"/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9" name="Rectangle 8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06.12.2021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¥ل云玗İαЂôÁûÂÚ丫:Pïçtúrê Plå¢éhõlðér 表¥鷗字㌍ 表_W 2"/>
          <p:cNvSpPr>
            <a:spLocks noGrp="1"/>
          </p:cNvSpPr>
          <p:nvPr>
            <p:ph type="pic" sz="quarter" idx="30"/>
          </p:nvPr>
        </p:nvSpPr>
        <p:spPr>
          <a:xfrm>
            <a:off x="457200" y="2057400"/>
            <a:ext cx="8229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4" name="W¥ل云玗İαЂÕØÚáÛ丫:Téxt Plàçèhòlðêr 表¥鷗字㌍_W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876800"/>
            <a:ext cx="8229600" cy="14478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06.12.2021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 latinLnBrk="0" hangingPunct="1"/>
            <a:r>
              <a:rPr lang="ru-RU"/>
              <a:t>Образец заголовка</a:t>
            </a:r>
            <a:endParaRPr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/>
          </a:p>
        </p:txBody>
      </p:sp>
      <p:sp>
        <p:nvSpPr>
          <p:cNvPr id="2" name="Rectangl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EC6F-6501-4E04-BD6C-A8A6CABB2C5B}" type="datetimeFigureOut">
              <a:rPr lang="ru-RU"/>
              <a:pPr/>
              <a:t>06.12.2021</a:t>
            </a:fld>
            <a:endParaRPr kumimoji="0" lang="ru-RU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ru-RU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/>
              <a:pPr/>
              <a:t>‹#›</a:t>
            </a:fld>
            <a:endParaRPr kumimoji="0" lang="ru-RU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4" cstate="print">
            <a:alphaModFix amt="55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eaLnBrk="1" latinLnBrk="0" hangingPunct="1"/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Rectangle 5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29" name="Rectangle 3"/>
          <p:cNvSpPr>
            <a:spLocks noGrp="1"/>
          </p:cNvSpPr>
          <p:nvPr>
            <p:ph type="dt" sz="half" idx="2"/>
          </p:nvPr>
        </p:nvSpPr>
        <p:spPr>
          <a:xfrm>
            <a:off x="66675" y="6559360"/>
            <a:ext cx="2438400" cy="244475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06.12.2021</a:t>
            </a:fld>
            <a:endParaRPr kumimoji="0" lang="ru-RU" sz="1200" dirty="0">
              <a:solidFill>
                <a:schemeClr val="tx2"/>
              </a:solidFill>
            </a:endParaRPr>
          </a:p>
        </p:txBody>
      </p:sp>
      <p:sp>
        <p:nvSpPr>
          <p:cNvPr id="20" name="Rectangle 25"/>
          <p:cNvSpPr>
            <a:spLocks noGrp="1"/>
          </p:cNvSpPr>
          <p:nvPr>
            <p:ph type="ftr" sz="quarter" idx="3"/>
          </p:nvPr>
        </p:nvSpPr>
        <p:spPr>
          <a:xfrm>
            <a:off x="2995653" y="6558153"/>
            <a:ext cx="4648200" cy="2468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pPr algn="ctr"/>
            <a:endParaRPr kumimoji="0" lang="ru-RU" sz="1200" dirty="0">
              <a:solidFill>
                <a:schemeClr val="tx2"/>
              </a:solidFill>
            </a:endParaRPr>
          </a:p>
        </p:txBody>
      </p:sp>
      <p:sp>
        <p:nvSpPr>
          <p:cNvPr id="23" name="Rectangle 16"/>
          <p:cNvSpPr>
            <a:spLocks noGrp="1"/>
          </p:cNvSpPr>
          <p:nvPr>
            <p:ph type="sldNum" sz="quarter" idx="4"/>
          </p:nvPr>
        </p:nvSpPr>
        <p:spPr>
          <a:xfrm>
            <a:off x="8172450" y="6559360"/>
            <a:ext cx="914400" cy="244475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sz="1200" dirty="0">
              <a:solidFill>
                <a:schemeClr val="tx2"/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ransition>
    <p:fade/>
  </p:transition>
  <p:txStyles>
    <p:titleStyle>
      <a:lvl1pPr algn="l" rtl="0" eaLnBrk="1" latinLnBrk="0" hangingPunct="1">
        <a:spcBef>
          <a:spcPct val="0"/>
        </a:spcBef>
        <a:buNone/>
        <a:defRPr kumimoji="0" lang="ru-RU" sz="3200" cap="all" baseline="0">
          <a:solidFill>
            <a:schemeClr val="tx2"/>
          </a:solidFill>
          <a:effectLst>
            <a:outerShdw blurRad="51000" dist="370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 lang="ru-RU">
          <a:solidFill>
            <a:schemeClr val="tx2"/>
          </a:solidFill>
        </a:defRPr>
      </a:lvl2pPr>
      <a:lvl3pPr eaLnBrk="1" latinLnBrk="0" hangingPunct="1">
        <a:defRPr kumimoji="0" lang="ru-RU">
          <a:solidFill>
            <a:schemeClr val="tx2"/>
          </a:solidFill>
        </a:defRPr>
      </a:lvl3pPr>
      <a:lvl4pPr eaLnBrk="1" latinLnBrk="0" hangingPunct="1">
        <a:defRPr kumimoji="0" lang="ru-RU">
          <a:solidFill>
            <a:schemeClr val="tx2"/>
          </a:solidFill>
        </a:defRPr>
      </a:lvl4pPr>
      <a:lvl5pPr eaLnBrk="1" latinLnBrk="0" hangingPunct="1">
        <a:defRPr kumimoji="0" lang="ru-RU">
          <a:solidFill>
            <a:schemeClr val="tx2"/>
          </a:solidFill>
        </a:defRPr>
      </a:lvl5pPr>
      <a:lvl6pPr eaLnBrk="1" latinLnBrk="0" hangingPunct="1">
        <a:defRPr kumimoji="0" lang="ru-RU">
          <a:solidFill>
            <a:schemeClr val="tx2"/>
          </a:solidFill>
        </a:defRPr>
      </a:lvl6pPr>
      <a:lvl7pPr eaLnBrk="1" latinLnBrk="0" hangingPunct="1">
        <a:defRPr kumimoji="0" lang="ru-RU">
          <a:solidFill>
            <a:schemeClr val="tx2"/>
          </a:solidFill>
        </a:defRPr>
      </a:lvl7pPr>
      <a:lvl8pPr eaLnBrk="1" latinLnBrk="0" hangingPunct="1">
        <a:defRPr kumimoji="0" lang="ru-RU">
          <a:solidFill>
            <a:schemeClr val="tx2"/>
          </a:solidFill>
        </a:defRPr>
      </a:lvl8pPr>
      <a:lvl9pPr eaLnBrk="1" latinLnBrk="0" hangingPunct="1">
        <a:defRPr kumimoji="0" lang="ru-RU">
          <a:solidFill>
            <a:schemeClr val="tx2"/>
          </a:solidFill>
        </a:defRPr>
      </a:lvl9pPr>
      <a:extLst/>
    </p:titleStyle>
    <p:bodyStyle>
      <a:lvl1pPr marL="342900" indent="-342900" algn="l" rtl="0" eaLnBrk="1" latinLnBrk="0" hangingPunct="1">
        <a:spcBef>
          <a:spcPct val="20000"/>
        </a:spcBef>
        <a:buChar char="•"/>
        <a:defRPr kumimoji="0" lang="ru-RU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har char="–"/>
        <a:defRPr kumimoji="0" lang="ru-RU"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har char="–"/>
        <a:defRPr kumimoji="0" lang="ru-RU"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har char="»"/>
        <a:defRPr kumimoji="0" lang="ru-RU"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512" y="0"/>
            <a:ext cx="2420888" cy="2420888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0" y="6021288"/>
            <a:ext cx="8748464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r"/>
            <a:r>
              <a:rPr lang="ru-RU" b="1" i="1" dirty="0">
                <a:ln w="50800"/>
                <a:solidFill>
                  <a:schemeClr val="bg1">
                    <a:shade val="50000"/>
                  </a:schemeClr>
                </a:solidFill>
              </a:rPr>
              <a:t/>
            </a:r>
            <a:endParaRPr lang="ru-RU" sz="3600" b="1" i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31840" y="1844824"/>
            <a:ext cx="5760640" cy="30469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r"/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Разработка веб-страниц на языке разметки HTML5 с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использованием каскадных таблиц стилей CSS3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7. 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Таблицы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1.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 Создание простейшей таблицы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470898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HTML-таблицы упорядочивают и выводят на экран данные с помощью строк или столбцов. 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Таблицы состоят из ячеек, образующихся при пересечении строк и столбцов. Ячейки таблиц могут содержать любые HTML-элементы, такие как заголовки, списки, текст, изображения, элементы форм, а также другие таблицы. 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Каждой таблице можно добавить связанный с ней заголовок, расположив его перед таблицей или после неё.</a:t>
            </a:r>
            <a:endParaRPr lang="en-US" sz="2000" dirty="0">
              <a:solidFill>
                <a:schemeClr val="bg1"/>
              </a:solidFill>
            </a:endParaRP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i="1" dirty="0">
                <a:solidFill>
                  <a:schemeClr val="bg1"/>
                </a:solidFill>
              </a:rPr>
              <a:t>Таблицы больше не используются для вёрстки </a:t>
            </a:r>
            <a:r>
              <a:rPr lang="ru-RU" sz="2000" i="1" dirty="0" err="1">
                <a:solidFill>
                  <a:schemeClr val="bg1"/>
                </a:solidFill>
              </a:rPr>
              <a:t>веб-страниц</a:t>
            </a:r>
            <a:r>
              <a:rPr lang="ru-RU" sz="2000" i="1" dirty="0">
                <a:solidFill>
                  <a:schemeClr val="bg1"/>
                </a:solidFill>
              </a:rPr>
              <a:t> и компоновки отдельных элементов, потому что такой приём не обеспечивает гибкость структуры и адаптивность сайта, существенно увеличивая HTML-разметку.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624786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&lt;table&gt;</a:t>
            </a:r>
          </a:p>
          <a:p>
            <a:pPr indent="447675"/>
            <a:r>
              <a:rPr lang="en-US" sz="4000" b="1" dirty="0">
                <a:solidFill>
                  <a:srgbClr val="0000FF"/>
                </a:solidFill>
              </a:rPr>
              <a:t>	&lt;</a:t>
            </a:r>
            <a:r>
              <a:rPr lang="en-US" sz="4000" b="1" dirty="0" err="1">
                <a:solidFill>
                  <a:srgbClr val="0000FF"/>
                </a:solidFill>
              </a:rPr>
              <a:t>tbody</a:t>
            </a:r>
            <a:r>
              <a:rPr lang="en-US" sz="4000" b="1" dirty="0">
                <a:solidFill>
                  <a:srgbClr val="0000FF"/>
                </a:solidFill>
              </a:rPr>
              <a:t>&gt;</a:t>
            </a:r>
          </a:p>
          <a:p>
            <a:pPr indent="1257300"/>
            <a:r>
              <a:rPr lang="en-US" sz="4000" b="1" dirty="0">
                <a:solidFill>
                  <a:srgbClr val="7030A0"/>
                </a:solidFill>
              </a:rPr>
              <a:t>		&lt;</a:t>
            </a:r>
            <a:r>
              <a:rPr lang="en-US" sz="4000" b="1" dirty="0" err="1">
                <a:solidFill>
                  <a:srgbClr val="7030A0"/>
                </a:solidFill>
              </a:rPr>
              <a:t>tr</a:t>
            </a:r>
            <a:r>
              <a:rPr lang="en-US" sz="4000" b="1" dirty="0">
                <a:solidFill>
                  <a:srgbClr val="7030A0"/>
                </a:solidFill>
              </a:rPr>
              <a:t>&gt;</a:t>
            </a:r>
          </a:p>
          <a:p>
            <a:pPr indent="1257300"/>
            <a:r>
              <a:rPr lang="en-US" sz="4000" b="1" dirty="0">
                <a:solidFill>
                  <a:srgbClr val="639729"/>
                </a:solidFill>
              </a:rPr>
              <a:t>&lt;td&gt;</a:t>
            </a:r>
            <a:r>
              <a:rPr lang="ru-RU" sz="4000" b="1" dirty="0">
                <a:solidFill>
                  <a:srgbClr val="639729"/>
                </a:solidFill>
              </a:rPr>
              <a:t>ТЕКСТ</a:t>
            </a:r>
            <a:r>
              <a:rPr lang="en-US" sz="4000" b="1" dirty="0">
                <a:solidFill>
                  <a:srgbClr val="639729"/>
                </a:solidFill>
              </a:rPr>
              <a:t>&lt;/td&gt;</a:t>
            </a:r>
          </a:p>
          <a:p>
            <a:pPr indent="1257300"/>
            <a:r>
              <a:rPr lang="en-US" sz="4000" b="1" dirty="0">
                <a:solidFill>
                  <a:srgbClr val="639729"/>
                </a:solidFill>
              </a:rPr>
              <a:t>&lt;td&gt;</a:t>
            </a:r>
            <a:r>
              <a:rPr lang="ru-RU" sz="4000" b="1" dirty="0">
                <a:solidFill>
                  <a:srgbClr val="639729"/>
                </a:solidFill>
              </a:rPr>
              <a:t>ТЕКСТ</a:t>
            </a:r>
            <a:r>
              <a:rPr lang="en-US" sz="4000" b="1" dirty="0">
                <a:solidFill>
                  <a:srgbClr val="639729"/>
                </a:solidFill>
              </a:rPr>
              <a:t>&lt;/td&gt;</a:t>
            </a:r>
            <a:endParaRPr lang="en-US" sz="4000" b="1" dirty="0">
              <a:solidFill>
                <a:srgbClr val="7030A0"/>
              </a:solidFill>
            </a:endParaRPr>
          </a:p>
          <a:p>
            <a:pPr indent="1257300"/>
            <a:r>
              <a:rPr lang="en-US" sz="4000" b="1" dirty="0">
                <a:solidFill>
                  <a:srgbClr val="639729"/>
                </a:solidFill>
              </a:rPr>
              <a:t>&lt;td&gt;</a:t>
            </a:r>
            <a:r>
              <a:rPr lang="ru-RU" sz="4000" b="1" dirty="0">
                <a:solidFill>
                  <a:srgbClr val="639729"/>
                </a:solidFill>
              </a:rPr>
              <a:t>ТЕКСТ</a:t>
            </a:r>
            <a:r>
              <a:rPr lang="en-US" sz="4000" b="1" dirty="0">
                <a:solidFill>
                  <a:srgbClr val="639729"/>
                </a:solidFill>
              </a:rPr>
              <a:t>&lt;/td&gt;</a:t>
            </a:r>
            <a:endParaRPr lang="en-US" sz="4000" b="1" dirty="0">
              <a:solidFill>
                <a:srgbClr val="7030A0"/>
              </a:solidFill>
            </a:endParaRPr>
          </a:p>
          <a:p>
            <a:pPr indent="1257300"/>
            <a:r>
              <a:rPr lang="en-US" sz="4000" b="1" dirty="0">
                <a:solidFill>
                  <a:srgbClr val="639729"/>
                </a:solidFill>
              </a:rPr>
              <a:t>&lt;td&gt;</a:t>
            </a:r>
            <a:r>
              <a:rPr lang="ru-RU" sz="4000" b="1" dirty="0">
                <a:solidFill>
                  <a:srgbClr val="639729"/>
                </a:solidFill>
              </a:rPr>
              <a:t>ТЕКСТ</a:t>
            </a:r>
            <a:r>
              <a:rPr lang="en-US" sz="4000" b="1" dirty="0">
                <a:solidFill>
                  <a:srgbClr val="639729"/>
                </a:solidFill>
              </a:rPr>
              <a:t>&lt;/td&gt;</a:t>
            </a:r>
          </a:p>
          <a:p>
            <a:pPr indent="1257300"/>
            <a:r>
              <a:rPr lang="en-US" sz="4000" b="1" dirty="0">
                <a:solidFill>
                  <a:srgbClr val="7030A0"/>
                </a:solidFill>
              </a:rPr>
              <a:t>		&lt;/</a:t>
            </a:r>
            <a:r>
              <a:rPr lang="en-US" sz="4000" b="1" dirty="0" err="1">
                <a:solidFill>
                  <a:srgbClr val="7030A0"/>
                </a:solidFill>
              </a:rPr>
              <a:t>tr</a:t>
            </a:r>
            <a:r>
              <a:rPr lang="en-US" sz="4000" b="1" dirty="0">
                <a:solidFill>
                  <a:srgbClr val="7030A0"/>
                </a:solidFill>
              </a:rPr>
              <a:t>&gt;</a:t>
            </a:r>
          </a:p>
          <a:p>
            <a:pPr indent="447675"/>
            <a:r>
              <a:rPr lang="en-US" sz="4000" b="1" dirty="0">
                <a:solidFill>
                  <a:srgbClr val="0000FF"/>
                </a:solidFill>
              </a:rPr>
              <a:t>	&lt;/</a:t>
            </a:r>
            <a:r>
              <a:rPr lang="en-US" sz="4000" b="1" dirty="0" err="1">
                <a:solidFill>
                  <a:srgbClr val="0000FF"/>
                </a:solidFill>
              </a:rPr>
              <a:t>tbody</a:t>
            </a:r>
            <a:r>
              <a:rPr lang="en-US" sz="4000" b="1" dirty="0">
                <a:solidFill>
                  <a:srgbClr val="0000FF"/>
                </a:solidFill>
              </a:rPr>
              <a:t>&gt;</a:t>
            </a:r>
          </a:p>
          <a:p>
            <a:r>
              <a:rPr lang="en-US" sz="4000" b="1" dirty="0">
                <a:solidFill>
                  <a:srgbClr val="FF0000"/>
                </a:solidFill>
              </a:rPr>
              <a:t>&lt;/table&gt;</a:t>
            </a:r>
            <a:endParaRPr lang="ru-RU" sz="4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286232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&lt;table&gt;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Данный тег является контейнером для элементов таблицы и все элементы должны находиться внутри него. Тег парный!!!</a:t>
            </a:r>
          </a:p>
          <a:p>
            <a:endParaRPr lang="ru-RU" sz="2000" dirty="0">
              <a:solidFill>
                <a:schemeClr val="bg1"/>
              </a:solidFill>
            </a:endParaRP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en-US" sz="4000" b="1" dirty="0">
                <a:solidFill>
                  <a:srgbClr val="FF0000"/>
                </a:solidFill>
              </a:rPr>
              <a:t>&lt;/table&gt;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470898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4000" b="1" dirty="0">
                <a:solidFill>
                  <a:srgbClr val="0000FF"/>
                </a:solidFill>
              </a:rPr>
              <a:t>&lt;</a:t>
            </a:r>
            <a:r>
              <a:rPr lang="en-US" sz="4000" b="1" dirty="0" err="1">
                <a:solidFill>
                  <a:srgbClr val="0000FF"/>
                </a:solidFill>
              </a:rPr>
              <a:t>tbody</a:t>
            </a:r>
            <a:r>
              <a:rPr lang="en-US" sz="4000" b="1" dirty="0">
                <a:solidFill>
                  <a:srgbClr val="0000FF"/>
                </a:solidFill>
              </a:rPr>
              <a:t>&gt;</a:t>
            </a:r>
            <a:endParaRPr lang="en-US" sz="4000" b="1" dirty="0">
              <a:solidFill>
                <a:srgbClr val="FF0000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Элемент &lt;</a:t>
            </a:r>
            <a:r>
              <a:rPr lang="ru-RU" sz="2000" dirty="0" err="1">
                <a:solidFill>
                  <a:schemeClr val="bg1"/>
                </a:solidFill>
              </a:rPr>
              <a:t>tbody</a:t>
            </a:r>
            <a:r>
              <a:rPr lang="ru-RU" sz="2000" dirty="0">
                <a:solidFill>
                  <a:schemeClr val="bg1"/>
                </a:solidFill>
              </a:rPr>
              <a:t>&gt; предназначен для хранения одной или нескольких строк таблицы. Это позволяет создавать структурные блоки, к которым можно применять единое оформление через стили.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Допускается применять несколько тегов &lt;</a:t>
            </a:r>
            <a:r>
              <a:rPr lang="ru-RU" sz="2000" dirty="0" err="1">
                <a:solidFill>
                  <a:schemeClr val="bg1"/>
                </a:solidFill>
              </a:rPr>
              <a:t>tbody</a:t>
            </a:r>
            <a:r>
              <a:rPr lang="ru-RU" sz="2000" dirty="0">
                <a:solidFill>
                  <a:schemeClr val="bg1"/>
                </a:solidFill>
              </a:rPr>
              <a:t>&gt; внутри контейнера &lt;</a:t>
            </a:r>
            <a:r>
              <a:rPr lang="ru-RU" sz="2000" dirty="0" err="1">
                <a:solidFill>
                  <a:schemeClr val="bg1"/>
                </a:solidFill>
              </a:rPr>
              <a:t>table</a:t>
            </a:r>
            <a:r>
              <a:rPr lang="ru-RU" sz="2000" dirty="0">
                <a:solidFill>
                  <a:schemeClr val="bg1"/>
                </a:solidFill>
              </a:rPr>
              <a:t>&gt;. 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Доступны и другие виды группировок строк — &lt;</a:t>
            </a:r>
            <a:r>
              <a:rPr lang="ru-RU" sz="2000" dirty="0" err="1">
                <a:solidFill>
                  <a:schemeClr val="bg1"/>
                </a:solidFill>
              </a:rPr>
              <a:t>tfoot</a:t>
            </a:r>
            <a:r>
              <a:rPr lang="ru-RU" sz="2000" dirty="0">
                <a:solidFill>
                  <a:schemeClr val="bg1"/>
                </a:solidFill>
              </a:rPr>
              <a:t>&gt; и &lt;</a:t>
            </a:r>
            <a:r>
              <a:rPr lang="ru-RU" sz="2000" dirty="0" err="1">
                <a:solidFill>
                  <a:schemeClr val="bg1"/>
                </a:solidFill>
              </a:rPr>
              <a:t>thead</a:t>
            </a:r>
            <a:r>
              <a:rPr lang="ru-RU" sz="2000" dirty="0">
                <a:solidFill>
                  <a:schemeClr val="bg1"/>
                </a:solidFill>
              </a:rPr>
              <a:t>&gt;, ни один из них не должен перекрываться с элементом &lt;</a:t>
            </a:r>
            <a:r>
              <a:rPr lang="ru-RU" sz="2000" dirty="0" err="1">
                <a:solidFill>
                  <a:schemeClr val="bg1"/>
                </a:solidFill>
              </a:rPr>
              <a:t>tbody</a:t>
            </a:r>
            <a:r>
              <a:rPr lang="ru-RU" sz="2000" dirty="0">
                <a:solidFill>
                  <a:schemeClr val="bg1"/>
                </a:solidFill>
              </a:rPr>
              <a:t>&gt;</a:t>
            </a: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en-US" sz="4000" b="1" dirty="0">
                <a:solidFill>
                  <a:srgbClr val="0000FF"/>
                </a:solidFill>
              </a:rPr>
              <a:t>&lt;/</a:t>
            </a:r>
            <a:r>
              <a:rPr lang="en-US" sz="4000" b="1" dirty="0" err="1">
                <a:solidFill>
                  <a:srgbClr val="0000FF"/>
                </a:solidFill>
              </a:rPr>
              <a:t>tbody</a:t>
            </a:r>
            <a:r>
              <a:rPr lang="en-US" sz="4000" b="1" dirty="0">
                <a:solidFill>
                  <a:srgbClr val="0000FF"/>
                </a:solidFill>
              </a:rPr>
              <a:t>&gt;</a:t>
            </a:r>
            <a:endParaRPr lang="en-US" sz="4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31700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4000" b="1" dirty="0">
                <a:solidFill>
                  <a:srgbClr val="7030A0"/>
                </a:solidFill>
              </a:rPr>
              <a:t>&lt;</a:t>
            </a:r>
            <a:r>
              <a:rPr lang="en-US" sz="4000" b="1" dirty="0" err="1">
                <a:solidFill>
                  <a:srgbClr val="7030A0"/>
                </a:solidFill>
              </a:rPr>
              <a:t>tr</a:t>
            </a:r>
            <a:r>
              <a:rPr lang="en-US" sz="4000" b="1" dirty="0">
                <a:solidFill>
                  <a:srgbClr val="7030A0"/>
                </a:solidFill>
              </a:rPr>
              <a:t>&gt;</a:t>
            </a:r>
            <a:endParaRPr lang="en-US" sz="4000" b="1" dirty="0">
              <a:solidFill>
                <a:srgbClr val="FF0000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Строки или ряды таблицы создаются с помощью тега &lt;</a:t>
            </a:r>
            <a:r>
              <a:rPr lang="ru-RU" sz="2000" dirty="0" err="1">
                <a:solidFill>
                  <a:schemeClr val="bg1"/>
                </a:solidFill>
              </a:rPr>
              <a:t>tr</a:t>
            </a:r>
            <a:r>
              <a:rPr lang="ru-RU" sz="2000" dirty="0">
                <a:solidFill>
                  <a:schemeClr val="bg1"/>
                </a:solidFill>
              </a:rPr>
              <a:t>&gt;. Количество горизонтальных строк таблицы определяется количеством парных тегов &lt;</a:t>
            </a:r>
            <a:r>
              <a:rPr lang="ru-RU" sz="2000" dirty="0" err="1">
                <a:solidFill>
                  <a:schemeClr val="bg1"/>
                </a:solidFill>
              </a:rPr>
              <a:t>tr</a:t>
            </a:r>
            <a:r>
              <a:rPr lang="ru-RU" sz="2000" dirty="0">
                <a:solidFill>
                  <a:schemeClr val="bg1"/>
                </a:solidFill>
              </a:rPr>
              <a:t>&gt;&lt;/</a:t>
            </a:r>
            <a:r>
              <a:rPr lang="ru-RU" sz="2000" dirty="0" err="1">
                <a:solidFill>
                  <a:schemeClr val="bg1"/>
                </a:solidFill>
              </a:rPr>
              <a:t>tr</a:t>
            </a:r>
            <a:r>
              <a:rPr lang="ru-RU" sz="2000" dirty="0">
                <a:solidFill>
                  <a:schemeClr val="bg1"/>
                </a:solidFill>
              </a:rPr>
              <a:t>&gt;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en-US" sz="4000" b="1" dirty="0">
                <a:solidFill>
                  <a:srgbClr val="7030A0"/>
                </a:solidFill>
              </a:rPr>
              <a:t>&lt;/</a:t>
            </a:r>
            <a:r>
              <a:rPr lang="en-US" sz="4000" b="1" dirty="0" err="1">
                <a:solidFill>
                  <a:srgbClr val="7030A0"/>
                </a:solidFill>
              </a:rPr>
              <a:t>tr</a:t>
            </a:r>
            <a:r>
              <a:rPr lang="en-US" sz="4000" b="1" dirty="0">
                <a:solidFill>
                  <a:srgbClr val="7030A0"/>
                </a:solidFill>
              </a:rPr>
              <a:t>&gt;</a:t>
            </a:r>
            <a:endParaRPr lang="en-US" sz="4000" b="1" dirty="0">
              <a:solidFill>
                <a:srgbClr val="FF0000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2195736" y="2924944"/>
          <a:ext cx="6096000" cy="111252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378565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4000" b="1" dirty="0">
                <a:solidFill>
                  <a:srgbClr val="639729"/>
                </a:solidFill>
              </a:rPr>
              <a:t>&lt;td&gt;</a:t>
            </a:r>
            <a:endParaRPr lang="en-US" sz="4000" b="1" dirty="0">
              <a:solidFill>
                <a:srgbClr val="FF0000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Элемент &lt;</a:t>
            </a:r>
            <a:r>
              <a:rPr lang="ru-RU" sz="2000" dirty="0" err="1">
                <a:solidFill>
                  <a:schemeClr val="bg1"/>
                </a:solidFill>
              </a:rPr>
              <a:t>td</a:t>
            </a:r>
            <a:r>
              <a:rPr lang="ru-RU" sz="2000" dirty="0">
                <a:solidFill>
                  <a:schemeClr val="bg1"/>
                </a:solidFill>
              </a:rPr>
              <a:t>&gt; создаёт ячейки таблицы, внутрь которых помещаются данные таблицы. Парные теги &lt;</a:t>
            </a:r>
            <a:r>
              <a:rPr lang="ru-RU" sz="2000" dirty="0" err="1">
                <a:solidFill>
                  <a:schemeClr val="bg1"/>
                </a:solidFill>
              </a:rPr>
              <a:t>td</a:t>
            </a:r>
            <a:r>
              <a:rPr lang="ru-RU" sz="2000" dirty="0">
                <a:solidFill>
                  <a:schemeClr val="bg1"/>
                </a:solidFill>
              </a:rPr>
              <a:t>&gt;&lt;/</a:t>
            </a:r>
            <a:r>
              <a:rPr lang="ru-RU" sz="2000" dirty="0" err="1">
                <a:solidFill>
                  <a:schemeClr val="bg1"/>
                </a:solidFill>
              </a:rPr>
              <a:t>td</a:t>
            </a:r>
            <a:r>
              <a:rPr lang="ru-RU" sz="2000" dirty="0">
                <a:solidFill>
                  <a:schemeClr val="bg1"/>
                </a:solidFill>
              </a:rPr>
              <a:t>&gt;, расположенные в одном ряду, определяют количество ячеек в строке таблицы. Количество пар ячеек &lt;</a:t>
            </a:r>
            <a:r>
              <a:rPr lang="ru-RU" sz="2000" dirty="0" err="1">
                <a:solidFill>
                  <a:schemeClr val="bg1"/>
                </a:solidFill>
              </a:rPr>
              <a:t>td</a:t>
            </a:r>
            <a:r>
              <a:rPr lang="ru-RU" sz="2000" dirty="0">
                <a:solidFill>
                  <a:schemeClr val="bg1"/>
                </a:solidFill>
              </a:rPr>
              <a:t>&gt; должно быть равно количеству пар ячеек &lt;</a:t>
            </a:r>
            <a:r>
              <a:rPr lang="ru-RU" sz="2000" dirty="0" err="1">
                <a:solidFill>
                  <a:schemeClr val="bg1"/>
                </a:solidFill>
              </a:rPr>
              <a:t>th</a:t>
            </a:r>
            <a:r>
              <a:rPr lang="ru-RU" sz="2000" dirty="0">
                <a:solidFill>
                  <a:schemeClr val="bg1"/>
                </a:solidFill>
              </a:rPr>
              <a:t>&gt;. Для элемента доступны атрибуты </a:t>
            </a:r>
            <a:r>
              <a:rPr lang="ru-RU" sz="2000" dirty="0" err="1">
                <a:solidFill>
                  <a:schemeClr val="bg1"/>
                </a:solidFill>
              </a:rPr>
              <a:t>colspan</a:t>
            </a:r>
            <a:r>
              <a:rPr lang="ru-RU" sz="2000" dirty="0">
                <a:solidFill>
                  <a:schemeClr val="bg1"/>
                </a:solidFill>
              </a:rPr>
              <a:t>, </a:t>
            </a:r>
            <a:r>
              <a:rPr lang="ru-RU" sz="2000" dirty="0" err="1">
                <a:solidFill>
                  <a:schemeClr val="bg1"/>
                </a:solidFill>
              </a:rPr>
              <a:t>rowspan</a:t>
            </a:r>
            <a:r>
              <a:rPr lang="ru-RU" sz="2000" dirty="0">
                <a:solidFill>
                  <a:schemeClr val="bg1"/>
                </a:solidFill>
              </a:rPr>
              <a:t>, </a:t>
            </a:r>
            <a:r>
              <a:rPr lang="ru-RU" sz="2000" dirty="0" err="1">
                <a:solidFill>
                  <a:schemeClr val="bg1"/>
                </a:solidFill>
              </a:rPr>
              <a:t>headers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en-US" sz="4000" b="1" dirty="0">
                <a:solidFill>
                  <a:srgbClr val="639729"/>
                </a:solidFill>
              </a:rPr>
              <a:t>&lt;/td&gt;</a:t>
            </a:r>
            <a:endParaRPr lang="en-US" sz="4000" b="1" dirty="0">
              <a:solidFill>
                <a:srgbClr val="FF0000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2339752" y="3645024"/>
          <a:ext cx="6096000" cy="3708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88640"/>
            <a:ext cx="8640960" cy="65556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&lt;</a:t>
            </a:r>
            <a:r>
              <a:rPr lang="en-US" sz="4000" b="1" dirty="0" err="1">
                <a:solidFill>
                  <a:schemeClr val="bg1"/>
                </a:solidFill>
              </a:rPr>
              <a:t>th</a:t>
            </a:r>
            <a:r>
              <a:rPr lang="en-US" sz="4000" b="1" dirty="0">
                <a:solidFill>
                  <a:schemeClr val="bg1"/>
                </a:solidFill>
              </a:rPr>
              <a:t>&gt;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Элемент &lt;</a:t>
            </a:r>
            <a:r>
              <a:rPr lang="ru-RU" sz="2000" dirty="0" err="1">
                <a:solidFill>
                  <a:schemeClr val="bg1"/>
                </a:solidFill>
              </a:rPr>
              <a:t>th</a:t>
            </a:r>
            <a:r>
              <a:rPr lang="ru-RU" sz="2000" dirty="0">
                <a:solidFill>
                  <a:schemeClr val="bg1"/>
                </a:solidFill>
              </a:rPr>
              <a:t>&gt; создаёт заголовок столбца — специальную ячейку, текст в которой выделяется полужирным. Количество ячеек заголовка определяется количеством пар тегов &lt;</a:t>
            </a:r>
            <a:r>
              <a:rPr lang="ru-RU" sz="2000" dirty="0" err="1">
                <a:solidFill>
                  <a:schemeClr val="bg1"/>
                </a:solidFill>
              </a:rPr>
              <a:t>th</a:t>
            </a:r>
            <a:r>
              <a:rPr lang="ru-RU" sz="2000" dirty="0">
                <a:solidFill>
                  <a:schemeClr val="bg1"/>
                </a:solidFill>
              </a:rPr>
              <a:t>&gt;&lt;/</a:t>
            </a:r>
            <a:r>
              <a:rPr lang="ru-RU" sz="2000" dirty="0" err="1">
                <a:solidFill>
                  <a:schemeClr val="bg1"/>
                </a:solidFill>
              </a:rPr>
              <a:t>th</a:t>
            </a:r>
            <a:r>
              <a:rPr lang="ru-RU" sz="2000" dirty="0">
                <a:solidFill>
                  <a:schemeClr val="bg1"/>
                </a:solidFill>
              </a:rPr>
              <a:t>&gt;. Для элемента доступны атрибуты </a:t>
            </a:r>
            <a:r>
              <a:rPr lang="ru-RU" sz="2000" dirty="0" err="1">
                <a:solidFill>
                  <a:schemeClr val="bg1"/>
                </a:solidFill>
              </a:rPr>
              <a:t>colspan</a:t>
            </a:r>
            <a:r>
              <a:rPr lang="ru-RU" sz="2000" dirty="0">
                <a:solidFill>
                  <a:schemeClr val="bg1"/>
                </a:solidFill>
              </a:rPr>
              <a:t>, </a:t>
            </a:r>
            <a:r>
              <a:rPr lang="ru-RU" sz="2000" dirty="0" err="1">
                <a:solidFill>
                  <a:schemeClr val="bg1"/>
                </a:solidFill>
              </a:rPr>
              <a:t>rowspan</a:t>
            </a:r>
            <a:r>
              <a:rPr lang="ru-RU" sz="2000" dirty="0">
                <a:solidFill>
                  <a:schemeClr val="bg1"/>
                </a:solidFill>
              </a:rPr>
              <a:t>, </a:t>
            </a:r>
            <a:r>
              <a:rPr lang="ru-RU" sz="2000" dirty="0" err="1">
                <a:solidFill>
                  <a:schemeClr val="bg1"/>
                </a:solidFill>
              </a:rPr>
              <a:t>headers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b="1" u="sng" dirty="0">
                <a:solidFill>
                  <a:schemeClr val="bg1"/>
                </a:solidFill>
              </a:rPr>
              <a:t>Количество тегов </a:t>
            </a:r>
            <a:r>
              <a:rPr lang="en-US" sz="2000" b="1" u="sng" dirty="0" err="1">
                <a:solidFill>
                  <a:schemeClr val="bg1"/>
                </a:solidFill>
              </a:rPr>
              <a:t>th</a:t>
            </a:r>
            <a:r>
              <a:rPr lang="en-US" sz="2000" b="1" u="sng" dirty="0">
                <a:solidFill>
                  <a:schemeClr val="bg1"/>
                </a:solidFill>
              </a:rPr>
              <a:t> </a:t>
            </a:r>
            <a:r>
              <a:rPr lang="ru-RU" sz="2000" b="1" u="sng" dirty="0">
                <a:solidFill>
                  <a:schemeClr val="bg1"/>
                </a:solidFill>
              </a:rPr>
              <a:t>обязательно равно количеству тегов </a:t>
            </a:r>
            <a:r>
              <a:rPr lang="en-US" sz="2000" b="1" u="sng" dirty="0">
                <a:solidFill>
                  <a:schemeClr val="bg1"/>
                </a:solidFill>
              </a:rPr>
              <a:t>td</a:t>
            </a: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en-US" sz="4000" b="1" dirty="0">
                <a:solidFill>
                  <a:schemeClr val="bg1"/>
                </a:solidFill>
              </a:rPr>
              <a:t>&lt;/</a:t>
            </a:r>
            <a:r>
              <a:rPr lang="en-US" sz="4000" b="1" dirty="0" err="1">
                <a:solidFill>
                  <a:schemeClr val="bg1"/>
                </a:solidFill>
              </a:rPr>
              <a:t>th</a:t>
            </a:r>
            <a:r>
              <a:rPr lang="en-US" sz="4000" b="1" dirty="0">
                <a:solidFill>
                  <a:schemeClr val="bg1"/>
                </a:solidFill>
              </a:rPr>
              <a:t>&gt;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&lt;table&gt; 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th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  <a:r>
              <a:rPr lang="ru-RU" sz="2000" dirty="0">
                <a:solidFill>
                  <a:schemeClr val="bg1"/>
                </a:solidFill>
              </a:rPr>
              <a:t>ячейка заголовка&lt;/</a:t>
            </a:r>
            <a:r>
              <a:rPr lang="en-US" sz="2000" dirty="0" err="1">
                <a:solidFill>
                  <a:schemeClr val="bg1"/>
                </a:solidFill>
              </a:rPr>
              <a:t>th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th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  <a:r>
              <a:rPr lang="ru-RU" sz="2000" dirty="0">
                <a:solidFill>
                  <a:schemeClr val="bg1"/>
                </a:solidFill>
              </a:rPr>
              <a:t>ячейка заголовка&lt;/</a:t>
            </a:r>
            <a:r>
              <a:rPr lang="en-US" sz="2000" dirty="0" err="1">
                <a:solidFill>
                  <a:schemeClr val="bg1"/>
                </a:solidFill>
              </a:rPr>
              <a:t>th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&lt;/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 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&lt;td&gt;</a:t>
            </a:r>
            <a:r>
              <a:rPr lang="ru-RU" sz="2000" dirty="0">
                <a:solidFill>
                  <a:schemeClr val="bg1"/>
                </a:solidFill>
              </a:rPr>
              <a:t>ячейка тела таблицы&lt;/</a:t>
            </a:r>
            <a:r>
              <a:rPr lang="en-US" sz="2000" dirty="0">
                <a:solidFill>
                  <a:schemeClr val="bg1"/>
                </a:solidFill>
              </a:rPr>
              <a:t>td&gt;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&lt;td&gt;</a:t>
            </a:r>
            <a:r>
              <a:rPr lang="ru-RU" sz="2000" dirty="0">
                <a:solidFill>
                  <a:schemeClr val="bg1"/>
                </a:solidFill>
              </a:rPr>
              <a:t>ячейка тела таблицы&lt;/</a:t>
            </a:r>
            <a:r>
              <a:rPr lang="en-US" sz="2000" dirty="0">
                <a:solidFill>
                  <a:schemeClr val="bg1"/>
                </a:solidFill>
              </a:rPr>
              <a:t>td&gt;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&lt;/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 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&lt;/table&gt;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16632"/>
            <a:ext cx="8640960" cy="557075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&lt;table&gt;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У данного тега есть несколько свойств – </a:t>
            </a: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&lt;table border="</a:t>
            </a:r>
            <a:r>
              <a:rPr lang="ru-RU" sz="2000" b="1" dirty="0">
                <a:solidFill>
                  <a:schemeClr val="bg1"/>
                </a:solidFill>
              </a:rPr>
              <a:t>толщина"&gt;...&lt;/</a:t>
            </a:r>
            <a:r>
              <a:rPr lang="en-US" sz="2000" b="1" dirty="0">
                <a:solidFill>
                  <a:schemeClr val="bg1"/>
                </a:solidFill>
              </a:rPr>
              <a:t>table&gt;</a:t>
            </a:r>
            <a:endParaRPr lang="ru-RU" sz="2000" b="1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Устанавливает толщину рамки в </a:t>
            </a:r>
            <a:r>
              <a:rPr lang="ru-RU" sz="2000" dirty="0" err="1">
                <a:solidFill>
                  <a:schemeClr val="bg1"/>
                </a:solidFill>
              </a:rPr>
              <a:t>пикселах</a:t>
            </a:r>
            <a:r>
              <a:rPr lang="ru-RU" sz="2000" dirty="0">
                <a:solidFill>
                  <a:schemeClr val="bg1"/>
                </a:solidFill>
              </a:rPr>
              <a:t>. По умолчанию рамка изображается трехмерной, но если используется атрибут </a:t>
            </a:r>
            <a:r>
              <a:rPr lang="ru-RU" sz="2000" dirty="0" err="1">
                <a:solidFill>
                  <a:schemeClr val="bg1"/>
                </a:solidFill>
              </a:rPr>
              <a:t>bordercolor</a:t>
            </a:r>
            <a:r>
              <a:rPr lang="ru-RU" sz="2000" dirty="0">
                <a:solidFill>
                  <a:schemeClr val="bg1"/>
                </a:solidFill>
              </a:rPr>
              <a:t> тега &lt;</a:t>
            </a:r>
            <a:r>
              <a:rPr lang="ru-RU" sz="2000" dirty="0" err="1">
                <a:solidFill>
                  <a:schemeClr val="bg1"/>
                </a:solidFill>
              </a:rPr>
              <a:t>table</a:t>
            </a:r>
            <a:r>
              <a:rPr lang="ru-RU" sz="2000" dirty="0">
                <a:solidFill>
                  <a:schemeClr val="bg1"/>
                </a:solidFill>
              </a:rPr>
              <a:t>&gt;, то вид рамки меняется в зависимости от браузера. Когда в теге &lt;</a:t>
            </a:r>
            <a:r>
              <a:rPr lang="ru-RU" sz="2000" dirty="0" err="1">
                <a:solidFill>
                  <a:schemeClr val="bg1"/>
                </a:solidFill>
              </a:rPr>
              <a:t>table</a:t>
            </a:r>
            <a:r>
              <a:rPr lang="ru-RU" sz="2000" dirty="0">
                <a:solidFill>
                  <a:schemeClr val="bg1"/>
                </a:solidFill>
              </a:rPr>
              <a:t>&gt; используется атрибут </a:t>
            </a:r>
            <a:r>
              <a:rPr lang="ru-RU" sz="2000" dirty="0" err="1">
                <a:solidFill>
                  <a:schemeClr val="bg1"/>
                </a:solidFill>
              </a:rPr>
              <a:t>border</a:t>
            </a:r>
            <a:r>
              <a:rPr lang="ru-RU" sz="2000" dirty="0">
                <a:solidFill>
                  <a:schemeClr val="bg1"/>
                </a:solidFill>
              </a:rPr>
              <a:t> без значений (&lt;</a:t>
            </a:r>
            <a:r>
              <a:rPr lang="ru-RU" sz="2000" dirty="0" err="1">
                <a:solidFill>
                  <a:schemeClr val="bg1"/>
                </a:solidFill>
              </a:rPr>
              <a:t>table</a:t>
            </a:r>
            <a:r>
              <a:rPr lang="ru-RU" sz="2000" dirty="0">
                <a:solidFill>
                  <a:schemeClr val="bg1"/>
                </a:solidFill>
              </a:rPr>
              <a:t> </a:t>
            </a:r>
            <a:r>
              <a:rPr lang="ru-RU" sz="2000" dirty="0" err="1">
                <a:solidFill>
                  <a:schemeClr val="bg1"/>
                </a:solidFill>
              </a:rPr>
              <a:t>border</a:t>
            </a:r>
            <a:r>
              <a:rPr lang="ru-RU" sz="2000" dirty="0">
                <a:solidFill>
                  <a:schemeClr val="bg1"/>
                </a:solidFill>
              </a:rPr>
              <a:t>&gt;), то браузер отображает рамку толщиной один </a:t>
            </a:r>
            <a:r>
              <a:rPr lang="ru-RU" sz="2000" dirty="0" err="1">
                <a:solidFill>
                  <a:schemeClr val="bg1"/>
                </a:solidFill>
              </a:rPr>
              <a:t>пиксел</a:t>
            </a:r>
            <a:r>
              <a:rPr lang="ru-RU" sz="2000" dirty="0">
                <a:solidFill>
                  <a:schemeClr val="bg1"/>
                </a:solidFill>
              </a:rPr>
              <a:t>. </a:t>
            </a:r>
            <a:r>
              <a:rPr lang="ru-RU" sz="2000" b="1" dirty="0">
                <a:solidFill>
                  <a:schemeClr val="bg1"/>
                </a:solidFill>
              </a:rPr>
              <a:t>Аналог </a:t>
            </a:r>
            <a:r>
              <a:rPr lang="en-US" sz="2000" b="1" dirty="0">
                <a:solidFill>
                  <a:schemeClr val="bg1"/>
                </a:solidFill>
              </a:rPr>
              <a:t>CSS</a:t>
            </a:r>
            <a:r>
              <a:rPr lang="ru-RU" sz="2000" b="1" dirty="0">
                <a:solidFill>
                  <a:schemeClr val="bg1"/>
                </a:solidFill>
              </a:rPr>
              <a:t> - </a:t>
            </a:r>
            <a:r>
              <a:rPr lang="en-US" sz="2000" b="1" dirty="0">
                <a:solidFill>
                  <a:schemeClr val="bg1"/>
                </a:solidFill>
              </a:rPr>
              <a:t>border</a:t>
            </a:r>
            <a:endParaRPr lang="ru-RU" sz="2000" b="1" dirty="0">
              <a:solidFill>
                <a:schemeClr val="bg1"/>
              </a:solidFill>
            </a:endParaRP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&lt;table </a:t>
            </a:r>
            <a:r>
              <a:rPr lang="en-US" sz="2000" b="1" dirty="0" err="1">
                <a:solidFill>
                  <a:schemeClr val="bg1"/>
                </a:solidFill>
              </a:rPr>
              <a:t>cellspacing</a:t>
            </a:r>
            <a:r>
              <a:rPr lang="en-US" sz="2000" b="1" dirty="0">
                <a:solidFill>
                  <a:schemeClr val="bg1"/>
                </a:solidFill>
              </a:rPr>
              <a:t>="</a:t>
            </a:r>
            <a:r>
              <a:rPr lang="ru-RU" sz="2000" b="1" dirty="0">
                <a:solidFill>
                  <a:schemeClr val="bg1"/>
                </a:solidFill>
              </a:rPr>
              <a:t>значение"&gt;...&lt;/</a:t>
            </a:r>
            <a:r>
              <a:rPr lang="en-US" sz="2000" b="1" dirty="0">
                <a:solidFill>
                  <a:schemeClr val="bg1"/>
                </a:solidFill>
              </a:rPr>
              <a:t>table&gt;</a:t>
            </a:r>
            <a:r>
              <a:rPr lang="ru-RU" sz="2000" b="1" dirty="0">
                <a:solidFill>
                  <a:schemeClr val="bg1"/>
                </a:solidFill>
              </a:rPr>
              <a:t> </a:t>
            </a:r>
          </a:p>
          <a:p>
            <a:r>
              <a:rPr lang="ru-RU" sz="2000" dirty="0">
                <a:solidFill>
                  <a:schemeClr val="bg1"/>
                </a:solidFill>
              </a:rPr>
              <a:t>Задает расстояние между внешними границами ячеек. </a:t>
            </a:r>
            <a:r>
              <a:rPr lang="ru-RU" sz="2000" b="1" dirty="0">
                <a:solidFill>
                  <a:schemeClr val="bg1"/>
                </a:solidFill>
              </a:rPr>
              <a:t>Аналог </a:t>
            </a:r>
            <a:r>
              <a:rPr lang="en-US" sz="2000" b="1" dirty="0">
                <a:solidFill>
                  <a:schemeClr val="bg1"/>
                </a:solidFill>
              </a:rPr>
              <a:t>CSS</a:t>
            </a:r>
            <a:r>
              <a:rPr lang="ru-RU" sz="2000" b="1" dirty="0">
                <a:solidFill>
                  <a:schemeClr val="bg1"/>
                </a:solidFill>
              </a:rPr>
              <a:t> - </a:t>
            </a:r>
            <a:r>
              <a:rPr lang="en-US" sz="2000" b="1" dirty="0">
                <a:solidFill>
                  <a:schemeClr val="bg1"/>
                </a:solidFill>
              </a:rPr>
              <a:t>border-spacing</a:t>
            </a:r>
            <a:endParaRPr lang="ru-RU" sz="2000" b="1" dirty="0">
              <a:solidFill>
                <a:schemeClr val="bg1"/>
              </a:solidFill>
            </a:endParaRPr>
          </a:p>
          <a:p>
            <a:endParaRPr lang="ru-RU" sz="1600" b="1" dirty="0">
              <a:solidFill>
                <a:schemeClr val="bg1"/>
              </a:solidFill>
            </a:endParaRPr>
          </a:p>
          <a:p>
            <a:r>
              <a:rPr lang="en-US" sz="4000" b="1" dirty="0">
                <a:solidFill>
                  <a:srgbClr val="FF0000"/>
                </a:solidFill>
              </a:rPr>
              <a:t>&lt;/table&gt;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16632"/>
            <a:ext cx="8640960" cy="624786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&lt;table&gt;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&lt;table </a:t>
            </a:r>
            <a:r>
              <a:rPr lang="en-US" sz="2000" b="1" dirty="0" err="1">
                <a:solidFill>
                  <a:schemeClr val="bg1"/>
                </a:solidFill>
              </a:rPr>
              <a:t>cellpadding</a:t>
            </a:r>
            <a:r>
              <a:rPr lang="en-US" sz="2000" b="1" dirty="0">
                <a:solidFill>
                  <a:schemeClr val="bg1"/>
                </a:solidFill>
              </a:rPr>
              <a:t>="</a:t>
            </a:r>
            <a:r>
              <a:rPr lang="ru-RU" sz="2000" b="1" dirty="0">
                <a:solidFill>
                  <a:schemeClr val="bg1"/>
                </a:solidFill>
              </a:rPr>
              <a:t>значение"&gt;...&lt;/</a:t>
            </a:r>
            <a:r>
              <a:rPr lang="en-US" sz="2000" b="1" dirty="0">
                <a:solidFill>
                  <a:schemeClr val="bg1"/>
                </a:solidFill>
              </a:rPr>
              <a:t>table&gt;</a:t>
            </a:r>
            <a:endParaRPr lang="ru-RU" sz="2000" b="1" dirty="0">
              <a:solidFill>
                <a:schemeClr val="bg1"/>
              </a:solidFill>
            </a:endParaRPr>
          </a:p>
          <a:p>
            <a:endParaRPr lang="ru-RU" sz="2000" b="1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Определяет расстояние между границей ячейки и ее содержимым. Этот атрибут добавляет пустое пространство к ячейке, увеличивая тем самым ее размеры. Без </a:t>
            </a:r>
            <a:r>
              <a:rPr lang="ru-RU" sz="2000" dirty="0" err="1">
                <a:solidFill>
                  <a:schemeClr val="bg1"/>
                </a:solidFill>
              </a:rPr>
              <a:t>cellpadding</a:t>
            </a:r>
            <a:r>
              <a:rPr lang="ru-RU" sz="2000" dirty="0">
                <a:solidFill>
                  <a:schemeClr val="bg1"/>
                </a:solidFill>
              </a:rPr>
              <a:t> текст в таблице «налипает» на рамку, снижая тем самым его восприятие. Добавление же </a:t>
            </a:r>
            <a:r>
              <a:rPr lang="ru-RU" sz="2000" dirty="0" err="1">
                <a:solidFill>
                  <a:schemeClr val="bg1"/>
                </a:solidFill>
              </a:rPr>
              <a:t>cellpadding</a:t>
            </a:r>
            <a:r>
              <a:rPr lang="ru-RU" sz="2000" dirty="0">
                <a:solidFill>
                  <a:schemeClr val="bg1"/>
                </a:solidFill>
              </a:rPr>
              <a:t> позволяет улучшить читабельность текста. При отсутствии границ особого значения этот атрибут не имеет, но может помочь, когда требуется установить пустой промежуток между ячейками. </a:t>
            </a:r>
          </a:p>
          <a:p>
            <a:r>
              <a:rPr lang="ru-RU" sz="2000" b="1" dirty="0">
                <a:solidFill>
                  <a:schemeClr val="bg1"/>
                </a:solidFill>
              </a:rPr>
              <a:t>Аналог </a:t>
            </a:r>
            <a:r>
              <a:rPr lang="en-US" sz="2000" b="1" dirty="0">
                <a:solidFill>
                  <a:schemeClr val="bg1"/>
                </a:solidFill>
              </a:rPr>
              <a:t>CSS</a:t>
            </a:r>
            <a:r>
              <a:rPr lang="ru-RU" sz="2000" b="1" dirty="0">
                <a:solidFill>
                  <a:schemeClr val="bg1"/>
                </a:solidFill>
              </a:rPr>
              <a:t> – </a:t>
            </a:r>
            <a:r>
              <a:rPr lang="en-US" sz="2000" b="1" dirty="0">
                <a:solidFill>
                  <a:schemeClr val="bg1"/>
                </a:solidFill>
              </a:rPr>
              <a:t>padding</a:t>
            </a:r>
            <a:endParaRPr lang="ru-RU" sz="2000" b="1" dirty="0">
              <a:solidFill>
                <a:schemeClr val="bg1"/>
              </a:solidFill>
            </a:endParaRPr>
          </a:p>
          <a:p>
            <a:endParaRPr lang="ru-RU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&lt;table  width="</a:t>
            </a:r>
            <a:r>
              <a:rPr lang="ru-RU" sz="2000" b="1" dirty="0">
                <a:solidFill>
                  <a:schemeClr val="bg1"/>
                </a:solidFill>
              </a:rPr>
              <a:t>значение"</a:t>
            </a:r>
            <a:r>
              <a:rPr lang="en-US" sz="2000" b="1" dirty="0">
                <a:solidFill>
                  <a:schemeClr val="bg1"/>
                </a:solidFill>
              </a:rPr>
              <a:t>  height ="</a:t>
            </a:r>
            <a:r>
              <a:rPr lang="ru-RU" sz="2000" b="1" dirty="0">
                <a:solidFill>
                  <a:schemeClr val="bg1"/>
                </a:solidFill>
              </a:rPr>
              <a:t>значение"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ru-RU" sz="2000" b="1" dirty="0">
                <a:solidFill>
                  <a:schemeClr val="bg1"/>
                </a:solidFill>
              </a:rPr>
              <a:t>&gt;...&lt;/</a:t>
            </a:r>
            <a:r>
              <a:rPr lang="en-US" sz="2000" b="1" dirty="0">
                <a:solidFill>
                  <a:schemeClr val="bg1"/>
                </a:solidFill>
              </a:rPr>
              <a:t>table&gt;</a:t>
            </a:r>
          </a:p>
          <a:p>
            <a:r>
              <a:rPr lang="ru-RU" sz="2000" b="1" dirty="0">
                <a:solidFill>
                  <a:schemeClr val="bg1"/>
                </a:solidFill>
              </a:rPr>
              <a:t>Аналог </a:t>
            </a:r>
            <a:r>
              <a:rPr lang="en-US" sz="2000" b="1" dirty="0">
                <a:solidFill>
                  <a:schemeClr val="bg1"/>
                </a:solidFill>
              </a:rPr>
              <a:t>CSS</a:t>
            </a:r>
            <a:r>
              <a:rPr lang="ru-RU" sz="2000" b="1" dirty="0">
                <a:solidFill>
                  <a:schemeClr val="bg1"/>
                </a:solidFill>
              </a:rPr>
              <a:t> – </a:t>
            </a:r>
            <a:r>
              <a:rPr lang="en-US" sz="2000" b="1" dirty="0">
                <a:solidFill>
                  <a:schemeClr val="bg1"/>
                </a:solidFill>
              </a:rPr>
              <a:t>width </a:t>
            </a:r>
            <a:r>
              <a:rPr lang="ru-RU" sz="2000" b="1" dirty="0">
                <a:solidFill>
                  <a:schemeClr val="bg1"/>
                </a:solidFill>
              </a:rPr>
              <a:t>и </a:t>
            </a:r>
            <a:r>
              <a:rPr lang="en-US" sz="2000" b="1" dirty="0">
                <a:solidFill>
                  <a:schemeClr val="bg1"/>
                </a:solidFill>
              </a:rPr>
              <a:t>height</a:t>
            </a:r>
            <a:endParaRPr lang="ru-RU" sz="2000" b="1" dirty="0">
              <a:solidFill>
                <a:schemeClr val="bg1"/>
              </a:solidFill>
            </a:endParaRPr>
          </a:p>
          <a:p>
            <a:endParaRPr lang="ru-RU" sz="2000" b="1" dirty="0">
              <a:solidFill>
                <a:schemeClr val="bg1"/>
              </a:solidFill>
            </a:endParaRPr>
          </a:p>
          <a:p>
            <a:endParaRPr lang="ru-RU" sz="2000" b="1" dirty="0">
              <a:solidFill>
                <a:schemeClr val="bg1"/>
              </a:solidFill>
            </a:endParaRPr>
          </a:p>
          <a:p>
            <a:r>
              <a:rPr lang="en-US" sz="4000" b="1" dirty="0">
                <a:solidFill>
                  <a:srgbClr val="FF0000"/>
                </a:solidFill>
              </a:rPr>
              <a:t>&lt;/table&gt;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16632"/>
            <a:ext cx="8640960" cy="470898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&lt;table&gt;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&lt;table align="</a:t>
            </a:r>
            <a:r>
              <a:rPr lang="ru-RU" sz="2000" b="1" dirty="0">
                <a:solidFill>
                  <a:schemeClr val="bg1"/>
                </a:solidFill>
              </a:rPr>
              <a:t>Значение</a:t>
            </a:r>
            <a:r>
              <a:rPr lang="en-US" sz="2000" b="1" dirty="0">
                <a:solidFill>
                  <a:schemeClr val="bg1"/>
                </a:solidFill>
              </a:rPr>
              <a:t>"&gt;</a:t>
            </a:r>
          </a:p>
          <a:p>
            <a:r>
              <a:rPr lang="ru-RU" sz="2000" dirty="0">
                <a:solidFill>
                  <a:schemeClr val="bg1"/>
                </a:solidFill>
              </a:rPr>
              <a:t>Выравнивание таблицы по краям </a:t>
            </a:r>
            <a:r>
              <a:rPr lang="en-US" sz="2000" dirty="0">
                <a:solidFill>
                  <a:schemeClr val="bg1"/>
                </a:solidFill>
              </a:rPr>
              <a:t>left</a:t>
            </a:r>
            <a:r>
              <a:rPr lang="ru-RU" sz="2000" dirty="0">
                <a:solidFill>
                  <a:schemeClr val="bg1"/>
                </a:solidFill>
              </a:rPr>
              <a:t>, </a:t>
            </a:r>
            <a:r>
              <a:rPr lang="en-US" sz="2000" dirty="0">
                <a:solidFill>
                  <a:schemeClr val="bg1"/>
                </a:solidFill>
              </a:rPr>
              <a:t>right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&lt;table align="center“&gt;</a:t>
            </a:r>
            <a:endParaRPr lang="ru-RU" sz="2000" b="1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Выравнивание таблицы по центру страницы</a:t>
            </a:r>
          </a:p>
          <a:p>
            <a:r>
              <a:rPr lang="ru-RU" sz="2000" b="1" dirty="0">
                <a:solidFill>
                  <a:schemeClr val="bg1"/>
                </a:solidFill>
              </a:rPr>
              <a:t>Аналог </a:t>
            </a:r>
            <a:r>
              <a:rPr lang="en-US" sz="2000" b="1" dirty="0">
                <a:solidFill>
                  <a:schemeClr val="bg1"/>
                </a:solidFill>
              </a:rPr>
              <a:t>CSS</a:t>
            </a:r>
            <a:r>
              <a:rPr lang="ru-RU" sz="2000" b="1" dirty="0">
                <a:solidFill>
                  <a:schemeClr val="bg1"/>
                </a:solidFill>
              </a:rPr>
              <a:t> – </a:t>
            </a:r>
            <a:r>
              <a:rPr lang="en-US" sz="2000" b="1" dirty="0">
                <a:solidFill>
                  <a:schemeClr val="bg1"/>
                </a:solidFill>
              </a:rPr>
              <a:t>margin: 0 auto;</a:t>
            </a:r>
            <a:endParaRPr lang="ru-RU" sz="2000" b="1" dirty="0">
              <a:solidFill>
                <a:schemeClr val="bg1"/>
              </a:solidFill>
            </a:endParaRPr>
          </a:p>
          <a:p>
            <a:endParaRPr lang="ru-RU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&lt;table  width="</a:t>
            </a:r>
            <a:r>
              <a:rPr lang="ru-RU" sz="2000" b="1" dirty="0">
                <a:solidFill>
                  <a:schemeClr val="bg1"/>
                </a:solidFill>
              </a:rPr>
              <a:t>значение"</a:t>
            </a:r>
            <a:r>
              <a:rPr lang="en-US" sz="2000" b="1" dirty="0">
                <a:solidFill>
                  <a:schemeClr val="bg1"/>
                </a:solidFill>
              </a:rPr>
              <a:t>  height ="</a:t>
            </a:r>
            <a:r>
              <a:rPr lang="ru-RU" sz="2000" b="1" dirty="0">
                <a:solidFill>
                  <a:schemeClr val="bg1"/>
                </a:solidFill>
              </a:rPr>
              <a:t>значение"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ru-RU" sz="2000" b="1" dirty="0">
                <a:solidFill>
                  <a:schemeClr val="bg1"/>
                </a:solidFill>
              </a:rPr>
              <a:t>&gt;...&lt;/</a:t>
            </a:r>
            <a:r>
              <a:rPr lang="en-US" sz="2000" b="1" dirty="0">
                <a:solidFill>
                  <a:schemeClr val="bg1"/>
                </a:solidFill>
              </a:rPr>
              <a:t>table&gt;</a:t>
            </a:r>
          </a:p>
          <a:p>
            <a:r>
              <a:rPr lang="ru-RU" sz="2000" b="1" dirty="0">
                <a:solidFill>
                  <a:schemeClr val="bg1"/>
                </a:solidFill>
              </a:rPr>
              <a:t>Аналог </a:t>
            </a:r>
            <a:r>
              <a:rPr lang="en-US" sz="2000" b="1" dirty="0">
                <a:solidFill>
                  <a:schemeClr val="bg1"/>
                </a:solidFill>
              </a:rPr>
              <a:t>CSS</a:t>
            </a:r>
            <a:r>
              <a:rPr lang="ru-RU" sz="2000" b="1" dirty="0">
                <a:solidFill>
                  <a:schemeClr val="bg1"/>
                </a:solidFill>
              </a:rPr>
              <a:t> – </a:t>
            </a:r>
            <a:r>
              <a:rPr lang="en-US" sz="2000" b="1" dirty="0">
                <a:solidFill>
                  <a:schemeClr val="bg1"/>
                </a:solidFill>
              </a:rPr>
              <a:t>width </a:t>
            </a:r>
            <a:r>
              <a:rPr lang="ru-RU" sz="2000" b="1" dirty="0">
                <a:solidFill>
                  <a:schemeClr val="bg1"/>
                </a:solidFill>
              </a:rPr>
              <a:t>и </a:t>
            </a:r>
            <a:r>
              <a:rPr lang="en-US" sz="2000" b="1" dirty="0">
                <a:solidFill>
                  <a:schemeClr val="bg1"/>
                </a:solidFill>
              </a:rPr>
              <a:t>height</a:t>
            </a:r>
            <a:endParaRPr lang="ru-RU" sz="2000" b="1" dirty="0">
              <a:solidFill>
                <a:schemeClr val="bg1"/>
              </a:solidFill>
            </a:endParaRPr>
          </a:p>
          <a:p>
            <a:endParaRPr lang="ru-RU" sz="2000" b="1" dirty="0">
              <a:solidFill>
                <a:schemeClr val="bg1"/>
              </a:solidFill>
            </a:endParaRPr>
          </a:p>
          <a:p>
            <a:endParaRPr lang="ru-RU" sz="2000" b="1" dirty="0">
              <a:solidFill>
                <a:schemeClr val="bg1"/>
              </a:solidFill>
            </a:endParaRPr>
          </a:p>
          <a:p>
            <a:r>
              <a:rPr lang="en-US" sz="4000" b="1" dirty="0">
                <a:solidFill>
                  <a:srgbClr val="FF0000"/>
                </a:solidFill>
              </a:rPr>
              <a:t>&lt;/table&gt;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88640"/>
            <a:ext cx="8640960" cy="59400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4000" b="1" dirty="0">
                <a:solidFill>
                  <a:srgbClr val="639729"/>
                </a:solidFill>
              </a:rPr>
              <a:t>&lt;td&gt;</a:t>
            </a:r>
            <a:endParaRPr lang="en-US" sz="4000" b="1" dirty="0">
              <a:solidFill>
                <a:srgbClr val="FF0000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Ячейке таблицы можно задать высоту и ширину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&lt;td width="</a:t>
            </a:r>
            <a:r>
              <a:rPr lang="ru-RU" sz="2000" b="1" dirty="0">
                <a:solidFill>
                  <a:schemeClr val="bg1"/>
                </a:solidFill>
              </a:rPr>
              <a:t>Значение</a:t>
            </a:r>
            <a:r>
              <a:rPr lang="en-US" sz="2000" b="1" dirty="0">
                <a:solidFill>
                  <a:schemeClr val="bg1"/>
                </a:solidFill>
              </a:rPr>
              <a:t>" height="</a:t>
            </a:r>
            <a:r>
              <a:rPr lang="ru-RU" sz="2000" b="1" dirty="0">
                <a:solidFill>
                  <a:schemeClr val="bg1"/>
                </a:solidFill>
              </a:rPr>
              <a:t>Значение</a:t>
            </a:r>
            <a:r>
              <a:rPr lang="en-US" sz="2000" b="1" dirty="0">
                <a:solidFill>
                  <a:schemeClr val="bg1"/>
                </a:solidFill>
              </a:rPr>
              <a:t>"&gt;</a:t>
            </a:r>
            <a:r>
              <a:rPr lang="ru-RU" sz="2000" b="1" dirty="0">
                <a:solidFill>
                  <a:schemeClr val="bg1"/>
                </a:solidFill>
              </a:rPr>
              <a:t>Текст</a:t>
            </a:r>
            <a:r>
              <a:rPr lang="en-US" sz="2000" b="1" dirty="0">
                <a:solidFill>
                  <a:schemeClr val="bg1"/>
                </a:solidFill>
              </a:rPr>
              <a:t>&lt;/td&gt;</a:t>
            </a:r>
            <a:endParaRPr lang="ru-RU" sz="2000" b="1" dirty="0">
              <a:solidFill>
                <a:schemeClr val="bg1"/>
              </a:solidFill>
            </a:endParaRPr>
          </a:p>
          <a:p>
            <a:r>
              <a:rPr lang="ru-RU" sz="2000" b="1" dirty="0">
                <a:solidFill>
                  <a:schemeClr val="bg1"/>
                </a:solidFill>
              </a:rPr>
              <a:t>Ширина </a:t>
            </a:r>
            <a:r>
              <a:rPr lang="en-US" sz="2000" b="1" dirty="0">
                <a:solidFill>
                  <a:schemeClr val="bg1"/>
                </a:solidFill>
              </a:rPr>
              <a:t>width </a:t>
            </a:r>
            <a:r>
              <a:rPr lang="ru-RU" sz="2000" b="1" dirty="0">
                <a:solidFill>
                  <a:schemeClr val="bg1"/>
                </a:solidFill>
              </a:rPr>
              <a:t>и высота </a:t>
            </a:r>
            <a:r>
              <a:rPr lang="en-US" sz="2000" b="1" dirty="0">
                <a:solidFill>
                  <a:schemeClr val="bg1"/>
                </a:solidFill>
              </a:rPr>
              <a:t>height </a:t>
            </a:r>
            <a:r>
              <a:rPr lang="ru-RU" sz="2000" b="1" dirty="0">
                <a:solidFill>
                  <a:schemeClr val="bg1"/>
                </a:solidFill>
              </a:rPr>
              <a:t>могут иметь значения в </a:t>
            </a:r>
            <a:r>
              <a:rPr lang="en-US" sz="2000" b="1" dirty="0" err="1">
                <a:solidFill>
                  <a:schemeClr val="bg1"/>
                </a:solidFill>
              </a:rPr>
              <a:t>px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ru-RU" sz="2000" b="1" dirty="0">
                <a:solidFill>
                  <a:schemeClr val="bg1"/>
                </a:solidFill>
              </a:rPr>
              <a:t>и %</a:t>
            </a:r>
            <a:endParaRPr lang="en-US" sz="2000" b="1" dirty="0">
              <a:solidFill>
                <a:schemeClr val="bg1"/>
              </a:solidFill>
            </a:endParaRP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Выравнивание данных в ячейке происходит с помощью свойств </a:t>
            </a:r>
            <a:r>
              <a:rPr lang="en-US" sz="2000" dirty="0">
                <a:solidFill>
                  <a:schemeClr val="bg1"/>
                </a:solidFill>
              </a:rPr>
              <a:t>align</a:t>
            </a:r>
            <a:r>
              <a:rPr lang="ru-RU" sz="2000" dirty="0">
                <a:solidFill>
                  <a:schemeClr val="bg1"/>
                </a:solidFill>
              </a:rPr>
              <a:t> и </a:t>
            </a:r>
            <a:r>
              <a:rPr lang="en-US" sz="2000" dirty="0" err="1">
                <a:solidFill>
                  <a:schemeClr val="bg1"/>
                </a:solidFill>
              </a:rPr>
              <a:t>valign</a:t>
            </a:r>
            <a:endParaRPr lang="ru-RU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&lt;td align= " center " </a:t>
            </a:r>
            <a:r>
              <a:rPr lang="en-US" sz="2000" b="1" dirty="0" err="1">
                <a:solidFill>
                  <a:schemeClr val="bg1"/>
                </a:solidFill>
              </a:rPr>
              <a:t>valign</a:t>
            </a:r>
            <a:r>
              <a:rPr lang="en-US" sz="2000" b="1" dirty="0">
                <a:solidFill>
                  <a:schemeClr val="bg1"/>
                </a:solidFill>
              </a:rPr>
              <a:t>= " center " &gt;</a:t>
            </a:r>
            <a:endParaRPr lang="ru-RU" sz="2000" b="1" dirty="0">
              <a:solidFill>
                <a:schemeClr val="bg1"/>
              </a:solidFill>
            </a:endParaRP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align = </a:t>
            </a:r>
            <a:r>
              <a:rPr lang="ru-RU" sz="2000" b="1" dirty="0">
                <a:solidFill>
                  <a:schemeClr val="bg1"/>
                </a:solidFill>
              </a:rPr>
              <a:t>выравнивание по горизонтали </a:t>
            </a:r>
            <a:r>
              <a:rPr lang="en-US" sz="2000" b="1" dirty="0">
                <a:solidFill>
                  <a:schemeClr val="bg1"/>
                </a:solidFill>
              </a:rPr>
              <a:t>left, right, center</a:t>
            </a:r>
            <a:r>
              <a:rPr lang="ru-RU" sz="2000" b="1" dirty="0">
                <a:solidFill>
                  <a:schemeClr val="bg1"/>
                </a:solidFill>
              </a:rPr>
              <a:t> – аналог </a:t>
            </a:r>
            <a:r>
              <a:rPr lang="en-US" sz="2000" b="1" dirty="0" err="1">
                <a:solidFill>
                  <a:schemeClr val="bg1"/>
                </a:solidFill>
              </a:rPr>
              <a:t>css</a:t>
            </a:r>
            <a:r>
              <a:rPr lang="en-US" sz="2000" b="1" dirty="0">
                <a:solidFill>
                  <a:schemeClr val="bg1"/>
                </a:solidFill>
              </a:rPr>
              <a:t>  - text-align</a:t>
            </a:r>
            <a:endParaRPr lang="ru-RU" sz="2000" b="1" dirty="0">
              <a:solidFill>
                <a:schemeClr val="bg1"/>
              </a:solidFill>
            </a:endParaRP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 err="1">
                <a:solidFill>
                  <a:schemeClr val="bg1"/>
                </a:solidFill>
              </a:rPr>
              <a:t>valign</a:t>
            </a:r>
            <a:r>
              <a:rPr lang="en-US" sz="2000" b="1" dirty="0">
                <a:solidFill>
                  <a:schemeClr val="bg1"/>
                </a:solidFill>
              </a:rPr>
              <a:t> = </a:t>
            </a:r>
            <a:r>
              <a:rPr lang="ru-RU" sz="2000" b="1" dirty="0">
                <a:solidFill>
                  <a:schemeClr val="bg1"/>
                </a:solidFill>
              </a:rPr>
              <a:t>выравнивание по вертикали </a:t>
            </a:r>
            <a:r>
              <a:rPr lang="en-US" sz="2000" b="1" dirty="0">
                <a:solidFill>
                  <a:schemeClr val="bg1"/>
                </a:solidFill>
              </a:rPr>
              <a:t>top, center, bottom – </a:t>
            </a:r>
            <a:r>
              <a:rPr lang="ru-RU" sz="2000" b="1" dirty="0">
                <a:solidFill>
                  <a:schemeClr val="bg1"/>
                </a:solidFill>
              </a:rPr>
              <a:t>аналог </a:t>
            </a:r>
            <a:r>
              <a:rPr lang="en-US" sz="2000" b="1" dirty="0" err="1">
                <a:solidFill>
                  <a:schemeClr val="bg1"/>
                </a:solidFill>
              </a:rPr>
              <a:t>css</a:t>
            </a:r>
            <a:r>
              <a:rPr lang="en-US" sz="2000" b="1" dirty="0">
                <a:solidFill>
                  <a:schemeClr val="bg1"/>
                </a:solidFill>
              </a:rPr>
              <a:t> - vertical-align</a:t>
            </a: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en-US" sz="4000" b="1" dirty="0">
                <a:solidFill>
                  <a:srgbClr val="639729"/>
                </a:solidFill>
              </a:rPr>
              <a:t>&lt;/td&gt;</a:t>
            </a:r>
            <a:endParaRPr lang="en-US" sz="4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88640"/>
            <a:ext cx="8640960" cy="440120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4000" b="1" dirty="0" err="1">
                <a:solidFill>
                  <a:srgbClr val="FF0000"/>
                </a:solidFill>
              </a:rPr>
              <a:t>css</a:t>
            </a:r>
            <a:endParaRPr lang="en-US" sz="4000" b="1" dirty="0">
              <a:solidFill>
                <a:srgbClr val="FF0000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Фон для таблицы, строчки и ячейки можно записать как</a:t>
            </a:r>
          </a:p>
          <a:p>
            <a:r>
              <a:rPr lang="ru-RU" sz="2000" dirty="0">
                <a:solidFill>
                  <a:schemeClr val="bg1"/>
                </a:solidFill>
              </a:rPr>
              <a:t>При этом если записать все 3 правила, сработает фон именно для ячейки, при этом появится рамка которая возьмет цвет фона из </a:t>
            </a:r>
            <a:r>
              <a:rPr lang="en-US" sz="2000" dirty="0">
                <a:solidFill>
                  <a:schemeClr val="bg1"/>
                </a:solidFill>
              </a:rPr>
              <a:t>table </a:t>
            </a:r>
            <a:r>
              <a:rPr lang="ru-RU" sz="2000" dirty="0">
                <a:solidFill>
                  <a:schemeClr val="bg1"/>
                </a:solidFill>
              </a:rPr>
              <a:t>и даже если тегу </a:t>
            </a:r>
            <a:r>
              <a:rPr lang="en-US" sz="2000" dirty="0">
                <a:solidFill>
                  <a:schemeClr val="bg1"/>
                </a:solidFill>
              </a:rPr>
              <a:t>table </a:t>
            </a:r>
            <a:r>
              <a:rPr lang="ru-RU" sz="2000" dirty="0">
                <a:solidFill>
                  <a:schemeClr val="bg1"/>
                </a:solidFill>
              </a:rPr>
              <a:t>прописать</a:t>
            </a:r>
            <a:r>
              <a:rPr lang="en-US" sz="2000" dirty="0">
                <a:solidFill>
                  <a:schemeClr val="bg1"/>
                </a:solidFill>
              </a:rPr>
              <a:t> border</a:t>
            </a:r>
            <a:endParaRPr lang="ru-RU" sz="2000" dirty="0">
              <a:solidFill>
                <a:schemeClr val="bg1"/>
              </a:solidFill>
            </a:endParaRP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table{</a:t>
            </a:r>
            <a:r>
              <a:rPr lang="en-US" sz="2000" dirty="0" err="1">
                <a:solidFill>
                  <a:schemeClr val="bg1"/>
                </a:solidFill>
              </a:rPr>
              <a:t>background-color:red</a:t>
            </a:r>
            <a:r>
              <a:rPr lang="en-US" sz="2000" dirty="0">
                <a:solidFill>
                  <a:schemeClr val="bg1"/>
                </a:solidFill>
              </a:rPr>
              <a:t>;}</a:t>
            </a:r>
          </a:p>
          <a:p>
            <a:r>
              <a:rPr lang="en-US" sz="2000" dirty="0">
                <a:solidFill>
                  <a:schemeClr val="bg1"/>
                </a:solidFill>
              </a:rPr>
              <a:t>tr {</a:t>
            </a:r>
            <a:r>
              <a:rPr lang="en-US" sz="2000" dirty="0" err="1">
                <a:solidFill>
                  <a:schemeClr val="bg1"/>
                </a:solidFill>
              </a:rPr>
              <a:t>background-color:black</a:t>
            </a:r>
            <a:r>
              <a:rPr lang="en-US" sz="2000" dirty="0">
                <a:solidFill>
                  <a:schemeClr val="bg1"/>
                </a:solidFill>
              </a:rPr>
              <a:t>;}</a:t>
            </a:r>
          </a:p>
          <a:p>
            <a:r>
              <a:rPr lang="en-US" sz="2000" dirty="0">
                <a:solidFill>
                  <a:schemeClr val="bg1"/>
                </a:solidFill>
              </a:rPr>
              <a:t>td {</a:t>
            </a:r>
            <a:r>
              <a:rPr lang="en-US" sz="2000" dirty="0" err="1">
                <a:solidFill>
                  <a:schemeClr val="bg1"/>
                </a:solidFill>
              </a:rPr>
              <a:t>background-color:green</a:t>
            </a:r>
            <a:r>
              <a:rPr lang="en-US" sz="2000" dirty="0">
                <a:solidFill>
                  <a:schemeClr val="bg1"/>
                </a:solidFill>
              </a:rPr>
              <a:t>;}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Что бы убрать двойную рамку нужно прописать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ru-RU" sz="2000" dirty="0">
                <a:solidFill>
                  <a:schemeClr val="bg1"/>
                </a:solidFill>
              </a:rPr>
              <a:t>для </a:t>
            </a:r>
            <a:r>
              <a:rPr lang="en-US" sz="2000" dirty="0">
                <a:solidFill>
                  <a:schemeClr val="bg1"/>
                </a:solidFill>
              </a:rPr>
              <a:t>table </a:t>
            </a:r>
            <a:r>
              <a:rPr lang="ru-RU" sz="2000" dirty="0">
                <a:solidFill>
                  <a:schemeClr val="bg1"/>
                </a:solidFill>
              </a:rPr>
              <a:t>правило </a:t>
            </a:r>
            <a:r>
              <a:rPr lang="en-US" sz="2000" dirty="0">
                <a:solidFill>
                  <a:schemeClr val="bg1"/>
                </a:solidFill>
              </a:rPr>
              <a:t>border-collapse: collapse;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88640"/>
            <a:ext cx="8640960" cy="507831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3200" b="1" dirty="0">
                <a:solidFill>
                  <a:schemeClr val="accent1">
                    <a:lumMod val="75000"/>
                  </a:schemeClr>
                </a:solidFill>
              </a:rPr>
              <a:t>Использование изображений в качестве фона таблицы</a:t>
            </a:r>
            <a:endParaRPr lang="en-US" sz="4000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table{</a:t>
            </a:r>
            <a:endParaRPr lang="ru-RU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background: </a:t>
            </a:r>
            <a:r>
              <a:rPr lang="en-US" sz="2000" dirty="0" err="1">
                <a:solidFill>
                  <a:schemeClr val="bg1"/>
                </a:solidFill>
              </a:rPr>
              <a:t>url</a:t>
            </a:r>
            <a:r>
              <a:rPr lang="en-US" sz="2000" dirty="0">
                <a:solidFill>
                  <a:schemeClr val="bg1"/>
                </a:solidFill>
              </a:rPr>
              <a:t>(https://etikket.ru/images/povsednevnii-etiket/etiket-na-ulitse1.jpg);</a:t>
            </a:r>
          </a:p>
          <a:p>
            <a:r>
              <a:rPr lang="en-US" sz="2000" dirty="0">
                <a:solidFill>
                  <a:schemeClr val="bg1"/>
                </a:solidFill>
              </a:rPr>
              <a:t>background-size: 100%;</a:t>
            </a:r>
          </a:p>
          <a:p>
            <a:r>
              <a:rPr lang="en-US" sz="2000" dirty="0">
                <a:solidFill>
                  <a:schemeClr val="bg1"/>
                </a:solidFill>
              </a:rPr>
              <a:t>background-attachment: fixed;}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Также фон можно установить для строк и ячейки отдельно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 (td){</a:t>
            </a:r>
            <a:endParaRPr lang="ru-RU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background: </a:t>
            </a:r>
            <a:r>
              <a:rPr lang="en-US" sz="2000" dirty="0" err="1">
                <a:solidFill>
                  <a:schemeClr val="bg1"/>
                </a:solidFill>
              </a:rPr>
              <a:t>url</a:t>
            </a:r>
            <a:r>
              <a:rPr lang="en-US" sz="2000" dirty="0">
                <a:solidFill>
                  <a:schemeClr val="bg1"/>
                </a:solidFill>
              </a:rPr>
              <a:t>(https://etikket.ru/images/povsednevnii-etiket/etiket-na-ulitse1.jpg);</a:t>
            </a:r>
          </a:p>
          <a:p>
            <a:r>
              <a:rPr lang="en-US" sz="2000" dirty="0">
                <a:solidFill>
                  <a:schemeClr val="bg1"/>
                </a:solidFill>
              </a:rPr>
              <a:t>background-size: 100%;</a:t>
            </a:r>
          </a:p>
          <a:p>
            <a:r>
              <a:rPr lang="en-US" sz="2000" dirty="0">
                <a:solidFill>
                  <a:schemeClr val="bg1"/>
                </a:solidFill>
              </a:rPr>
              <a:t>background-attachment: fixed;}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88640"/>
            <a:ext cx="8640960" cy="477053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3200" b="1" dirty="0">
                <a:solidFill>
                  <a:schemeClr val="accent1">
                    <a:lumMod val="75000"/>
                  </a:schemeClr>
                </a:solidFill>
              </a:rPr>
              <a:t>Фон для каждой 2 строчки или 4 строчки или ячейки</a:t>
            </a:r>
            <a:endParaRPr lang="en-US" sz="4000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 err="1">
                <a:solidFill>
                  <a:schemeClr val="bg1"/>
                </a:solidFill>
              </a:rPr>
              <a:t>tr:nth</a:t>
            </a:r>
            <a:r>
              <a:rPr lang="en-US" sz="2000" dirty="0">
                <a:solidFill>
                  <a:schemeClr val="bg1"/>
                </a:solidFill>
              </a:rPr>
              <a:t>-child(2n)</a:t>
            </a:r>
          </a:p>
          <a:p>
            <a:r>
              <a:rPr lang="en-US" sz="2000" dirty="0">
                <a:solidFill>
                  <a:schemeClr val="bg1"/>
                </a:solidFill>
              </a:rPr>
              <a:t>{background-</a:t>
            </a:r>
            <a:r>
              <a:rPr lang="en-US" sz="2000" dirty="0" err="1">
                <a:solidFill>
                  <a:schemeClr val="bg1"/>
                </a:solidFill>
              </a:rPr>
              <a:t>color:green</a:t>
            </a:r>
            <a:r>
              <a:rPr lang="en-US" sz="2000" dirty="0">
                <a:solidFill>
                  <a:schemeClr val="bg1"/>
                </a:solidFill>
              </a:rPr>
              <a:t>;}</a:t>
            </a:r>
            <a:endParaRPr lang="ru-RU" sz="2000" dirty="0">
              <a:solidFill>
                <a:schemeClr val="bg1"/>
              </a:solidFill>
            </a:endParaRP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en-US" sz="2000" dirty="0" err="1">
                <a:solidFill>
                  <a:schemeClr val="bg1"/>
                </a:solidFill>
              </a:rPr>
              <a:t>tr:nth</a:t>
            </a:r>
            <a:r>
              <a:rPr lang="en-US" sz="2000" dirty="0">
                <a:solidFill>
                  <a:schemeClr val="bg1"/>
                </a:solidFill>
              </a:rPr>
              <a:t>-child(2n):hover</a:t>
            </a:r>
          </a:p>
          <a:p>
            <a:r>
              <a:rPr lang="en-US" sz="2000" dirty="0">
                <a:solidFill>
                  <a:schemeClr val="bg1"/>
                </a:solidFill>
              </a:rPr>
              <a:t>{background-</a:t>
            </a:r>
            <a:r>
              <a:rPr lang="en-US" sz="2000" dirty="0" err="1">
                <a:solidFill>
                  <a:schemeClr val="bg1"/>
                </a:solidFill>
              </a:rPr>
              <a:t>color:black</a:t>
            </a:r>
            <a:r>
              <a:rPr lang="en-US" sz="2000" dirty="0">
                <a:solidFill>
                  <a:schemeClr val="bg1"/>
                </a:solidFill>
              </a:rPr>
              <a:t>;}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 err="1">
                <a:solidFill>
                  <a:schemeClr val="bg1"/>
                </a:solidFill>
              </a:rPr>
              <a:t>td:nth</a:t>
            </a:r>
            <a:r>
              <a:rPr lang="en-US" sz="2000" dirty="0">
                <a:solidFill>
                  <a:schemeClr val="bg1"/>
                </a:solidFill>
              </a:rPr>
              <a:t>-child(2n)</a:t>
            </a:r>
          </a:p>
          <a:p>
            <a:r>
              <a:rPr lang="en-US" sz="2000" dirty="0">
                <a:solidFill>
                  <a:schemeClr val="bg1"/>
                </a:solidFill>
              </a:rPr>
              <a:t>{background-</a:t>
            </a:r>
            <a:r>
              <a:rPr lang="en-US" sz="2000" dirty="0" err="1">
                <a:solidFill>
                  <a:schemeClr val="bg1"/>
                </a:solidFill>
              </a:rPr>
              <a:t>color:red</a:t>
            </a:r>
            <a:r>
              <a:rPr lang="en-US" sz="2000" dirty="0">
                <a:solidFill>
                  <a:schemeClr val="bg1"/>
                </a:solidFill>
              </a:rPr>
              <a:t>;}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 err="1">
                <a:solidFill>
                  <a:schemeClr val="bg1"/>
                </a:solidFill>
              </a:rPr>
              <a:t>td:nth</a:t>
            </a:r>
            <a:r>
              <a:rPr lang="en-US" sz="2000" dirty="0">
                <a:solidFill>
                  <a:schemeClr val="bg1"/>
                </a:solidFill>
              </a:rPr>
              <a:t>-child(2n):hover</a:t>
            </a:r>
          </a:p>
          <a:p>
            <a:r>
              <a:rPr lang="en-US" sz="2000" dirty="0">
                <a:solidFill>
                  <a:schemeClr val="bg1"/>
                </a:solidFill>
              </a:rPr>
              <a:t>{background-</a:t>
            </a:r>
            <a:r>
              <a:rPr lang="en-US" sz="2000" dirty="0" err="1">
                <a:solidFill>
                  <a:schemeClr val="bg1"/>
                </a:solidFill>
              </a:rPr>
              <a:t>color:white</a:t>
            </a:r>
            <a:r>
              <a:rPr lang="en-US" sz="2000" dirty="0">
                <a:solidFill>
                  <a:schemeClr val="bg1"/>
                </a:solidFill>
              </a:rPr>
              <a:t>;}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2</a:t>
            </a:r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.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 Объединение ячеек: атрибуты </a:t>
            </a:r>
            <a:r>
              <a:rPr lang="ru-RU" sz="4000" b="1" u="sng" dirty="0" err="1">
                <a:ln w="50800"/>
                <a:solidFill>
                  <a:schemeClr val="bg1">
                    <a:shade val="50000"/>
                  </a:schemeClr>
                </a:solidFill>
              </a:rPr>
              <a:t>colspan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, </a:t>
            </a:r>
            <a:r>
              <a:rPr lang="ru-RU" sz="4000" b="1" u="sng" dirty="0" err="1">
                <a:ln w="50800"/>
                <a:solidFill>
                  <a:schemeClr val="bg1">
                    <a:shade val="50000"/>
                  </a:schemeClr>
                </a:solidFill>
              </a:rPr>
              <a:t>rowspan</a:t>
            </a:r>
            <a:endParaRPr lang="ru-RU" sz="40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88640"/>
            <a:ext cx="8640960" cy="409342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Атрибуты </a:t>
            </a:r>
            <a:r>
              <a:rPr lang="ru-RU" sz="2000" dirty="0" err="1">
                <a:solidFill>
                  <a:schemeClr val="bg1"/>
                </a:solidFill>
              </a:rPr>
              <a:t>colspan</a:t>
            </a:r>
            <a:r>
              <a:rPr lang="ru-RU" sz="2000" dirty="0">
                <a:solidFill>
                  <a:schemeClr val="bg1"/>
                </a:solidFill>
              </a:rPr>
              <a:t> и </a:t>
            </a:r>
            <a:r>
              <a:rPr lang="ru-RU" sz="2000" dirty="0" err="1">
                <a:solidFill>
                  <a:schemeClr val="bg1"/>
                </a:solidFill>
              </a:rPr>
              <a:t>rowspan</a:t>
            </a:r>
            <a:r>
              <a:rPr lang="ru-RU" sz="2000" dirty="0">
                <a:solidFill>
                  <a:schemeClr val="bg1"/>
                </a:solidFill>
              </a:rPr>
              <a:t> объединяют ячейки таблицы.</a:t>
            </a: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Атрибут  </a:t>
            </a:r>
            <a:r>
              <a:rPr lang="ru-RU" sz="2000" dirty="0" err="1">
                <a:solidFill>
                  <a:schemeClr val="bg1"/>
                </a:solidFill>
              </a:rPr>
              <a:t>rowspan</a:t>
            </a:r>
            <a:r>
              <a:rPr lang="ru-RU" sz="2000" dirty="0">
                <a:solidFill>
                  <a:schemeClr val="bg1"/>
                </a:solidFill>
              </a:rPr>
              <a:t> задает количество ячеек, объединенных по вертикали.</a:t>
            </a: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 </a:t>
            </a:r>
            <a:endParaRPr lang="ru-RU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&lt;td </a:t>
            </a:r>
            <a:r>
              <a:rPr lang="en-US" sz="2000" dirty="0" err="1">
                <a:solidFill>
                  <a:schemeClr val="bg1"/>
                </a:solidFill>
              </a:rPr>
              <a:t>rowspan</a:t>
            </a:r>
            <a:r>
              <a:rPr lang="en-US" sz="2000" dirty="0">
                <a:solidFill>
                  <a:schemeClr val="bg1"/>
                </a:solidFill>
              </a:rPr>
              <a:t>="2"&gt;</a:t>
            </a:r>
            <a:r>
              <a:rPr lang="ru-RU" sz="2000" dirty="0">
                <a:solidFill>
                  <a:schemeClr val="bg1"/>
                </a:solidFill>
              </a:rPr>
              <a:t>Ячейка 1&lt;/</a:t>
            </a:r>
            <a:r>
              <a:rPr lang="en-US" sz="2000" dirty="0">
                <a:solidFill>
                  <a:schemeClr val="bg1"/>
                </a:solidFill>
              </a:rPr>
              <a:t>td&gt; </a:t>
            </a:r>
            <a:endParaRPr lang="ru-RU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&lt;td&gt;</a:t>
            </a:r>
            <a:r>
              <a:rPr lang="ru-RU" sz="2000" dirty="0">
                <a:solidFill>
                  <a:schemeClr val="bg1"/>
                </a:solidFill>
              </a:rPr>
              <a:t>Ячейка 2&lt;/</a:t>
            </a:r>
            <a:r>
              <a:rPr lang="en-US" sz="2000" dirty="0">
                <a:solidFill>
                  <a:schemeClr val="bg1"/>
                </a:solidFill>
              </a:rPr>
              <a:t>td&gt; </a:t>
            </a:r>
            <a:endParaRPr lang="ru-RU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&lt;/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 </a:t>
            </a:r>
            <a:endParaRPr lang="ru-RU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 </a:t>
            </a:r>
            <a:endParaRPr lang="ru-RU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&lt;td&gt;</a:t>
            </a:r>
            <a:r>
              <a:rPr lang="ru-RU" sz="2000" dirty="0">
                <a:solidFill>
                  <a:schemeClr val="bg1"/>
                </a:solidFill>
              </a:rPr>
              <a:t>Ячейка 3&lt;/</a:t>
            </a:r>
            <a:r>
              <a:rPr lang="en-US" sz="2000" dirty="0">
                <a:solidFill>
                  <a:schemeClr val="bg1"/>
                </a:solidFill>
              </a:rPr>
              <a:t>td&gt;</a:t>
            </a:r>
            <a:endParaRPr lang="ru-RU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 &lt;/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835696" y="4725144"/>
          <a:ext cx="6096000" cy="74168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Ячейка 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Ячейка 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Ячейка 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88640"/>
            <a:ext cx="8640960" cy="501675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Атрибуты </a:t>
            </a:r>
            <a:r>
              <a:rPr lang="ru-RU" sz="2000" dirty="0" err="1">
                <a:solidFill>
                  <a:schemeClr val="bg1"/>
                </a:solidFill>
              </a:rPr>
              <a:t>colspan</a:t>
            </a:r>
            <a:r>
              <a:rPr lang="ru-RU" sz="2000" dirty="0">
                <a:solidFill>
                  <a:schemeClr val="bg1"/>
                </a:solidFill>
              </a:rPr>
              <a:t> и </a:t>
            </a:r>
            <a:r>
              <a:rPr lang="ru-RU" sz="2000" dirty="0" err="1">
                <a:solidFill>
                  <a:schemeClr val="bg1"/>
                </a:solidFill>
              </a:rPr>
              <a:t>rowspan</a:t>
            </a:r>
            <a:r>
              <a:rPr lang="ru-RU" sz="2000" dirty="0">
                <a:solidFill>
                  <a:schemeClr val="bg1"/>
                </a:solidFill>
              </a:rPr>
              <a:t> объединяют ячейки таблицы.</a:t>
            </a: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Атрибут </a:t>
            </a:r>
            <a:r>
              <a:rPr lang="ru-RU" sz="2000" dirty="0" err="1">
                <a:solidFill>
                  <a:schemeClr val="bg1"/>
                </a:solidFill>
              </a:rPr>
              <a:t>colspan</a:t>
            </a:r>
            <a:r>
              <a:rPr lang="ru-RU" sz="2000" dirty="0">
                <a:solidFill>
                  <a:schemeClr val="bg1"/>
                </a:solidFill>
              </a:rPr>
              <a:t> задает количество ячеек, объединенных по горизонтали.</a:t>
            </a: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 </a:t>
            </a:r>
            <a:endParaRPr lang="ru-RU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&lt;td </a:t>
            </a:r>
            <a:r>
              <a:rPr lang="ru-RU" sz="2000" dirty="0" err="1">
                <a:solidFill>
                  <a:schemeClr val="bg1"/>
                </a:solidFill>
              </a:rPr>
              <a:t>colspan</a:t>
            </a:r>
            <a:r>
              <a:rPr lang="en-US" sz="2000" dirty="0">
                <a:solidFill>
                  <a:schemeClr val="bg1"/>
                </a:solidFill>
              </a:rPr>
              <a:t>=“4"&gt;</a:t>
            </a:r>
            <a:r>
              <a:rPr lang="ru-RU" sz="2000" dirty="0">
                <a:solidFill>
                  <a:schemeClr val="bg1"/>
                </a:solidFill>
              </a:rPr>
              <a:t>Ячейка 1&lt;/</a:t>
            </a:r>
            <a:r>
              <a:rPr lang="en-US" sz="2000" dirty="0">
                <a:solidFill>
                  <a:schemeClr val="bg1"/>
                </a:solidFill>
              </a:rPr>
              <a:t>td&gt; </a:t>
            </a:r>
            <a:endParaRPr lang="ru-RU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&lt;/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 </a:t>
            </a:r>
            <a:endParaRPr lang="ru-RU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 </a:t>
            </a:r>
            <a:endParaRPr lang="ru-RU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&lt;td&gt;</a:t>
            </a:r>
            <a:r>
              <a:rPr lang="ru-RU" sz="2000" dirty="0">
                <a:solidFill>
                  <a:schemeClr val="bg1"/>
                </a:solidFill>
              </a:rPr>
              <a:t>Ячейка 2&lt;/</a:t>
            </a:r>
            <a:r>
              <a:rPr lang="en-US" sz="2000" dirty="0">
                <a:solidFill>
                  <a:schemeClr val="bg1"/>
                </a:solidFill>
              </a:rPr>
              <a:t>td&gt; </a:t>
            </a:r>
            <a:endParaRPr lang="ru-RU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&lt;td&gt;</a:t>
            </a:r>
            <a:r>
              <a:rPr lang="ru-RU" sz="2000" dirty="0">
                <a:solidFill>
                  <a:schemeClr val="bg1"/>
                </a:solidFill>
              </a:rPr>
              <a:t>Ячейка 3&lt;/</a:t>
            </a:r>
            <a:r>
              <a:rPr lang="en-US" sz="2000" dirty="0">
                <a:solidFill>
                  <a:schemeClr val="bg1"/>
                </a:solidFill>
              </a:rPr>
              <a:t>td&gt;</a:t>
            </a:r>
            <a:endParaRPr lang="ru-RU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&lt;td&gt;</a:t>
            </a:r>
            <a:r>
              <a:rPr lang="ru-RU" sz="2000" dirty="0">
                <a:solidFill>
                  <a:schemeClr val="bg1"/>
                </a:solidFill>
              </a:rPr>
              <a:t>Ячейка 4&lt;/</a:t>
            </a:r>
            <a:r>
              <a:rPr lang="en-US" sz="2000" dirty="0">
                <a:solidFill>
                  <a:schemeClr val="bg1"/>
                </a:solidFill>
              </a:rPr>
              <a:t>td&gt;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&lt;td&gt;</a:t>
            </a:r>
            <a:r>
              <a:rPr lang="ru-RU" sz="2000" dirty="0">
                <a:solidFill>
                  <a:schemeClr val="bg1"/>
                </a:solidFill>
              </a:rPr>
              <a:t>Ячейка 4&lt;/</a:t>
            </a:r>
            <a:r>
              <a:rPr lang="en-US" sz="2000" dirty="0">
                <a:solidFill>
                  <a:schemeClr val="bg1"/>
                </a:solidFill>
              </a:rPr>
              <a:t>td&gt;</a:t>
            </a:r>
            <a:endParaRPr lang="ru-RU" sz="2000" dirty="0">
              <a:solidFill>
                <a:schemeClr val="bg1"/>
              </a:solidFill>
            </a:endParaRP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 &lt;/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835696" y="4725144"/>
          <a:ext cx="6096000" cy="74168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Ячейка 1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Ячейка 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Ячейка 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Ячейка 4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3</a:t>
            </a:r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.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 Теги логического структурирования таблиц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88640"/>
            <a:ext cx="8640960" cy="56323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&lt;</a:t>
            </a:r>
            <a:r>
              <a:rPr lang="ru-RU" sz="2000" b="1" dirty="0" err="1">
                <a:solidFill>
                  <a:schemeClr val="bg1"/>
                </a:solidFill>
              </a:rPr>
              <a:t>caption</a:t>
            </a:r>
            <a:r>
              <a:rPr lang="ru-RU" sz="2000" b="1" dirty="0">
                <a:solidFill>
                  <a:schemeClr val="bg1"/>
                </a:solidFill>
              </a:rPr>
              <a:t>&gt;Заголовок таблицы&lt;/</a:t>
            </a:r>
            <a:r>
              <a:rPr lang="ru-RU" sz="2000" b="1" dirty="0" err="1">
                <a:solidFill>
                  <a:schemeClr val="bg1"/>
                </a:solidFill>
              </a:rPr>
              <a:t>caption</a:t>
            </a:r>
            <a:r>
              <a:rPr lang="ru-RU" sz="2000" b="1" dirty="0">
                <a:solidFill>
                  <a:schemeClr val="bg1"/>
                </a:solidFill>
              </a:rPr>
              <a:t>&gt;</a:t>
            </a:r>
            <a:endParaRPr lang="en-US" sz="2000" b="1" dirty="0">
              <a:solidFill>
                <a:schemeClr val="bg1"/>
              </a:solidFill>
            </a:endParaRP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b="1" dirty="0">
                <a:solidFill>
                  <a:schemeClr val="bg1"/>
                </a:solidFill>
              </a:rPr>
              <a:t>Первая строка таблицы </a:t>
            </a:r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thead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 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th</a:t>
            </a:r>
            <a:r>
              <a:rPr lang="en-US" sz="2000" dirty="0">
                <a:solidFill>
                  <a:schemeClr val="bg1"/>
                </a:solidFill>
              </a:rPr>
              <a:t>&gt; </a:t>
            </a:r>
            <a:r>
              <a:rPr lang="ru-RU" sz="2000" dirty="0">
                <a:solidFill>
                  <a:schemeClr val="bg1"/>
                </a:solidFill>
              </a:rPr>
              <a:t>или </a:t>
            </a:r>
            <a:r>
              <a:rPr lang="en-US" sz="2000" dirty="0">
                <a:solidFill>
                  <a:schemeClr val="bg1"/>
                </a:solidFill>
              </a:rPr>
              <a:t>&lt;td&gt;</a:t>
            </a:r>
            <a:r>
              <a:rPr lang="ru-RU" sz="2000" dirty="0">
                <a:solidFill>
                  <a:schemeClr val="bg1"/>
                </a:solidFill>
              </a:rPr>
              <a:t>Текст&lt;/</a:t>
            </a:r>
            <a:r>
              <a:rPr lang="en-US" sz="2000" dirty="0" err="1">
                <a:solidFill>
                  <a:schemeClr val="bg1"/>
                </a:solidFill>
              </a:rPr>
              <a:t>th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  <a:r>
              <a:rPr lang="ru-RU" sz="2000" dirty="0">
                <a:solidFill>
                  <a:schemeClr val="bg1"/>
                </a:solidFill>
              </a:rPr>
              <a:t>или</a:t>
            </a:r>
            <a:r>
              <a:rPr lang="en-US" sz="2000" dirty="0">
                <a:solidFill>
                  <a:schemeClr val="bg1"/>
                </a:solidFill>
              </a:rPr>
              <a:t>&lt;/td&gt;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&lt;/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 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&lt;/</a:t>
            </a:r>
            <a:r>
              <a:rPr lang="en-US" sz="2000" dirty="0" err="1">
                <a:solidFill>
                  <a:schemeClr val="bg1"/>
                </a:solidFill>
              </a:rPr>
              <a:t>thead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  <a:endParaRPr lang="ru-RU" sz="2000" dirty="0">
              <a:solidFill>
                <a:schemeClr val="bg1"/>
              </a:solidFill>
            </a:endParaRP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b="1" dirty="0">
                <a:solidFill>
                  <a:schemeClr val="bg1"/>
                </a:solidFill>
              </a:rPr>
              <a:t>Последняя строка таблицы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tfoot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&lt;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&lt;td&gt;</a:t>
            </a:r>
            <a:r>
              <a:rPr lang="ru-RU" sz="2000" dirty="0">
                <a:solidFill>
                  <a:schemeClr val="bg1"/>
                </a:solidFill>
              </a:rPr>
              <a:t>Текст&lt;/</a:t>
            </a:r>
            <a:r>
              <a:rPr lang="en-US" sz="2000" dirty="0">
                <a:solidFill>
                  <a:schemeClr val="bg1"/>
                </a:solidFill>
              </a:rPr>
              <a:t>td&gt;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&lt;/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&lt;/</a:t>
            </a:r>
            <a:r>
              <a:rPr lang="en-US" sz="2000" dirty="0" err="1">
                <a:solidFill>
                  <a:schemeClr val="bg1"/>
                </a:solidFill>
              </a:rPr>
              <a:t>tfoot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&lt;</a:t>
            </a:r>
            <a:r>
              <a:rPr lang="ru-RU" sz="2000" dirty="0" err="1">
                <a:solidFill>
                  <a:schemeClr val="bg1"/>
                </a:solidFill>
              </a:rPr>
              <a:t>caption</a:t>
            </a:r>
            <a:r>
              <a:rPr lang="ru-RU" sz="2000" dirty="0">
                <a:solidFill>
                  <a:schemeClr val="bg1"/>
                </a:solidFill>
              </a:rPr>
              <a:t>&gt;</a:t>
            </a:r>
            <a:r>
              <a:rPr lang="en-US" sz="2000" dirty="0">
                <a:solidFill>
                  <a:schemeClr val="bg1"/>
                </a:solidFill>
              </a:rPr>
              <a:t>, &lt;</a:t>
            </a:r>
            <a:r>
              <a:rPr lang="en-US" sz="2000" dirty="0" err="1">
                <a:solidFill>
                  <a:schemeClr val="bg1"/>
                </a:solidFill>
              </a:rPr>
              <a:t>thead</a:t>
            </a:r>
            <a:r>
              <a:rPr lang="en-US" sz="2000" dirty="0">
                <a:solidFill>
                  <a:schemeClr val="bg1"/>
                </a:solidFill>
              </a:rPr>
              <a:t>&gt;, &lt;</a:t>
            </a:r>
            <a:r>
              <a:rPr lang="en-US" sz="2000" dirty="0" err="1">
                <a:solidFill>
                  <a:schemeClr val="bg1"/>
                </a:solidFill>
              </a:rPr>
              <a:t>tfoot</a:t>
            </a:r>
            <a:r>
              <a:rPr lang="en-US" sz="2000" dirty="0">
                <a:solidFill>
                  <a:schemeClr val="bg1"/>
                </a:solidFill>
              </a:rPr>
              <a:t>&gt; </a:t>
            </a:r>
            <a:r>
              <a:rPr lang="ru-RU" sz="2000" dirty="0">
                <a:solidFill>
                  <a:schemeClr val="bg1"/>
                </a:solidFill>
              </a:rPr>
              <a:t>записывается или перед тегом </a:t>
            </a:r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tbody</a:t>
            </a:r>
            <a:r>
              <a:rPr lang="en-US" sz="2000" dirty="0">
                <a:solidFill>
                  <a:schemeClr val="bg1"/>
                </a:solidFill>
              </a:rPr>
              <a:t>&gt; </a:t>
            </a:r>
            <a:r>
              <a:rPr lang="ru-RU" sz="2000" dirty="0">
                <a:solidFill>
                  <a:schemeClr val="bg1"/>
                </a:solidFill>
              </a:rPr>
              <a:t>или после его закрытия </a:t>
            </a:r>
            <a:r>
              <a:rPr lang="en-US" sz="2000" dirty="0">
                <a:solidFill>
                  <a:schemeClr val="bg1"/>
                </a:solidFill>
              </a:rPr>
              <a:t>&lt;/</a:t>
            </a:r>
            <a:r>
              <a:rPr lang="en-US" sz="2000" dirty="0" err="1">
                <a:solidFill>
                  <a:schemeClr val="bg1"/>
                </a:solidFill>
              </a:rPr>
              <a:t>tbody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16632"/>
            <a:ext cx="8640960" cy="65556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&lt;table&gt; &lt;caption&gt;</a:t>
            </a:r>
            <a:r>
              <a:rPr lang="ru-RU" sz="2000" dirty="0">
                <a:solidFill>
                  <a:schemeClr val="bg1"/>
                </a:solidFill>
              </a:rPr>
              <a:t>Наименование продукции&lt;/</a:t>
            </a:r>
            <a:r>
              <a:rPr lang="en-US" sz="2000" dirty="0">
                <a:solidFill>
                  <a:schemeClr val="bg1"/>
                </a:solidFill>
              </a:rPr>
              <a:t>caption&gt;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thead</a:t>
            </a:r>
            <a:r>
              <a:rPr lang="en-US" sz="2000" dirty="0">
                <a:solidFill>
                  <a:schemeClr val="bg1"/>
                </a:solidFill>
              </a:rPr>
              <a:t>&gt;&lt;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th</a:t>
            </a:r>
            <a:r>
              <a:rPr lang="en-US" sz="2000" dirty="0">
                <a:solidFill>
                  <a:schemeClr val="bg1"/>
                </a:solidFill>
              </a:rPr>
              <a:t> width="100px"&gt;#&lt;/</a:t>
            </a:r>
            <a:r>
              <a:rPr lang="en-US" sz="2000" dirty="0" err="1">
                <a:solidFill>
                  <a:schemeClr val="bg1"/>
                </a:solidFill>
              </a:rPr>
              <a:t>th</a:t>
            </a:r>
            <a:r>
              <a:rPr lang="en-US" sz="2000" dirty="0">
                <a:solidFill>
                  <a:schemeClr val="bg1"/>
                </a:solidFill>
              </a:rPr>
              <a:t>&gt;&lt;</a:t>
            </a:r>
            <a:r>
              <a:rPr lang="en-US" sz="2000" dirty="0" err="1">
                <a:solidFill>
                  <a:schemeClr val="bg1"/>
                </a:solidFill>
              </a:rPr>
              <a:t>th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  <a:r>
              <a:rPr lang="ru-RU" sz="2000" dirty="0">
                <a:solidFill>
                  <a:schemeClr val="bg1"/>
                </a:solidFill>
              </a:rPr>
              <a:t>наименование&lt;/</a:t>
            </a:r>
            <a:r>
              <a:rPr lang="en-US" sz="2000" dirty="0" err="1">
                <a:solidFill>
                  <a:schemeClr val="bg1"/>
                </a:solidFill>
              </a:rPr>
              <a:t>th</a:t>
            </a:r>
            <a:r>
              <a:rPr lang="en-US" sz="2000" dirty="0">
                <a:solidFill>
                  <a:schemeClr val="bg1"/>
                </a:solidFill>
              </a:rPr>
              <a:t>&gt;&lt;</a:t>
            </a:r>
            <a:r>
              <a:rPr lang="en-US" sz="2000" dirty="0" err="1">
                <a:solidFill>
                  <a:schemeClr val="bg1"/>
                </a:solidFill>
              </a:rPr>
              <a:t>th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  <a:r>
              <a:rPr lang="ru-RU" sz="2000" dirty="0">
                <a:solidFill>
                  <a:schemeClr val="bg1"/>
                </a:solidFill>
              </a:rPr>
              <a:t>кол-во штук&lt;/</a:t>
            </a:r>
            <a:r>
              <a:rPr lang="en-US" sz="2000" dirty="0" err="1">
                <a:solidFill>
                  <a:schemeClr val="bg1"/>
                </a:solidFill>
              </a:rPr>
              <a:t>th</a:t>
            </a:r>
            <a:r>
              <a:rPr lang="en-US" sz="2000" dirty="0">
                <a:solidFill>
                  <a:schemeClr val="bg1"/>
                </a:solidFill>
              </a:rPr>
              <a:t>&gt;&lt;</a:t>
            </a:r>
            <a:r>
              <a:rPr lang="en-US" sz="2000" dirty="0" err="1">
                <a:solidFill>
                  <a:schemeClr val="bg1"/>
                </a:solidFill>
              </a:rPr>
              <a:t>th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  <a:r>
              <a:rPr lang="ru-RU" sz="2000" dirty="0">
                <a:solidFill>
                  <a:schemeClr val="bg1"/>
                </a:solidFill>
              </a:rPr>
              <a:t>цена за штуку&lt;/</a:t>
            </a:r>
            <a:r>
              <a:rPr lang="en-US" sz="2000" dirty="0" err="1">
                <a:solidFill>
                  <a:schemeClr val="bg1"/>
                </a:solidFill>
              </a:rPr>
              <a:t>th</a:t>
            </a:r>
            <a:r>
              <a:rPr lang="en-US" sz="2000" dirty="0">
                <a:solidFill>
                  <a:schemeClr val="bg1"/>
                </a:solidFill>
              </a:rPr>
              <a:t>&gt;&lt;</a:t>
            </a:r>
            <a:r>
              <a:rPr lang="en-US" sz="2000" dirty="0" err="1">
                <a:solidFill>
                  <a:schemeClr val="bg1"/>
                </a:solidFill>
              </a:rPr>
              <a:t>th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  <a:r>
              <a:rPr lang="ru-RU" sz="2000" dirty="0">
                <a:solidFill>
                  <a:schemeClr val="bg1"/>
                </a:solidFill>
              </a:rPr>
              <a:t>сумма&lt;/</a:t>
            </a:r>
            <a:r>
              <a:rPr lang="en-US" sz="2000" dirty="0" err="1">
                <a:solidFill>
                  <a:schemeClr val="bg1"/>
                </a:solidFill>
              </a:rPr>
              <a:t>th</a:t>
            </a:r>
            <a:r>
              <a:rPr lang="en-US" sz="2000" dirty="0">
                <a:solidFill>
                  <a:schemeClr val="bg1"/>
                </a:solidFill>
              </a:rPr>
              <a:t>&gt;&lt;/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&gt;&lt;/</a:t>
            </a:r>
            <a:r>
              <a:rPr lang="en-US" sz="2000" dirty="0" err="1">
                <a:solidFill>
                  <a:schemeClr val="bg1"/>
                </a:solidFill>
              </a:rPr>
              <a:t>thead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tfoot</a:t>
            </a:r>
            <a:r>
              <a:rPr lang="en-US" sz="2000" dirty="0">
                <a:solidFill>
                  <a:schemeClr val="bg1"/>
                </a:solidFill>
              </a:rPr>
              <a:t>&gt;&lt;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&gt;&lt;td </a:t>
            </a:r>
            <a:r>
              <a:rPr lang="en-US" sz="2000" dirty="0" err="1">
                <a:solidFill>
                  <a:schemeClr val="bg1"/>
                </a:solidFill>
              </a:rPr>
              <a:t>colspan</a:t>
            </a:r>
            <a:r>
              <a:rPr lang="en-US" sz="2000" dirty="0">
                <a:solidFill>
                  <a:schemeClr val="bg1"/>
                </a:solidFill>
              </a:rPr>
              <a:t>="4"&gt;</a:t>
            </a:r>
            <a:r>
              <a:rPr lang="ru-RU" sz="2000" dirty="0">
                <a:solidFill>
                  <a:schemeClr val="bg1"/>
                </a:solidFill>
              </a:rPr>
              <a:t>итого&lt;/</a:t>
            </a:r>
            <a:r>
              <a:rPr lang="en-US" sz="2000" dirty="0">
                <a:solidFill>
                  <a:schemeClr val="bg1"/>
                </a:solidFill>
              </a:rPr>
              <a:t>td&gt;&lt;td&gt;1707&lt;/td&gt;&lt;/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&gt;&lt;/</a:t>
            </a:r>
            <a:r>
              <a:rPr lang="en-US" sz="2000" dirty="0" err="1">
                <a:solidFill>
                  <a:schemeClr val="bg1"/>
                </a:solidFill>
              </a:rPr>
              <a:t>tfoot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tbody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&gt;&lt;td&gt;1&lt;/td&gt;&lt;td&gt;</a:t>
            </a:r>
            <a:r>
              <a:rPr lang="ru-RU" sz="2000" dirty="0">
                <a:solidFill>
                  <a:schemeClr val="bg1"/>
                </a:solidFill>
              </a:rPr>
              <a:t>яблоки&lt;/</a:t>
            </a:r>
            <a:r>
              <a:rPr lang="en-US" sz="2000" dirty="0">
                <a:solidFill>
                  <a:schemeClr val="bg1"/>
                </a:solidFill>
              </a:rPr>
              <a:t>td&gt;&lt;td&gt;5&lt;/td&gt;&lt;td&gt;50&lt;/td&gt;&lt;td&gt;250&lt;/td&gt;&lt;/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&gt;&lt;td&gt;2&lt;/td&gt;&lt;td&gt;</a:t>
            </a:r>
            <a:r>
              <a:rPr lang="ru-RU" sz="2000" dirty="0">
                <a:solidFill>
                  <a:schemeClr val="bg1"/>
                </a:solidFill>
              </a:rPr>
              <a:t>груши&lt;/</a:t>
            </a:r>
            <a:r>
              <a:rPr lang="en-US" sz="2000" dirty="0">
                <a:solidFill>
                  <a:schemeClr val="bg1"/>
                </a:solidFill>
              </a:rPr>
              <a:t>td&gt;&lt;td&gt;10&lt;/td&gt;&lt;td&gt;10&lt;/td&gt;&lt;td&gt;100&lt;/td&gt;&lt;/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&gt;&lt;td&gt;3&lt;/td&gt;&lt;td&gt;</a:t>
            </a:r>
            <a:r>
              <a:rPr lang="ru-RU" sz="2000" dirty="0">
                <a:solidFill>
                  <a:schemeClr val="bg1"/>
                </a:solidFill>
              </a:rPr>
              <a:t>бананы&lt;/</a:t>
            </a:r>
            <a:r>
              <a:rPr lang="en-US" sz="2000" dirty="0">
                <a:solidFill>
                  <a:schemeClr val="bg1"/>
                </a:solidFill>
              </a:rPr>
              <a:t>td&gt;&lt;td&gt;10&lt;/td&gt;&lt;td&gt;30&lt;/td&gt;&lt;td&gt;300&lt;/td&gt;&lt;/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&gt;&lt;td&gt;4&lt;/td&gt;&lt;td&gt;</a:t>
            </a:r>
            <a:r>
              <a:rPr lang="ru-RU" sz="2000" dirty="0">
                <a:solidFill>
                  <a:schemeClr val="bg1"/>
                </a:solidFill>
              </a:rPr>
              <a:t>апельсины&lt;/</a:t>
            </a:r>
            <a:r>
              <a:rPr lang="en-US" sz="2000" dirty="0">
                <a:solidFill>
                  <a:schemeClr val="bg1"/>
                </a:solidFill>
              </a:rPr>
              <a:t>td&gt;&lt;td&gt;15&lt;/td&gt;&lt;td&gt;70&lt;/td&gt;&lt;td&gt;1050&lt;/td&gt;&lt;/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&gt;&lt;td&gt;5&lt;/td&gt;&lt;td&gt;</a:t>
            </a:r>
            <a:r>
              <a:rPr lang="ru-RU" sz="2000" dirty="0">
                <a:solidFill>
                  <a:schemeClr val="bg1"/>
                </a:solidFill>
              </a:rPr>
              <a:t>персики&lt;/</a:t>
            </a:r>
            <a:r>
              <a:rPr lang="en-US" sz="2000" dirty="0">
                <a:solidFill>
                  <a:schemeClr val="bg1"/>
                </a:solidFill>
              </a:rPr>
              <a:t>td&gt;&lt;td&gt;2&lt;/td&gt;&lt;td&gt;3,5&lt;/td&gt;&lt;td&gt;7&lt;/td&gt;&lt;/</a:t>
            </a:r>
            <a:r>
              <a:rPr lang="en-US" sz="2000" dirty="0" err="1">
                <a:solidFill>
                  <a:schemeClr val="bg1"/>
                </a:solidFill>
              </a:rPr>
              <a:t>tr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&lt;/</a:t>
            </a:r>
            <a:r>
              <a:rPr lang="en-US" sz="2000" dirty="0" err="1">
                <a:solidFill>
                  <a:schemeClr val="bg1"/>
                </a:solidFill>
              </a:rPr>
              <a:t>tbody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&lt;/table&gt;</a:t>
            </a: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16632"/>
            <a:ext cx="8640960" cy="470898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CSS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table{width:800px;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margin:auto</a:t>
            </a:r>
            <a:r>
              <a:rPr lang="en-US" sz="2000" dirty="0">
                <a:solidFill>
                  <a:schemeClr val="bg1"/>
                </a:solidFill>
              </a:rPr>
              <a:t>;  </a:t>
            </a:r>
          </a:p>
          <a:p>
            <a:r>
              <a:rPr lang="en-US" sz="2000" dirty="0">
                <a:solidFill>
                  <a:schemeClr val="bg1"/>
                </a:solidFill>
              </a:rPr>
              <a:t>padding:0px;</a:t>
            </a:r>
          </a:p>
          <a:p>
            <a:r>
              <a:rPr lang="en-US" sz="2000" dirty="0">
                <a:solidFill>
                  <a:schemeClr val="bg1"/>
                </a:solidFill>
              </a:rPr>
              <a:t>border-collapse: collapse;    </a:t>
            </a:r>
          </a:p>
          <a:p>
            <a:r>
              <a:rPr lang="en-US" sz="2000" dirty="0">
                <a:solidFill>
                  <a:schemeClr val="bg1"/>
                </a:solidFill>
              </a:rPr>
              <a:t>}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td {border:1px black solid;}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th</a:t>
            </a:r>
            <a:r>
              <a:rPr lang="en-US" sz="2000" dirty="0">
                <a:solidFill>
                  <a:schemeClr val="bg1"/>
                </a:solidFill>
              </a:rPr>
              <a:t> {border:1px green solid; background-</a:t>
            </a:r>
            <a:r>
              <a:rPr lang="en-US" sz="2000" dirty="0" err="1">
                <a:solidFill>
                  <a:schemeClr val="bg1"/>
                </a:solidFill>
              </a:rPr>
              <a:t>color:green</a:t>
            </a:r>
            <a:r>
              <a:rPr lang="en-US" sz="2000" dirty="0">
                <a:solidFill>
                  <a:schemeClr val="bg1"/>
                </a:solidFill>
              </a:rPr>
              <a:t>; </a:t>
            </a:r>
            <a:r>
              <a:rPr lang="en-US" sz="2000" dirty="0" err="1">
                <a:solidFill>
                  <a:schemeClr val="bg1"/>
                </a:solidFill>
              </a:rPr>
              <a:t>color:white</a:t>
            </a:r>
            <a:r>
              <a:rPr lang="en-US" sz="2000" dirty="0">
                <a:solidFill>
                  <a:schemeClr val="bg1"/>
                </a:solidFill>
              </a:rPr>
              <a:t>;    text-transform: uppercase;}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td:nth</a:t>
            </a:r>
            <a:r>
              <a:rPr lang="en-US" sz="2000" dirty="0">
                <a:solidFill>
                  <a:schemeClr val="bg1"/>
                </a:solidFill>
              </a:rPr>
              <a:t>-child(1){text-</a:t>
            </a:r>
            <a:r>
              <a:rPr lang="en-US" sz="2000" dirty="0" err="1">
                <a:solidFill>
                  <a:schemeClr val="bg1"/>
                </a:solidFill>
              </a:rPr>
              <a:t>align:center</a:t>
            </a:r>
            <a:r>
              <a:rPr lang="en-US" sz="2000" dirty="0">
                <a:solidFill>
                  <a:schemeClr val="bg1"/>
                </a:solidFill>
              </a:rPr>
              <a:t>;}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tfoot</a:t>
            </a:r>
            <a:r>
              <a:rPr lang="en-US" sz="2000" dirty="0">
                <a:solidFill>
                  <a:schemeClr val="bg1"/>
                </a:solidFill>
              </a:rPr>
              <a:t> td {font-</a:t>
            </a:r>
            <a:r>
              <a:rPr lang="en-US" sz="2000" dirty="0" err="1">
                <a:solidFill>
                  <a:schemeClr val="bg1"/>
                </a:solidFill>
              </a:rPr>
              <a:t>weight:bold</a:t>
            </a:r>
            <a:r>
              <a:rPr lang="en-US" sz="2000" dirty="0">
                <a:solidFill>
                  <a:schemeClr val="bg1"/>
                </a:solidFill>
              </a:rPr>
              <a:t>;}</a:t>
            </a:r>
          </a:p>
          <a:p>
            <a:r>
              <a:rPr lang="en-US" sz="2000" dirty="0">
                <a:solidFill>
                  <a:schemeClr val="bg1"/>
                </a:solidFill>
              </a:rPr>
              <a:t>caption {font-size: 24px;}</a:t>
            </a: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16632"/>
            <a:ext cx="8640960" cy="624786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colgroup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&lt;</a:t>
            </a:r>
            <a:r>
              <a:rPr lang="ru-RU" sz="2000" dirty="0" err="1">
                <a:solidFill>
                  <a:schemeClr val="bg1"/>
                </a:solidFill>
              </a:rPr>
              <a:t>col</a:t>
            </a:r>
            <a:r>
              <a:rPr lang="ru-RU" sz="2000" dirty="0">
                <a:solidFill>
                  <a:schemeClr val="bg1"/>
                </a:solidFill>
              </a:rPr>
              <a:t> </a:t>
            </a:r>
            <a:r>
              <a:rPr lang="ru-RU" sz="2000" dirty="0" err="1">
                <a:solidFill>
                  <a:schemeClr val="bg1"/>
                </a:solidFill>
              </a:rPr>
              <a:t>span=</a:t>
            </a:r>
            <a:r>
              <a:rPr lang="ru-RU" sz="2000" dirty="0">
                <a:solidFill>
                  <a:schemeClr val="bg1"/>
                </a:solidFill>
              </a:rPr>
              <a:t> "</a:t>
            </a:r>
            <a:r>
              <a:rPr lang="en-US" sz="2000" dirty="0">
                <a:solidFill>
                  <a:schemeClr val="bg1"/>
                </a:solidFill>
              </a:rPr>
              <a:t>2</a:t>
            </a:r>
            <a:r>
              <a:rPr lang="ru-RU" sz="2000" dirty="0">
                <a:solidFill>
                  <a:schemeClr val="bg1"/>
                </a:solidFill>
              </a:rPr>
              <a:t>" </a:t>
            </a:r>
            <a:r>
              <a:rPr lang="ru-RU" sz="2000" dirty="0" err="1">
                <a:solidFill>
                  <a:schemeClr val="bg1"/>
                </a:solidFill>
              </a:rPr>
              <a:t>style=</a:t>
            </a:r>
            <a:r>
              <a:rPr lang="ru-RU" sz="2000" dirty="0">
                <a:solidFill>
                  <a:schemeClr val="bg1"/>
                </a:solidFill>
              </a:rPr>
              <a:t>"</a:t>
            </a:r>
            <a:r>
              <a:rPr lang="ru-RU" sz="2000" dirty="0" err="1">
                <a:solidFill>
                  <a:schemeClr val="bg1"/>
                </a:solidFill>
              </a:rPr>
              <a:t>background</a:t>
            </a:r>
            <a:r>
              <a:rPr lang="ru-RU" sz="2000" dirty="0">
                <a:solidFill>
                  <a:schemeClr val="bg1"/>
                </a:solidFill>
              </a:rPr>
              <a:t>:</a:t>
            </a:r>
            <a:r>
              <a:rPr lang="en-US" sz="2000" dirty="0">
                <a:solidFill>
                  <a:schemeClr val="bg1"/>
                </a:solidFill>
              </a:rPr>
              <a:t>green</a:t>
            </a:r>
            <a:r>
              <a:rPr lang="ru-RU" sz="2000" dirty="0">
                <a:solidFill>
                  <a:schemeClr val="bg1"/>
                </a:solidFill>
              </a:rPr>
              <a:t>"&gt;&lt;!-- С помощью этой конструкции задаем цвет фона для первых двух столбцов таблицы--&gt;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&lt;</a:t>
            </a:r>
            <a:r>
              <a:rPr lang="ru-RU" sz="2000" dirty="0" err="1">
                <a:solidFill>
                  <a:schemeClr val="bg1"/>
                </a:solidFill>
              </a:rPr>
              <a:t>col</a:t>
            </a:r>
            <a:r>
              <a:rPr lang="ru-RU" sz="2000" dirty="0">
                <a:solidFill>
                  <a:schemeClr val="bg1"/>
                </a:solidFill>
              </a:rPr>
              <a:t> </a:t>
            </a:r>
            <a:r>
              <a:rPr lang="ru-RU" sz="2000" dirty="0" err="1">
                <a:solidFill>
                  <a:schemeClr val="bg1"/>
                </a:solidFill>
              </a:rPr>
              <a:t>span=</a:t>
            </a:r>
            <a:r>
              <a:rPr lang="ru-RU" sz="2000" dirty="0">
                <a:solidFill>
                  <a:schemeClr val="bg1"/>
                </a:solidFill>
              </a:rPr>
              <a:t> "</a:t>
            </a:r>
            <a:r>
              <a:rPr lang="en-US" sz="2000" dirty="0">
                <a:solidFill>
                  <a:schemeClr val="bg1"/>
                </a:solidFill>
              </a:rPr>
              <a:t>2</a:t>
            </a:r>
            <a:r>
              <a:rPr lang="ru-RU" sz="2000" dirty="0">
                <a:solidFill>
                  <a:schemeClr val="bg1"/>
                </a:solidFill>
              </a:rPr>
              <a:t>" </a:t>
            </a:r>
            <a:r>
              <a:rPr lang="ru-RU" sz="2000" dirty="0" err="1">
                <a:solidFill>
                  <a:schemeClr val="bg1"/>
                </a:solidFill>
              </a:rPr>
              <a:t>style=</a:t>
            </a:r>
            <a:r>
              <a:rPr lang="ru-RU" sz="2000" dirty="0">
                <a:solidFill>
                  <a:schemeClr val="bg1"/>
                </a:solidFill>
              </a:rPr>
              <a:t>"</a:t>
            </a:r>
            <a:r>
              <a:rPr lang="ru-RU" sz="2000" dirty="0" err="1">
                <a:solidFill>
                  <a:schemeClr val="bg1"/>
                </a:solidFill>
              </a:rPr>
              <a:t>background</a:t>
            </a:r>
            <a:r>
              <a:rPr lang="ru-RU" sz="2000" dirty="0">
                <a:solidFill>
                  <a:schemeClr val="bg1"/>
                </a:solidFill>
              </a:rPr>
              <a:t>:</a:t>
            </a:r>
            <a:r>
              <a:rPr lang="en-US" sz="2000" dirty="0">
                <a:solidFill>
                  <a:schemeClr val="bg1"/>
                </a:solidFill>
              </a:rPr>
              <a:t>blue</a:t>
            </a:r>
            <a:r>
              <a:rPr lang="ru-RU" sz="2000" dirty="0">
                <a:solidFill>
                  <a:schemeClr val="bg1"/>
                </a:solidFill>
              </a:rPr>
              <a:t>"&gt;&lt;!-- С помощью этой конструкции задаем цвет фона для следующих двух столбцов таблицы--&gt;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&lt;</a:t>
            </a:r>
            <a:r>
              <a:rPr lang="ru-RU" sz="2000" dirty="0" err="1">
                <a:solidFill>
                  <a:schemeClr val="bg1"/>
                </a:solidFill>
              </a:rPr>
              <a:t>col</a:t>
            </a:r>
            <a:r>
              <a:rPr lang="ru-RU" sz="2000" dirty="0">
                <a:solidFill>
                  <a:schemeClr val="bg1"/>
                </a:solidFill>
              </a:rPr>
              <a:t> </a:t>
            </a:r>
            <a:r>
              <a:rPr lang="ru-RU" sz="2000" dirty="0" err="1">
                <a:solidFill>
                  <a:schemeClr val="bg1"/>
                </a:solidFill>
              </a:rPr>
              <a:t>span=</a:t>
            </a:r>
            <a:r>
              <a:rPr lang="ru-RU" sz="2000" dirty="0">
                <a:solidFill>
                  <a:schemeClr val="bg1"/>
                </a:solidFill>
              </a:rPr>
              <a:t> "</a:t>
            </a:r>
            <a:r>
              <a:rPr lang="en-US" sz="2000" dirty="0">
                <a:solidFill>
                  <a:schemeClr val="bg1"/>
                </a:solidFill>
              </a:rPr>
              <a:t>1</a:t>
            </a:r>
            <a:r>
              <a:rPr lang="ru-RU" sz="2000" dirty="0">
                <a:solidFill>
                  <a:schemeClr val="bg1"/>
                </a:solidFill>
              </a:rPr>
              <a:t>" </a:t>
            </a:r>
            <a:r>
              <a:rPr lang="ru-RU" sz="2000" dirty="0" err="1">
                <a:solidFill>
                  <a:schemeClr val="bg1"/>
                </a:solidFill>
              </a:rPr>
              <a:t>style=</a:t>
            </a:r>
            <a:r>
              <a:rPr lang="ru-RU" sz="2000" dirty="0">
                <a:solidFill>
                  <a:schemeClr val="bg1"/>
                </a:solidFill>
              </a:rPr>
              <a:t>"</a:t>
            </a:r>
            <a:r>
              <a:rPr lang="ru-RU" sz="2000" dirty="0" err="1">
                <a:solidFill>
                  <a:schemeClr val="bg1"/>
                </a:solidFill>
              </a:rPr>
              <a:t>background</a:t>
            </a:r>
            <a:r>
              <a:rPr lang="ru-RU" sz="2000" dirty="0">
                <a:solidFill>
                  <a:schemeClr val="bg1"/>
                </a:solidFill>
              </a:rPr>
              <a:t>:</a:t>
            </a:r>
            <a:r>
              <a:rPr lang="en-US" sz="2000" dirty="0">
                <a:solidFill>
                  <a:schemeClr val="bg1"/>
                </a:solidFill>
              </a:rPr>
              <a:t>black</a:t>
            </a:r>
            <a:r>
              <a:rPr lang="ru-RU" sz="2000" dirty="0">
                <a:solidFill>
                  <a:schemeClr val="bg1"/>
                </a:solidFill>
              </a:rPr>
              <a:t>"&gt;&lt;!-- С помощью этой конструкции задаем цвет фона для следующего одного столбца таблицы--&gt;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 &lt;/</a:t>
            </a:r>
            <a:r>
              <a:rPr lang="en-US" sz="2000" dirty="0" err="1">
                <a:solidFill>
                  <a:schemeClr val="bg1"/>
                </a:solidFill>
              </a:rPr>
              <a:t>colgroup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colgroup</a:t>
            </a:r>
            <a:r>
              <a:rPr lang="en-US" sz="2000" dirty="0">
                <a:solidFill>
                  <a:schemeClr val="bg1"/>
                </a:solidFill>
              </a:rPr>
              <a:t>&gt; </a:t>
            </a:r>
            <a:r>
              <a:rPr lang="ru-RU" sz="2000" dirty="0">
                <a:solidFill>
                  <a:schemeClr val="bg1"/>
                </a:solidFill>
              </a:rPr>
              <a:t>записывается между тегами </a:t>
            </a:r>
            <a:r>
              <a:rPr lang="en-US" sz="2000" dirty="0">
                <a:solidFill>
                  <a:schemeClr val="bg1"/>
                </a:solidFill>
              </a:rPr>
              <a:t>&lt;table&gt;</a:t>
            </a:r>
            <a:r>
              <a:rPr lang="ru-RU" sz="2000" dirty="0">
                <a:solidFill>
                  <a:schemeClr val="bg1"/>
                </a:solidFill>
              </a:rPr>
              <a:t> и </a:t>
            </a:r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tbody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204864"/>
            <a:ext cx="8640960" cy="19389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3.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 Основы табличной верстки. Пример табличной верстки: ее минусы</a:t>
            </a: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204864"/>
            <a:ext cx="8640960" cy="19389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3.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 Основы табличной верстки. Пример табличной верстки: ее минусы</a:t>
            </a: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348880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8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Домашнее задание</a:t>
            </a: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520" y="620688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dirty="0">
                <a:ln w="50800"/>
                <a:solidFill>
                  <a:schemeClr val="bg1">
                    <a:shade val="50000"/>
                  </a:schemeClr>
                </a:solidFill>
              </a:rPr>
              <a:t>Добавить 3 страницу на своем сайте с сложной таблицей в виде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791160"/>
              </p:ext>
            </p:extLst>
          </p:nvPr>
        </p:nvGraphicFramePr>
        <p:xfrm>
          <a:off x="1524000" y="1397000"/>
          <a:ext cx="6096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82794038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19083937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3068443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47498945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08806706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5805776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27090981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1649801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881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073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7723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13007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65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620345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9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8129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ssicPhotoAlbum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70000"/>
                <a:satMod val="350000"/>
              </a:schemeClr>
            </a:gs>
          </a:gsLst>
          <a:path path="circle">
            <a:fillToRect l="51000" t="-20000" r="2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25000"/>
                <a:satMod val="350000"/>
              </a:schemeClr>
              <a:schemeClr val="phClr">
                <a:tint val="83000"/>
                <a:satMod val="115000"/>
              </a:schemeClr>
            </a:duotone>
          </a:blip>
          <a:tile tx="0" ty="0" sx="120000" sy="120000" flip="xy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2026-10-01T06:36:47Z</dcterms:created>
  <dcterms:modified xsi:type="dcterms:W3CDTF">2026-10-01T06:36:47Z</dcterms:modified>
</cp:coreProperties>
</file>