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355" r:id="rId2"/>
    <p:sldId id="364" r:id="rId3"/>
    <p:sldId id="456" r:id="rId4"/>
    <p:sldId id="519" r:id="rId5"/>
    <p:sldId id="357" r:id="rId6"/>
    <p:sldId id="520" r:id="rId7"/>
    <p:sldId id="521" r:id="rId8"/>
    <p:sldId id="522" r:id="rId9"/>
    <p:sldId id="523" r:id="rId10"/>
    <p:sldId id="524" r:id="rId11"/>
    <p:sldId id="526" r:id="rId12"/>
    <p:sldId id="527" r:id="rId13"/>
    <p:sldId id="529" r:id="rId14"/>
    <p:sldId id="528" r:id="rId15"/>
    <p:sldId id="530" r:id="rId16"/>
    <p:sldId id="531" r:id="rId17"/>
    <p:sldId id="532" r:id="rId18"/>
    <p:sldId id="533" r:id="rId19"/>
    <p:sldId id="535" r:id="rId20"/>
    <p:sldId id="534" r:id="rId21"/>
    <p:sldId id="536" r:id="rId22"/>
    <p:sldId id="538" r:id="rId23"/>
    <p:sldId id="539" r:id="rId24"/>
    <p:sldId id="540" r:id="rId25"/>
    <p:sldId id="541" r:id="rId26"/>
    <p:sldId id="542" r:id="rId27"/>
    <p:sldId id="543" r:id="rId28"/>
    <p:sldId id="454" r:id="rId29"/>
    <p:sldId id="455" r:id="rId30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9729"/>
    <a:srgbClr val="0000FF"/>
    <a:srgbClr val="F94949"/>
    <a:srgbClr val="CC00CC"/>
    <a:srgbClr val="FF0000"/>
    <a:srgbClr val="00FF00"/>
    <a:srgbClr val="111111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8B1032C-EA38-4F05-BA0D-38AFFFC7BED3}" styleName="Светлый стиль 3 -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-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Светлый стиль 3 -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-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Стиль из темы 2 - акцент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46F890A9-2807-4EBB-B81D-B2AA78EC7F39}" styleName="Темный стиль 2 -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Темный стиль 2 -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Темный стиль 2 -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8024" autoAdjust="0"/>
  </p:normalViewPr>
  <p:slideViewPr>
    <p:cSldViewPr>
      <p:cViewPr varScale="1">
        <p:scale>
          <a:sx n="110" d="100"/>
          <a:sy n="110" d="100"/>
        </p:scale>
        <p:origin x="16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06.12.2021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06.12.2021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/>
              <a:t>Образец текста</a:t>
            </a:r>
          </a:p>
          <a:p>
            <a:pPr lvl="1" eaLnBrk="1" latinLnBrk="0" hangingPunct="1"/>
            <a:r>
              <a:rPr lang="ru-RU"/>
              <a:t>Второй уровень</a:t>
            </a:r>
          </a:p>
          <a:p>
            <a:pPr lvl="2" eaLnBrk="1" latinLnBrk="0" hangingPunct="1"/>
            <a:r>
              <a:rPr lang="ru-RU"/>
              <a:t>Третий уровень</a:t>
            </a:r>
          </a:p>
          <a:p>
            <a:pPr lvl="3" eaLnBrk="1" latinLnBrk="0" hangingPunct="1"/>
            <a:r>
              <a:rPr lang="ru-RU"/>
              <a:t>Четвертый уровень</a:t>
            </a:r>
          </a:p>
          <a:p>
            <a:pPr lvl="4" eaLnBrk="1" latinLnBrk="0" hangingPunct="1"/>
            <a:r>
              <a:rPr lang="ru-RU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06.12.2021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/>
              <a:t>Образец заголовка</a:t>
            </a:r>
            <a:endParaRPr kumimoji="0" lang="en-US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/>
              <a:t>Образец текста</a:t>
            </a:r>
          </a:p>
          <a:p>
            <a:pPr lvl="1" eaLnBrk="1" latinLnBrk="0" hangingPunct="1"/>
            <a:r>
              <a:rPr kumimoji="0" lang="ru-RU"/>
              <a:t>Второй уровень</a:t>
            </a:r>
          </a:p>
          <a:p>
            <a:pPr lvl="2" eaLnBrk="1" latinLnBrk="0" hangingPunct="1"/>
            <a:r>
              <a:rPr kumimoji="0" lang="ru-RU"/>
              <a:t>Третий уровень</a:t>
            </a:r>
          </a:p>
          <a:p>
            <a:pPr lvl="3" eaLnBrk="1" latinLnBrk="0" hangingPunct="1"/>
            <a:r>
              <a:rPr kumimoji="0" lang="ru-RU"/>
              <a:t>Четвертый уровень</a:t>
            </a:r>
          </a:p>
          <a:p>
            <a:pPr lvl="4" eaLnBrk="1" latinLnBrk="0" hangingPunct="1"/>
            <a:r>
              <a:rPr kumimoji="0" lang="ru-RU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06.12.2021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>
                <a:ln w="50800"/>
                <a:solidFill>
                  <a:schemeClr val="bg1">
                    <a:shade val="50000"/>
                  </a:schemeClr>
                </a:solidFill>
              </a:rPr>
              <a:t>Зуев Александр</a:t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7. 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Таблицы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1.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Создание простейшей таблицы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HTML-таблицы упорядочивают и выводят на экран данные с помощью строк или столбцов.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Таблицы состоят из ячеек, образующихся при пересечении строк и столбцов. Ячейки таблиц могут содержать любые HTML-элементы, такие как заголовки, списки, текст, изображения, элементы форм, а также другие таблицы.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Каждой таблице можно добавить связанный с ней заголовок, расположив его перед таблицей или после неё.</a:t>
            </a:r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i="1" dirty="0">
                <a:solidFill>
                  <a:schemeClr val="bg1"/>
                </a:solidFill>
              </a:rPr>
              <a:t>Таблицы больше не используются для вёрстки </a:t>
            </a:r>
            <a:r>
              <a:rPr lang="ru-RU" sz="2000" i="1" dirty="0" err="1">
                <a:solidFill>
                  <a:schemeClr val="bg1"/>
                </a:solidFill>
              </a:rPr>
              <a:t>веб-страниц</a:t>
            </a:r>
            <a:r>
              <a:rPr lang="ru-RU" sz="2000" i="1" dirty="0">
                <a:solidFill>
                  <a:schemeClr val="bg1"/>
                </a:solidFill>
              </a:rPr>
              <a:t> и компоновки отдельных элементов, потому что такой приём не обеспечивает гибкость структуры и адаптивность сайта, существенно увеличивая HTML-разметку.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624786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&lt;table&gt;</a:t>
            </a:r>
          </a:p>
          <a:p>
            <a:pPr indent="447675"/>
            <a:r>
              <a:rPr lang="en-US" sz="4000" b="1" dirty="0">
                <a:solidFill>
                  <a:srgbClr val="0000FF"/>
                </a:solidFill>
              </a:rPr>
              <a:t>	&lt;</a:t>
            </a:r>
            <a:r>
              <a:rPr lang="en-US" sz="4000" b="1" dirty="0" err="1">
                <a:solidFill>
                  <a:srgbClr val="0000FF"/>
                </a:solidFill>
              </a:rPr>
              <a:t>tbody</a:t>
            </a:r>
            <a:r>
              <a:rPr lang="en-US" sz="4000" b="1" dirty="0">
                <a:solidFill>
                  <a:srgbClr val="0000FF"/>
                </a:solidFill>
              </a:rPr>
              <a:t>&gt;</a:t>
            </a:r>
          </a:p>
          <a:p>
            <a:pPr indent="1257300"/>
            <a:r>
              <a:rPr lang="en-US" sz="4000" b="1" dirty="0">
                <a:solidFill>
                  <a:srgbClr val="7030A0"/>
                </a:solidFill>
              </a:rPr>
              <a:t>		&lt;</a:t>
            </a:r>
            <a:r>
              <a:rPr lang="en-US" sz="4000" b="1" dirty="0" err="1">
                <a:solidFill>
                  <a:srgbClr val="7030A0"/>
                </a:solidFill>
              </a:rPr>
              <a:t>tr</a:t>
            </a:r>
            <a:r>
              <a:rPr lang="en-US" sz="4000" b="1" dirty="0">
                <a:solidFill>
                  <a:srgbClr val="7030A0"/>
                </a:solidFill>
              </a:rPr>
              <a:t>&gt;</a:t>
            </a:r>
          </a:p>
          <a:p>
            <a:pPr indent="1257300"/>
            <a:r>
              <a:rPr lang="en-US" sz="4000" b="1" dirty="0">
                <a:solidFill>
                  <a:srgbClr val="639729"/>
                </a:solidFill>
              </a:rPr>
              <a:t>&lt;td&gt;</a:t>
            </a:r>
            <a:r>
              <a:rPr lang="ru-RU" sz="4000" b="1" dirty="0">
                <a:solidFill>
                  <a:srgbClr val="639729"/>
                </a:solidFill>
              </a:rPr>
              <a:t>ТЕКСТ</a:t>
            </a:r>
            <a:r>
              <a:rPr lang="en-US" sz="4000" b="1" dirty="0">
                <a:solidFill>
                  <a:srgbClr val="639729"/>
                </a:solidFill>
              </a:rPr>
              <a:t>&lt;/td&gt;</a:t>
            </a:r>
          </a:p>
          <a:p>
            <a:pPr indent="1257300"/>
            <a:r>
              <a:rPr lang="en-US" sz="4000" b="1" dirty="0">
                <a:solidFill>
                  <a:srgbClr val="639729"/>
                </a:solidFill>
              </a:rPr>
              <a:t>&lt;td&gt;</a:t>
            </a:r>
            <a:r>
              <a:rPr lang="ru-RU" sz="4000" b="1" dirty="0">
                <a:solidFill>
                  <a:srgbClr val="639729"/>
                </a:solidFill>
              </a:rPr>
              <a:t>ТЕКСТ</a:t>
            </a:r>
            <a:r>
              <a:rPr lang="en-US" sz="4000" b="1" dirty="0">
                <a:solidFill>
                  <a:srgbClr val="639729"/>
                </a:solidFill>
              </a:rPr>
              <a:t>&lt;/td&gt;</a:t>
            </a:r>
            <a:endParaRPr lang="en-US" sz="4000" b="1" dirty="0">
              <a:solidFill>
                <a:srgbClr val="7030A0"/>
              </a:solidFill>
            </a:endParaRPr>
          </a:p>
          <a:p>
            <a:pPr indent="1257300"/>
            <a:r>
              <a:rPr lang="en-US" sz="4000" b="1" dirty="0">
                <a:solidFill>
                  <a:srgbClr val="639729"/>
                </a:solidFill>
              </a:rPr>
              <a:t>&lt;td&gt;</a:t>
            </a:r>
            <a:r>
              <a:rPr lang="ru-RU" sz="4000" b="1" dirty="0">
                <a:solidFill>
                  <a:srgbClr val="639729"/>
                </a:solidFill>
              </a:rPr>
              <a:t>ТЕКСТ</a:t>
            </a:r>
            <a:r>
              <a:rPr lang="en-US" sz="4000" b="1" dirty="0">
                <a:solidFill>
                  <a:srgbClr val="639729"/>
                </a:solidFill>
              </a:rPr>
              <a:t>&lt;/td&gt;</a:t>
            </a:r>
            <a:endParaRPr lang="en-US" sz="4000" b="1" dirty="0">
              <a:solidFill>
                <a:srgbClr val="7030A0"/>
              </a:solidFill>
            </a:endParaRPr>
          </a:p>
          <a:p>
            <a:pPr indent="1257300"/>
            <a:r>
              <a:rPr lang="en-US" sz="4000" b="1" dirty="0">
                <a:solidFill>
                  <a:srgbClr val="639729"/>
                </a:solidFill>
              </a:rPr>
              <a:t>&lt;td&gt;</a:t>
            </a:r>
            <a:r>
              <a:rPr lang="ru-RU" sz="4000" b="1" dirty="0">
                <a:solidFill>
                  <a:srgbClr val="639729"/>
                </a:solidFill>
              </a:rPr>
              <a:t>ТЕКСТ</a:t>
            </a:r>
            <a:r>
              <a:rPr lang="en-US" sz="4000" b="1" dirty="0">
                <a:solidFill>
                  <a:srgbClr val="639729"/>
                </a:solidFill>
              </a:rPr>
              <a:t>&lt;/td&gt;</a:t>
            </a:r>
          </a:p>
          <a:p>
            <a:pPr indent="1257300"/>
            <a:r>
              <a:rPr lang="en-US" sz="4000" b="1" dirty="0">
                <a:solidFill>
                  <a:srgbClr val="7030A0"/>
                </a:solidFill>
              </a:rPr>
              <a:t>		&lt;/</a:t>
            </a:r>
            <a:r>
              <a:rPr lang="en-US" sz="4000" b="1" dirty="0" err="1">
                <a:solidFill>
                  <a:srgbClr val="7030A0"/>
                </a:solidFill>
              </a:rPr>
              <a:t>tr</a:t>
            </a:r>
            <a:r>
              <a:rPr lang="en-US" sz="4000" b="1" dirty="0">
                <a:solidFill>
                  <a:srgbClr val="7030A0"/>
                </a:solidFill>
              </a:rPr>
              <a:t>&gt;</a:t>
            </a:r>
          </a:p>
          <a:p>
            <a:pPr indent="447675"/>
            <a:r>
              <a:rPr lang="en-US" sz="4000" b="1" dirty="0">
                <a:solidFill>
                  <a:srgbClr val="0000FF"/>
                </a:solidFill>
              </a:rPr>
              <a:t>	&lt;/</a:t>
            </a:r>
            <a:r>
              <a:rPr lang="en-US" sz="4000" b="1" dirty="0" err="1">
                <a:solidFill>
                  <a:srgbClr val="0000FF"/>
                </a:solidFill>
              </a:rPr>
              <a:t>tbody</a:t>
            </a:r>
            <a:r>
              <a:rPr lang="en-US" sz="4000" b="1" dirty="0">
                <a:solidFill>
                  <a:srgbClr val="0000FF"/>
                </a:solidFill>
              </a:rPr>
              <a:t>&gt;</a:t>
            </a:r>
          </a:p>
          <a:p>
            <a:r>
              <a:rPr lang="en-US" sz="4000" b="1" dirty="0">
                <a:solidFill>
                  <a:srgbClr val="FF0000"/>
                </a:solidFill>
              </a:rPr>
              <a:t>&lt;/table&gt;</a:t>
            </a:r>
            <a:endParaRPr lang="ru-RU" sz="4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&lt;table&gt;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Данный тег является контейнером для элементов таблицы и все элементы должны находиться внутри него. Тег парный!!!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FF0000"/>
                </a:solidFill>
              </a:rPr>
              <a:t>&lt;/table&gt;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0000FF"/>
                </a:solidFill>
              </a:rPr>
              <a:t>&lt;</a:t>
            </a:r>
            <a:r>
              <a:rPr lang="en-US" sz="4000" b="1" dirty="0" err="1">
                <a:solidFill>
                  <a:srgbClr val="0000FF"/>
                </a:solidFill>
              </a:rPr>
              <a:t>tbody</a:t>
            </a:r>
            <a:r>
              <a:rPr lang="en-US" sz="4000" b="1" dirty="0">
                <a:solidFill>
                  <a:srgbClr val="0000FF"/>
                </a:solidFill>
              </a:rPr>
              <a:t>&gt;</a:t>
            </a:r>
            <a:endParaRPr lang="en-US" sz="4000" b="1" dirty="0">
              <a:solidFill>
                <a:srgbClr val="FF0000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Элемент &lt;</a:t>
            </a:r>
            <a:r>
              <a:rPr lang="ru-RU" sz="2000" dirty="0" err="1">
                <a:solidFill>
                  <a:schemeClr val="bg1"/>
                </a:solidFill>
              </a:rPr>
              <a:t>tbody</a:t>
            </a:r>
            <a:r>
              <a:rPr lang="ru-RU" sz="2000" dirty="0">
                <a:solidFill>
                  <a:schemeClr val="bg1"/>
                </a:solidFill>
              </a:rPr>
              <a:t>&gt; предназначен для хранения одной или нескольких строк таблицы. Это позволяет создавать структурные блоки, к которым можно применять единое оформление через стили.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Допускается применять несколько тегов &lt;</a:t>
            </a:r>
            <a:r>
              <a:rPr lang="ru-RU" sz="2000" dirty="0" err="1">
                <a:solidFill>
                  <a:schemeClr val="bg1"/>
                </a:solidFill>
              </a:rPr>
              <a:t>tbody</a:t>
            </a:r>
            <a:r>
              <a:rPr lang="ru-RU" sz="2000" dirty="0">
                <a:solidFill>
                  <a:schemeClr val="bg1"/>
                </a:solidFill>
              </a:rPr>
              <a:t>&gt; внутри контейнера &lt;</a:t>
            </a:r>
            <a:r>
              <a:rPr lang="ru-RU" sz="2000" dirty="0" err="1">
                <a:solidFill>
                  <a:schemeClr val="bg1"/>
                </a:solidFill>
              </a:rPr>
              <a:t>table</a:t>
            </a:r>
            <a:r>
              <a:rPr lang="ru-RU" sz="2000" dirty="0">
                <a:solidFill>
                  <a:schemeClr val="bg1"/>
                </a:solidFill>
              </a:rPr>
              <a:t>&gt;. 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Доступны и другие виды группировок строк — &lt;</a:t>
            </a:r>
            <a:r>
              <a:rPr lang="ru-RU" sz="2000" dirty="0" err="1">
                <a:solidFill>
                  <a:schemeClr val="bg1"/>
                </a:solidFill>
              </a:rPr>
              <a:t>tfoot</a:t>
            </a:r>
            <a:r>
              <a:rPr lang="ru-RU" sz="2000" dirty="0">
                <a:solidFill>
                  <a:schemeClr val="bg1"/>
                </a:solidFill>
              </a:rPr>
              <a:t>&gt; и &lt;</a:t>
            </a:r>
            <a:r>
              <a:rPr lang="ru-RU" sz="2000" dirty="0" err="1">
                <a:solidFill>
                  <a:schemeClr val="bg1"/>
                </a:solidFill>
              </a:rPr>
              <a:t>thead</a:t>
            </a:r>
            <a:r>
              <a:rPr lang="ru-RU" sz="2000" dirty="0">
                <a:solidFill>
                  <a:schemeClr val="bg1"/>
                </a:solidFill>
              </a:rPr>
              <a:t>&gt;, ни один из них не должен перекрываться с элементом &lt;</a:t>
            </a:r>
            <a:r>
              <a:rPr lang="ru-RU" sz="2000" dirty="0" err="1">
                <a:solidFill>
                  <a:schemeClr val="bg1"/>
                </a:solidFill>
              </a:rPr>
              <a:t>tbody</a:t>
            </a:r>
            <a:r>
              <a:rPr lang="ru-RU" sz="2000" dirty="0">
                <a:solidFill>
                  <a:schemeClr val="bg1"/>
                </a:solidFill>
              </a:rPr>
              <a:t>&gt;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0000FF"/>
                </a:solidFill>
              </a:rPr>
              <a:t>&lt;/</a:t>
            </a:r>
            <a:r>
              <a:rPr lang="en-US" sz="4000" b="1" dirty="0" err="1">
                <a:solidFill>
                  <a:srgbClr val="0000FF"/>
                </a:solidFill>
              </a:rPr>
              <a:t>tbody</a:t>
            </a:r>
            <a:r>
              <a:rPr lang="en-US" sz="4000" b="1" dirty="0">
                <a:solidFill>
                  <a:srgbClr val="0000FF"/>
                </a:solidFill>
              </a:rPr>
              <a:t>&gt;</a:t>
            </a:r>
            <a:endParaRPr lang="en-US" sz="4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7030A0"/>
                </a:solidFill>
              </a:rPr>
              <a:t>&lt;</a:t>
            </a:r>
            <a:r>
              <a:rPr lang="en-US" sz="4000" b="1" dirty="0" err="1">
                <a:solidFill>
                  <a:srgbClr val="7030A0"/>
                </a:solidFill>
              </a:rPr>
              <a:t>tr</a:t>
            </a:r>
            <a:r>
              <a:rPr lang="en-US" sz="4000" b="1" dirty="0">
                <a:solidFill>
                  <a:srgbClr val="7030A0"/>
                </a:solidFill>
              </a:rPr>
              <a:t>&gt;</a:t>
            </a:r>
            <a:endParaRPr lang="en-US" sz="4000" b="1" dirty="0">
              <a:solidFill>
                <a:srgbClr val="FF0000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Строки или ряды таблицы создаются с помощью тега &lt;</a:t>
            </a:r>
            <a:r>
              <a:rPr lang="ru-RU" sz="2000" dirty="0" err="1">
                <a:solidFill>
                  <a:schemeClr val="bg1"/>
                </a:solidFill>
              </a:rPr>
              <a:t>tr</a:t>
            </a:r>
            <a:r>
              <a:rPr lang="ru-RU" sz="2000" dirty="0">
                <a:solidFill>
                  <a:schemeClr val="bg1"/>
                </a:solidFill>
              </a:rPr>
              <a:t>&gt;. Количество горизонтальных строк таблицы определяется количеством парных тегов &lt;</a:t>
            </a:r>
            <a:r>
              <a:rPr lang="ru-RU" sz="2000" dirty="0" err="1">
                <a:solidFill>
                  <a:schemeClr val="bg1"/>
                </a:solidFill>
              </a:rPr>
              <a:t>tr</a:t>
            </a:r>
            <a:r>
              <a:rPr lang="ru-RU" sz="2000" dirty="0">
                <a:solidFill>
                  <a:schemeClr val="bg1"/>
                </a:solidFill>
              </a:rPr>
              <a:t>&gt;&lt;/</a:t>
            </a:r>
            <a:r>
              <a:rPr lang="ru-RU" sz="2000" dirty="0" err="1">
                <a:solidFill>
                  <a:schemeClr val="bg1"/>
                </a:solidFill>
              </a:rPr>
              <a:t>tr</a:t>
            </a:r>
            <a:r>
              <a:rPr lang="ru-RU" sz="2000" dirty="0">
                <a:solidFill>
                  <a:schemeClr val="bg1"/>
                </a:solidFill>
              </a:rPr>
              <a:t>&gt;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7030A0"/>
                </a:solidFill>
              </a:rPr>
              <a:t>&lt;/</a:t>
            </a:r>
            <a:r>
              <a:rPr lang="en-US" sz="4000" b="1" dirty="0" err="1">
                <a:solidFill>
                  <a:srgbClr val="7030A0"/>
                </a:solidFill>
              </a:rPr>
              <a:t>tr</a:t>
            </a:r>
            <a:r>
              <a:rPr lang="en-US" sz="4000" b="1" dirty="0">
                <a:solidFill>
                  <a:srgbClr val="7030A0"/>
                </a:solidFill>
              </a:rPr>
              <a:t>&gt;</a:t>
            </a:r>
            <a:endParaRPr lang="en-US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195736" y="2924944"/>
          <a:ext cx="6096000" cy="111252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639729"/>
                </a:solidFill>
              </a:rPr>
              <a:t>&lt;td&gt;</a:t>
            </a:r>
            <a:endParaRPr lang="en-US" sz="4000" b="1" dirty="0">
              <a:solidFill>
                <a:srgbClr val="FF0000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Элемент &lt;</a:t>
            </a:r>
            <a:r>
              <a:rPr lang="ru-RU" sz="2000" dirty="0" err="1">
                <a:solidFill>
                  <a:schemeClr val="bg1"/>
                </a:solidFill>
              </a:rPr>
              <a:t>td</a:t>
            </a:r>
            <a:r>
              <a:rPr lang="ru-RU" sz="2000" dirty="0">
                <a:solidFill>
                  <a:schemeClr val="bg1"/>
                </a:solidFill>
              </a:rPr>
              <a:t>&gt; создаёт ячейки таблицы, внутрь которых помещаются данные таблицы. Парные теги &lt;</a:t>
            </a:r>
            <a:r>
              <a:rPr lang="ru-RU" sz="2000" dirty="0" err="1">
                <a:solidFill>
                  <a:schemeClr val="bg1"/>
                </a:solidFill>
              </a:rPr>
              <a:t>td</a:t>
            </a:r>
            <a:r>
              <a:rPr lang="ru-RU" sz="2000" dirty="0">
                <a:solidFill>
                  <a:schemeClr val="bg1"/>
                </a:solidFill>
              </a:rPr>
              <a:t>&gt;&lt;/</a:t>
            </a:r>
            <a:r>
              <a:rPr lang="ru-RU" sz="2000" dirty="0" err="1">
                <a:solidFill>
                  <a:schemeClr val="bg1"/>
                </a:solidFill>
              </a:rPr>
              <a:t>td</a:t>
            </a:r>
            <a:r>
              <a:rPr lang="ru-RU" sz="2000" dirty="0">
                <a:solidFill>
                  <a:schemeClr val="bg1"/>
                </a:solidFill>
              </a:rPr>
              <a:t>&gt;, расположенные в одном ряду, определяют количество ячеек в строке таблицы. Количество пар ячеек &lt;</a:t>
            </a:r>
            <a:r>
              <a:rPr lang="ru-RU" sz="2000" dirty="0" err="1">
                <a:solidFill>
                  <a:schemeClr val="bg1"/>
                </a:solidFill>
              </a:rPr>
              <a:t>td</a:t>
            </a:r>
            <a:r>
              <a:rPr lang="ru-RU" sz="2000" dirty="0">
                <a:solidFill>
                  <a:schemeClr val="bg1"/>
                </a:solidFill>
              </a:rPr>
              <a:t>&gt; должно быть равно количеству пар ячеек &lt;</a:t>
            </a:r>
            <a:r>
              <a:rPr lang="ru-RU" sz="2000" dirty="0" err="1">
                <a:solidFill>
                  <a:schemeClr val="bg1"/>
                </a:solidFill>
              </a:rPr>
              <a:t>th</a:t>
            </a:r>
            <a:r>
              <a:rPr lang="ru-RU" sz="2000" dirty="0">
                <a:solidFill>
                  <a:schemeClr val="bg1"/>
                </a:solidFill>
              </a:rPr>
              <a:t>&gt;. Для элемента доступны атрибуты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ru-RU" sz="2000" dirty="0">
                <a:solidFill>
                  <a:schemeClr val="bg1"/>
                </a:solidFill>
              </a:rPr>
              <a:t>, </a:t>
            </a:r>
            <a:r>
              <a:rPr lang="ru-RU" sz="2000" dirty="0" err="1">
                <a:solidFill>
                  <a:schemeClr val="bg1"/>
                </a:solidFill>
              </a:rPr>
              <a:t>rowspan</a:t>
            </a:r>
            <a:r>
              <a:rPr lang="ru-RU" sz="2000" dirty="0">
                <a:solidFill>
                  <a:schemeClr val="bg1"/>
                </a:solidFill>
              </a:rPr>
              <a:t>, </a:t>
            </a:r>
            <a:r>
              <a:rPr lang="ru-RU" sz="2000" dirty="0" err="1">
                <a:solidFill>
                  <a:schemeClr val="bg1"/>
                </a:solidFill>
              </a:rPr>
              <a:t>headers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639729"/>
                </a:solidFill>
              </a:rPr>
              <a:t>&lt;/td&gt;</a:t>
            </a:r>
            <a:endParaRPr lang="en-US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2339752" y="3645024"/>
          <a:ext cx="6096000" cy="37084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655564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&lt;</a:t>
            </a:r>
            <a:r>
              <a:rPr lang="en-US" sz="4000" b="1" dirty="0" err="1">
                <a:solidFill>
                  <a:schemeClr val="bg1"/>
                </a:solidFill>
              </a:rPr>
              <a:t>th</a:t>
            </a:r>
            <a:r>
              <a:rPr lang="en-US" sz="4000" b="1" dirty="0">
                <a:solidFill>
                  <a:schemeClr val="bg1"/>
                </a:solidFill>
              </a:rPr>
              <a:t>&gt;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Элемент &lt;</a:t>
            </a:r>
            <a:r>
              <a:rPr lang="ru-RU" sz="2000" dirty="0" err="1">
                <a:solidFill>
                  <a:schemeClr val="bg1"/>
                </a:solidFill>
              </a:rPr>
              <a:t>th</a:t>
            </a:r>
            <a:r>
              <a:rPr lang="ru-RU" sz="2000" dirty="0">
                <a:solidFill>
                  <a:schemeClr val="bg1"/>
                </a:solidFill>
              </a:rPr>
              <a:t>&gt; создаёт заголовок столбца — специальную ячейку, текст в которой выделяется полужирным. Количество ячеек заголовка определяется количеством пар тегов &lt;</a:t>
            </a:r>
            <a:r>
              <a:rPr lang="ru-RU" sz="2000" dirty="0" err="1">
                <a:solidFill>
                  <a:schemeClr val="bg1"/>
                </a:solidFill>
              </a:rPr>
              <a:t>th</a:t>
            </a:r>
            <a:r>
              <a:rPr lang="ru-RU" sz="2000" dirty="0">
                <a:solidFill>
                  <a:schemeClr val="bg1"/>
                </a:solidFill>
              </a:rPr>
              <a:t>&gt;&lt;/</a:t>
            </a:r>
            <a:r>
              <a:rPr lang="ru-RU" sz="2000" dirty="0" err="1">
                <a:solidFill>
                  <a:schemeClr val="bg1"/>
                </a:solidFill>
              </a:rPr>
              <a:t>th</a:t>
            </a:r>
            <a:r>
              <a:rPr lang="ru-RU" sz="2000" dirty="0">
                <a:solidFill>
                  <a:schemeClr val="bg1"/>
                </a:solidFill>
              </a:rPr>
              <a:t>&gt;. Для элемента доступны атрибуты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ru-RU" sz="2000" dirty="0">
                <a:solidFill>
                  <a:schemeClr val="bg1"/>
                </a:solidFill>
              </a:rPr>
              <a:t>, </a:t>
            </a:r>
            <a:r>
              <a:rPr lang="ru-RU" sz="2000" dirty="0" err="1">
                <a:solidFill>
                  <a:schemeClr val="bg1"/>
                </a:solidFill>
              </a:rPr>
              <a:t>rowspan</a:t>
            </a:r>
            <a:r>
              <a:rPr lang="ru-RU" sz="2000" dirty="0">
                <a:solidFill>
                  <a:schemeClr val="bg1"/>
                </a:solidFill>
              </a:rPr>
              <a:t>, </a:t>
            </a:r>
            <a:r>
              <a:rPr lang="ru-RU" sz="2000" dirty="0" err="1">
                <a:solidFill>
                  <a:schemeClr val="bg1"/>
                </a:solidFill>
              </a:rPr>
              <a:t>headers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b="1" u="sng" dirty="0">
                <a:solidFill>
                  <a:schemeClr val="bg1"/>
                </a:solidFill>
              </a:rPr>
              <a:t>Количество тегов </a:t>
            </a:r>
            <a:r>
              <a:rPr lang="en-US" sz="2000" b="1" u="sng" dirty="0" err="1">
                <a:solidFill>
                  <a:schemeClr val="bg1"/>
                </a:solidFill>
              </a:rPr>
              <a:t>th</a:t>
            </a:r>
            <a:r>
              <a:rPr lang="en-US" sz="2000" b="1" u="sng" dirty="0">
                <a:solidFill>
                  <a:schemeClr val="bg1"/>
                </a:solidFill>
              </a:rPr>
              <a:t> </a:t>
            </a:r>
            <a:r>
              <a:rPr lang="ru-RU" sz="2000" b="1" u="sng" dirty="0">
                <a:solidFill>
                  <a:schemeClr val="bg1"/>
                </a:solidFill>
              </a:rPr>
              <a:t>обязательно равно количеству тегов </a:t>
            </a:r>
            <a:r>
              <a:rPr lang="en-US" sz="2000" b="1" u="sng" dirty="0">
                <a:solidFill>
                  <a:schemeClr val="bg1"/>
                </a:solidFill>
              </a:rPr>
              <a:t>td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chemeClr val="bg1"/>
                </a:solidFill>
              </a:rPr>
              <a:t>&lt;/</a:t>
            </a:r>
            <a:r>
              <a:rPr lang="en-US" sz="4000" b="1" dirty="0" err="1">
                <a:solidFill>
                  <a:schemeClr val="bg1"/>
                </a:solidFill>
              </a:rPr>
              <a:t>th</a:t>
            </a:r>
            <a:r>
              <a:rPr lang="en-US" sz="4000" b="1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&lt;table&gt;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ячейка заголовка&lt;/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ячейка заголовка&lt;/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тела таблицы&lt;/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тела таблицы&lt;/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&lt;/table&gt;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55707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&lt;table&gt;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У данного тега есть несколько свойств – 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 border="</a:t>
            </a:r>
            <a:r>
              <a:rPr lang="ru-RU" sz="2000" b="1" dirty="0">
                <a:solidFill>
                  <a:schemeClr val="bg1"/>
                </a:solidFill>
              </a:rPr>
              <a:t>толщина"&gt;...&lt;/</a:t>
            </a:r>
            <a:r>
              <a:rPr lang="en-US" sz="2000" b="1" dirty="0">
                <a:solidFill>
                  <a:schemeClr val="bg1"/>
                </a:solidFill>
              </a:rPr>
              <a:t>table&gt;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Устанавливает толщину рамки в </a:t>
            </a:r>
            <a:r>
              <a:rPr lang="ru-RU" sz="2000" dirty="0" err="1">
                <a:solidFill>
                  <a:schemeClr val="bg1"/>
                </a:solidFill>
              </a:rPr>
              <a:t>пикселах</a:t>
            </a:r>
            <a:r>
              <a:rPr lang="ru-RU" sz="2000" dirty="0">
                <a:solidFill>
                  <a:schemeClr val="bg1"/>
                </a:solidFill>
              </a:rPr>
              <a:t>. По умолчанию рамка изображается трехмерной, но если используется атрибут </a:t>
            </a:r>
            <a:r>
              <a:rPr lang="ru-RU" sz="2000" dirty="0" err="1">
                <a:solidFill>
                  <a:schemeClr val="bg1"/>
                </a:solidFill>
              </a:rPr>
              <a:t>bordercolor</a:t>
            </a:r>
            <a:r>
              <a:rPr lang="ru-RU" sz="2000" dirty="0">
                <a:solidFill>
                  <a:schemeClr val="bg1"/>
                </a:solidFill>
              </a:rPr>
              <a:t> тега &lt;</a:t>
            </a:r>
            <a:r>
              <a:rPr lang="ru-RU" sz="2000" dirty="0" err="1">
                <a:solidFill>
                  <a:schemeClr val="bg1"/>
                </a:solidFill>
              </a:rPr>
              <a:t>table</a:t>
            </a:r>
            <a:r>
              <a:rPr lang="ru-RU" sz="2000" dirty="0">
                <a:solidFill>
                  <a:schemeClr val="bg1"/>
                </a:solidFill>
              </a:rPr>
              <a:t>&gt;, то вид рамки меняется в зависимости от браузера. Когда в теге &lt;</a:t>
            </a:r>
            <a:r>
              <a:rPr lang="ru-RU" sz="2000" dirty="0" err="1">
                <a:solidFill>
                  <a:schemeClr val="bg1"/>
                </a:solidFill>
              </a:rPr>
              <a:t>table</a:t>
            </a:r>
            <a:r>
              <a:rPr lang="ru-RU" sz="2000" dirty="0">
                <a:solidFill>
                  <a:schemeClr val="bg1"/>
                </a:solidFill>
              </a:rPr>
              <a:t>&gt; используется атрибут </a:t>
            </a:r>
            <a:r>
              <a:rPr lang="ru-RU" sz="2000" dirty="0" err="1">
                <a:solidFill>
                  <a:schemeClr val="bg1"/>
                </a:solidFill>
              </a:rPr>
              <a:t>border</a:t>
            </a:r>
            <a:r>
              <a:rPr lang="ru-RU" sz="2000" dirty="0">
                <a:solidFill>
                  <a:schemeClr val="bg1"/>
                </a:solidFill>
              </a:rPr>
              <a:t> без значений (&lt;</a:t>
            </a:r>
            <a:r>
              <a:rPr lang="ru-RU" sz="2000" dirty="0" err="1">
                <a:solidFill>
                  <a:schemeClr val="bg1"/>
                </a:solidFill>
              </a:rPr>
              <a:t>table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border</a:t>
            </a:r>
            <a:r>
              <a:rPr lang="ru-RU" sz="2000" dirty="0">
                <a:solidFill>
                  <a:schemeClr val="bg1"/>
                </a:solidFill>
              </a:rPr>
              <a:t>&gt;), то браузер отображает рамку толщиной один </a:t>
            </a:r>
            <a:r>
              <a:rPr lang="ru-RU" sz="2000" dirty="0" err="1">
                <a:solidFill>
                  <a:schemeClr val="bg1"/>
                </a:solidFill>
              </a:rPr>
              <a:t>пиксел</a:t>
            </a:r>
            <a:r>
              <a:rPr lang="ru-RU" sz="2000" dirty="0">
                <a:solidFill>
                  <a:schemeClr val="bg1"/>
                </a:solidFill>
              </a:rPr>
              <a:t>. </a:t>
            </a:r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- </a:t>
            </a:r>
            <a:r>
              <a:rPr lang="en-US" sz="2000" b="1" dirty="0">
                <a:solidFill>
                  <a:schemeClr val="bg1"/>
                </a:solidFill>
              </a:rPr>
              <a:t>border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 </a:t>
            </a:r>
            <a:r>
              <a:rPr lang="en-US" sz="2000" b="1" dirty="0" err="1">
                <a:solidFill>
                  <a:schemeClr val="bg1"/>
                </a:solidFill>
              </a:rPr>
              <a:t>cellspacing</a:t>
            </a:r>
            <a:r>
              <a:rPr lang="en-US" sz="2000" b="1" dirty="0">
                <a:solidFill>
                  <a:schemeClr val="bg1"/>
                </a:solidFill>
              </a:rPr>
              <a:t>="</a:t>
            </a:r>
            <a:r>
              <a:rPr lang="ru-RU" sz="2000" b="1" dirty="0">
                <a:solidFill>
                  <a:schemeClr val="bg1"/>
                </a:solidFill>
              </a:rPr>
              <a:t>значение"&gt;...&lt;/</a:t>
            </a:r>
            <a:r>
              <a:rPr lang="en-US" sz="2000" b="1" dirty="0">
                <a:solidFill>
                  <a:schemeClr val="bg1"/>
                </a:solidFill>
              </a:rPr>
              <a:t>table&gt;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</a:p>
          <a:p>
            <a:r>
              <a:rPr lang="ru-RU" sz="2000" dirty="0">
                <a:solidFill>
                  <a:schemeClr val="bg1"/>
                </a:solidFill>
              </a:rPr>
              <a:t>Задает расстояние между внешними границами ячеек. </a:t>
            </a:r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- </a:t>
            </a:r>
            <a:r>
              <a:rPr lang="en-US" sz="2000" b="1" dirty="0">
                <a:solidFill>
                  <a:schemeClr val="bg1"/>
                </a:solidFill>
              </a:rPr>
              <a:t>border-spacing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1600" b="1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FF0000"/>
                </a:solidFill>
              </a:rPr>
              <a:t>&lt;/table&gt;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624786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&lt;table&gt;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 </a:t>
            </a:r>
            <a:r>
              <a:rPr lang="en-US" sz="2000" b="1" dirty="0" err="1">
                <a:solidFill>
                  <a:schemeClr val="bg1"/>
                </a:solidFill>
              </a:rPr>
              <a:t>cellpadding</a:t>
            </a:r>
            <a:r>
              <a:rPr lang="en-US" sz="2000" b="1" dirty="0">
                <a:solidFill>
                  <a:schemeClr val="bg1"/>
                </a:solidFill>
              </a:rPr>
              <a:t>="</a:t>
            </a:r>
            <a:r>
              <a:rPr lang="ru-RU" sz="2000" b="1" dirty="0">
                <a:solidFill>
                  <a:schemeClr val="bg1"/>
                </a:solidFill>
              </a:rPr>
              <a:t>значение"&gt;...&lt;/</a:t>
            </a:r>
            <a:r>
              <a:rPr lang="en-US" sz="2000" b="1" dirty="0">
                <a:solidFill>
                  <a:schemeClr val="bg1"/>
                </a:solidFill>
              </a:rPr>
              <a:t>table&gt;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Определяет расстояние между границей ячейки и ее содержимым. Этот атрибут добавляет пустое пространство к ячейке, увеличивая тем самым ее размеры. Без </a:t>
            </a:r>
            <a:r>
              <a:rPr lang="ru-RU" sz="2000" dirty="0" err="1">
                <a:solidFill>
                  <a:schemeClr val="bg1"/>
                </a:solidFill>
              </a:rPr>
              <a:t>cellpadding</a:t>
            </a:r>
            <a:r>
              <a:rPr lang="ru-RU" sz="2000" dirty="0">
                <a:solidFill>
                  <a:schemeClr val="bg1"/>
                </a:solidFill>
              </a:rPr>
              <a:t> текст в таблице «налипает» на рамку, снижая тем самым его восприятие. Добавление же </a:t>
            </a:r>
            <a:r>
              <a:rPr lang="ru-RU" sz="2000" dirty="0" err="1">
                <a:solidFill>
                  <a:schemeClr val="bg1"/>
                </a:solidFill>
              </a:rPr>
              <a:t>cellpadding</a:t>
            </a:r>
            <a:r>
              <a:rPr lang="ru-RU" sz="2000" dirty="0">
                <a:solidFill>
                  <a:schemeClr val="bg1"/>
                </a:solidFill>
              </a:rPr>
              <a:t> позволяет улучшить читабельность текста. При отсутствии границ особого значения этот атрибут не имеет, но может помочь, когда требуется установить пустой промежуток между ячейками. 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– </a:t>
            </a:r>
            <a:r>
              <a:rPr lang="en-US" sz="2000" b="1" dirty="0">
                <a:solidFill>
                  <a:schemeClr val="bg1"/>
                </a:solidFill>
              </a:rPr>
              <a:t>padding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  width="</a:t>
            </a:r>
            <a:r>
              <a:rPr lang="ru-RU" sz="2000" b="1" dirty="0">
                <a:solidFill>
                  <a:schemeClr val="bg1"/>
                </a:solidFill>
              </a:rPr>
              <a:t>значение"</a:t>
            </a:r>
            <a:r>
              <a:rPr lang="en-US" sz="2000" b="1" dirty="0">
                <a:solidFill>
                  <a:schemeClr val="bg1"/>
                </a:solidFill>
              </a:rPr>
              <a:t>  height ="</a:t>
            </a:r>
            <a:r>
              <a:rPr lang="ru-RU" sz="2000" b="1" dirty="0">
                <a:solidFill>
                  <a:schemeClr val="bg1"/>
                </a:solidFill>
              </a:rPr>
              <a:t>значение"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ru-RU" sz="2000" b="1" dirty="0">
                <a:solidFill>
                  <a:schemeClr val="bg1"/>
                </a:solidFill>
              </a:rPr>
              <a:t>&gt;...&lt;/</a:t>
            </a:r>
            <a:r>
              <a:rPr lang="en-US" sz="2000" b="1" dirty="0">
                <a:solidFill>
                  <a:schemeClr val="bg1"/>
                </a:solidFill>
              </a:rPr>
              <a:t>table&gt;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– </a:t>
            </a:r>
            <a:r>
              <a:rPr lang="en-US" sz="2000" b="1" dirty="0">
                <a:solidFill>
                  <a:schemeClr val="bg1"/>
                </a:solidFill>
              </a:rPr>
              <a:t>width </a:t>
            </a:r>
            <a:r>
              <a:rPr lang="ru-RU" sz="2000" b="1" dirty="0">
                <a:solidFill>
                  <a:schemeClr val="bg1"/>
                </a:solidFill>
              </a:rPr>
              <a:t>и </a:t>
            </a:r>
            <a:r>
              <a:rPr lang="en-US" sz="2000" b="1" dirty="0">
                <a:solidFill>
                  <a:schemeClr val="bg1"/>
                </a:solidFill>
              </a:rPr>
              <a:t>height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FF0000"/>
                </a:solidFill>
              </a:rPr>
              <a:t>&lt;/table&gt;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&lt;table&gt;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 align="</a:t>
            </a:r>
            <a:r>
              <a:rPr lang="ru-RU" sz="2000" b="1" dirty="0">
                <a:solidFill>
                  <a:schemeClr val="bg1"/>
                </a:solidFill>
              </a:rPr>
              <a:t>Значение</a:t>
            </a:r>
            <a:r>
              <a:rPr lang="en-US" sz="2000" b="1" dirty="0">
                <a:solidFill>
                  <a:schemeClr val="bg1"/>
                </a:solidFill>
              </a:rPr>
              <a:t>"&gt;</a:t>
            </a:r>
          </a:p>
          <a:p>
            <a:r>
              <a:rPr lang="ru-RU" sz="2000" dirty="0">
                <a:solidFill>
                  <a:schemeClr val="bg1"/>
                </a:solidFill>
              </a:rPr>
              <a:t>Выравнивание таблицы по краям </a:t>
            </a:r>
            <a:r>
              <a:rPr lang="en-US" sz="2000" dirty="0">
                <a:solidFill>
                  <a:schemeClr val="bg1"/>
                </a:solidFill>
              </a:rPr>
              <a:t>left</a:t>
            </a:r>
            <a:r>
              <a:rPr lang="ru-RU" sz="2000" dirty="0">
                <a:solidFill>
                  <a:schemeClr val="bg1"/>
                </a:solidFill>
              </a:rPr>
              <a:t>, </a:t>
            </a:r>
            <a:r>
              <a:rPr lang="en-US" sz="2000" dirty="0">
                <a:solidFill>
                  <a:schemeClr val="bg1"/>
                </a:solidFill>
              </a:rPr>
              <a:t>right</a:t>
            </a: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 align="center“&gt;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Выравнивание таблицы по центру страницы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– </a:t>
            </a:r>
            <a:r>
              <a:rPr lang="en-US" sz="2000" b="1" dirty="0">
                <a:solidFill>
                  <a:schemeClr val="bg1"/>
                </a:solidFill>
              </a:rPr>
              <a:t>margin: 0 auto;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&lt;table  width="</a:t>
            </a:r>
            <a:r>
              <a:rPr lang="ru-RU" sz="2000" b="1" dirty="0">
                <a:solidFill>
                  <a:schemeClr val="bg1"/>
                </a:solidFill>
              </a:rPr>
              <a:t>значение"</a:t>
            </a:r>
            <a:r>
              <a:rPr lang="en-US" sz="2000" b="1" dirty="0">
                <a:solidFill>
                  <a:schemeClr val="bg1"/>
                </a:solidFill>
              </a:rPr>
              <a:t>  height ="</a:t>
            </a:r>
            <a:r>
              <a:rPr lang="ru-RU" sz="2000" b="1" dirty="0">
                <a:solidFill>
                  <a:schemeClr val="bg1"/>
                </a:solidFill>
              </a:rPr>
              <a:t>значение"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ru-RU" sz="2000" b="1" dirty="0">
                <a:solidFill>
                  <a:schemeClr val="bg1"/>
                </a:solidFill>
              </a:rPr>
              <a:t>&gt;...&lt;/</a:t>
            </a:r>
            <a:r>
              <a:rPr lang="en-US" sz="2000" b="1" dirty="0">
                <a:solidFill>
                  <a:schemeClr val="bg1"/>
                </a:solidFill>
              </a:rPr>
              <a:t>table&gt;</a:t>
            </a:r>
          </a:p>
          <a:p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>
                <a:solidFill>
                  <a:schemeClr val="bg1"/>
                </a:solidFill>
              </a:rPr>
              <a:t>CSS</a:t>
            </a:r>
            <a:r>
              <a:rPr lang="ru-RU" sz="2000" b="1" dirty="0">
                <a:solidFill>
                  <a:schemeClr val="bg1"/>
                </a:solidFill>
              </a:rPr>
              <a:t> – </a:t>
            </a:r>
            <a:r>
              <a:rPr lang="en-US" sz="2000" b="1" dirty="0">
                <a:solidFill>
                  <a:schemeClr val="bg1"/>
                </a:solidFill>
              </a:rPr>
              <a:t>width </a:t>
            </a:r>
            <a:r>
              <a:rPr lang="ru-RU" sz="2000" b="1" dirty="0">
                <a:solidFill>
                  <a:schemeClr val="bg1"/>
                </a:solidFill>
              </a:rPr>
              <a:t>и </a:t>
            </a:r>
            <a:r>
              <a:rPr lang="en-US" sz="2000" b="1" dirty="0">
                <a:solidFill>
                  <a:schemeClr val="bg1"/>
                </a:solidFill>
              </a:rPr>
              <a:t>height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FF0000"/>
                </a:solidFill>
              </a:rPr>
              <a:t>&lt;/table&gt;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9400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>
                <a:solidFill>
                  <a:srgbClr val="639729"/>
                </a:solidFill>
              </a:rPr>
              <a:t>&lt;td&gt;</a:t>
            </a:r>
            <a:endParaRPr lang="en-US" sz="4000" b="1" dirty="0">
              <a:solidFill>
                <a:srgbClr val="FF0000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Ячейке таблицы можно задать высоту и ширину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&lt;td width="</a:t>
            </a:r>
            <a:r>
              <a:rPr lang="ru-RU" sz="2000" b="1" dirty="0">
                <a:solidFill>
                  <a:schemeClr val="bg1"/>
                </a:solidFill>
              </a:rPr>
              <a:t>Значение</a:t>
            </a:r>
            <a:r>
              <a:rPr lang="en-US" sz="2000" b="1" dirty="0">
                <a:solidFill>
                  <a:schemeClr val="bg1"/>
                </a:solidFill>
              </a:rPr>
              <a:t>" height="</a:t>
            </a:r>
            <a:r>
              <a:rPr lang="ru-RU" sz="2000" b="1" dirty="0">
                <a:solidFill>
                  <a:schemeClr val="bg1"/>
                </a:solidFill>
              </a:rPr>
              <a:t>Значение</a:t>
            </a:r>
            <a:r>
              <a:rPr lang="en-US" sz="2000" b="1" dirty="0">
                <a:solidFill>
                  <a:schemeClr val="bg1"/>
                </a:solidFill>
              </a:rPr>
              <a:t>"&gt;</a:t>
            </a:r>
            <a:r>
              <a:rPr lang="ru-RU" sz="2000" b="1" dirty="0">
                <a:solidFill>
                  <a:schemeClr val="bg1"/>
                </a:solidFill>
              </a:rPr>
              <a:t>Текст</a:t>
            </a:r>
            <a:r>
              <a:rPr lang="en-US" sz="2000" b="1" dirty="0">
                <a:solidFill>
                  <a:schemeClr val="bg1"/>
                </a:solidFill>
              </a:rPr>
              <a:t>&lt;/td&gt;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Ширина </a:t>
            </a:r>
            <a:r>
              <a:rPr lang="en-US" sz="2000" b="1" dirty="0">
                <a:solidFill>
                  <a:schemeClr val="bg1"/>
                </a:solidFill>
              </a:rPr>
              <a:t>width </a:t>
            </a:r>
            <a:r>
              <a:rPr lang="ru-RU" sz="2000" b="1" dirty="0">
                <a:solidFill>
                  <a:schemeClr val="bg1"/>
                </a:solidFill>
              </a:rPr>
              <a:t>и высота </a:t>
            </a:r>
            <a:r>
              <a:rPr lang="en-US" sz="2000" b="1" dirty="0">
                <a:solidFill>
                  <a:schemeClr val="bg1"/>
                </a:solidFill>
              </a:rPr>
              <a:t>height </a:t>
            </a:r>
            <a:r>
              <a:rPr lang="ru-RU" sz="2000" b="1" dirty="0">
                <a:solidFill>
                  <a:schemeClr val="bg1"/>
                </a:solidFill>
              </a:rPr>
              <a:t>могут иметь значения в </a:t>
            </a:r>
            <a:r>
              <a:rPr lang="en-US" sz="2000" b="1" dirty="0" err="1">
                <a:solidFill>
                  <a:schemeClr val="bg1"/>
                </a:solidFill>
              </a:rPr>
              <a:t>px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ru-RU" sz="2000" b="1" dirty="0">
                <a:solidFill>
                  <a:schemeClr val="bg1"/>
                </a:solidFill>
              </a:rPr>
              <a:t>и %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Выравнивание данных в ячейке происходит с помощью свойств </a:t>
            </a:r>
            <a:r>
              <a:rPr lang="en-US" sz="2000" dirty="0">
                <a:solidFill>
                  <a:schemeClr val="bg1"/>
                </a:solidFill>
              </a:rPr>
              <a:t>align</a:t>
            </a:r>
            <a:r>
              <a:rPr lang="ru-RU" sz="2000" dirty="0">
                <a:solidFill>
                  <a:schemeClr val="bg1"/>
                </a:solidFill>
              </a:rPr>
              <a:t> и </a:t>
            </a:r>
            <a:r>
              <a:rPr lang="en-US" sz="2000" dirty="0" err="1">
                <a:solidFill>
                  <a:schemeClr val="bg1"/>
                </a:solidFill>
              </a:rPr>
              <a:t>valign</a:t>
            </a:r>
            <a:endParaRPr lang="ru-RU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&lt;td align= " center " </a:t>
            </a:r>
            <a:r>
              <a:rPr lang="en-US" sz="2000" b="1" dirty="0" err="1">
                <a:solidFill>
                  <a:schemeClr val="bg1"/>
                </a:solidFill>
              </a:rPr>
              <a:t>valign</a:t>
            </a:r>
            <a:r>
              <a:rPr lang="en-US" sz="2000" b="1" dirty="0">
                <a:solidFill>
                  <a:schemeClr val="bg1"/>
                </a:solidFill>
              </a:rPr>
              <a:t>= " center " &gt;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align = </a:t>
            </a:r>
            <a:r>
              <a:rPr lang="ru-RU" sz="2000" b="1" dirty="0">
                <a:solidFill>
                  <a:schemeClr val="bg1"/>
                </a:solidFill>
              </a:rPr>
              <a:t>выравнивание по горизонтали </a:t>
            </a:r>
            <a:r>
              <a:rPr lang="en-US" sz="2000" b="1" dirty="0">
                <a:solidFill>
                  <a:schemeClr val="bg1"/>
                </a:solidFill>
              </a:rPr>
              <a:t>left, right, center</a:t>
            </a:r>
            <a:r>
              <a:rPr lang="ru-RU" sz="2000" b="1" dirty="0">
                <a:solidFill>
                  <a:schemeClr val="bg1"/>
                </a:solidFill>
              </a:rPr>
              <a:t> – аналог </a:t>
            </a:r>
            <a:r>
              <a:rPr lang="en-US" sz="2000" b="1" dirty="0" err="1">
                <a:solidFill>
                  <a:schemeClr val="bg1"/>
                </a:solidFill>
              </a:rPr>
              <a:t>css</a:t>
            </a:r>
            <a:r>
              <a:rPr lang="en-US" sz="2000" b="1" dirty="0">
                <a:solidFill>
                  <a:schemeClr val="bg1"/>
                </a:solidFill>
              </a:rPr>
              <a:t>  - text-align</a:t>
            </a:r>
            <a:endParaRPr lang="ru-RU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 err="1">
                <a:solidFill>
                  <a:schemeClr val="bg1"/>
                </a:solidFill>
              </a:rPr>
              <a:t>valign</a:t>
            </a:r>
            <a:r>
              <a:rPr lang="en-US" sz="2000" b="1" dirty="0">
                <a:solidFill>
                  <a:schemeClr val="bg1"/>
                </a:solidFill>
              </a:rPr>
              <a:t> = </a:t>
            </a:r>
            <a:r>
              <a:rPr lang="ru-RU" sz="2000" b="1" dirty="0">
                <a:solidFill>
                  <a:schemeClr val="bg1"/>
                </a:solidFill>
              </a:rPr>
              <a:t>выравнивание по вертикали </a:t>
            </a:r>
            <a:r>
              <a:rPr lang="en-US" sz="2000" b="1" dirty="0">
                <a:solidFill>
                  <a:schemeClr val="bg1"/>
                </a:solidFill>
              </a:rPr>
              <a:t>top, center, bottom – </a:t>
            </a:r>
            <a:r>
              <a:rPr lang="ru-RU" sz="2000" b="1" dirty="0">
                <a:solidFill>
                  <a:schemeClr val="bg1"/>
                </a:solidFill>
              </a:rPr>
              <a:t>аналог </a:t>
            </a:r>
            <a:r>
              <a:rPr lang="en-US" sz="2000" b="1" dirty="0" err="1">
                <a:solidFill>
                  <a:schemeClr val="bg1"/>
                </a:solidFill>
              </a:rPr>
              <a:t>css</a:t>
            </a:r>
            <a:r>
              <a:rPr lang="en-US" sz="2000" b="1" dirty="0">
                <a:solidFill>
                  <a:schemeClr val="bg1"/>
                </a:solidFill>
              </a:rPr>
              <a:t> - vertical-align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4000" b="1" dirty="0">
                <a:solidFill>
                  <a:srgbClr val="639729"/>
                </a:solidFill>
              </a:rPr>
              <a:t>&lt;/td&gt;</a:t>
            </a:r>
            <a:endParaRPr lang="en-US" sz="4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b="1" dirty="0" err="1">
                <a:solidFill>
                  <a:srgbClr val="FF0000"/>
                </a:solidFill>
              </a:rPr>
              <a:t>css</a:t>
            </a:r>
            <a:endParaRPr lang="en-US" sz="4000" b="1" dirty="0">
              <a:solidFill>
                <a:srgbClr val="FF0000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Фон для таблицы, строчки и ячейки можно записать как</a:t>
            </a:r>
          </a:p>
          <a:p>
            <a:r>
              <a:rPr lang="ru-RU" sz="2000" dirty="0">
                <a:solidFill>
                  <a:schemeClr val="bg1"/>
                </a:solidFill>
              </a:rPr>
              <a:t>При этом если записать все 3 правила, сработает фон именно для ячейки, при этом появится рамка которая возьмет цвет фона из </a:t>
            </a:r>
            <a:r>
              <a:rPr lang="en-US" sz="2000" dirty="0">
                <a:solidFill>
                  <a:schemeClr val="bg1"/>
                </a:solidFill>
              </a:rPr>
              <a:t>table </a:t>
            </a:r>
            <a:r>
              <a:rPr lang="ru-RU" sz="2000" dirty="0">
                <a:solidFill>
                  <a:schemeClr val="bg1"/>
                </a:solidFill>
              </a:rPr>
              <a:t>и даже если тегу </a:t>
            </a:r>
            <a:r>
              <a:rPr lang="en-US" sz="2000" dirty="0">
                <a:solidFill>
                  <a:schemeClr val="bg1"/>
                </a:solidFill>
              </a:rPr>
              <a:t>table </a:t>
            </a:r>
            <a:r>
              <a:rPr lang="ru-RU" sz="2000" dirty="0">
                <a:solidFill>
                  <a:schemeClr val="bg1"/>
                </a:solidFill>
              </a:rPr>
              <a:t>прописать</a:t>
            </a:r>
            <a:r>
              <a:rPr lang="en-US" sz="2000" dirty="0">
                <a:solidFill>
                  <a:schemeClr val="bg1"/>
                </a:solidFill>
              </a:rPr>
              <a:t> border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table{</a:t>
            </a:r>
            <a:r>
              <a:rPr lang="en-US" sz="2000" dirty="0" err="1">
                <a:solidFill>
                  <a:schemeClr val="bg1"/>
                </a:solidFill>
              </a:rPr>
              <a:t>background-color:red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>
                <a:solidFill>
                  <a:schemeClr val="bg1"/>
                </a:solidFill>
              </a:rPr>
              <a:t>tr {</a:t>
            </a:r>
            <a:r>
              <a:rPr lang="en-US" sz="2000" dirty="0" err="1">
                <a:solidFill>
                  <a:schemeClr val="bg1"/>
                </a:solidFill>
              </a:rPr>
              <a:t>background-color:black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>
                <a:solidFill>
                  <a:schemeClr val="bg1"/>
                </a:solidFill>
              </a:rPr>
              <a:t>td {</a:t>
            </a:r>
            <a:r>
              <a:rPr lang="en-US" sz="2000" dirty="0" err="1">
                <a:solidFill>
                  <a:schemeClr val="bg1"/>
                </a:solidFill>
              </a:rPr>
              <a:t>background-color:green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Что бы убрать двойную рамку нужно прописать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для </a:t>
            </a:r>
            <a:r>
              <a:rPr lang="en-US" sz="2000" dirty="0">
                <a:solidFill>
                  <a:schemeClr val="bg1"/>
                </a:solidFill>
              </a:rPr>
              <a:t>table </a:t>
            </a:r>
            <a:r>
              <a:rPr lang="ru-RU" sz="2000" dirty="0">
                <a:solidFill>
                  <a:schemeClr val="bg1"/>
                </a:solidFill>
              </a:rPr>
              <a:t>правило </a:t>
            </a:r>
            <a:r>
              <a:rPr lang="en-US" sz="2000" dirty="0">
                <a:solidFill>
                  <a:schemeClr val="bg1"/>
                </a:solidFill>
              </a:rPr>
              <a:t>border-collapse: collapse;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200" b="1" dirty="0">
                <a:solidFill>
                  <a:schemeClr val="accent1">
                    <a:lumMod val="75000"/>
                  </a:schemeClr>
                </a:solidFill>
              </a:rPr>
              <a:t>Использование изображений в качестве фона таблицы</a:t>
            </a:r>
            <a:endParaRPr lang="en-US" sz="4000" b="1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table{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background: </a:t>
            </a:r>
            <a:r>
              <a:rPr lang="en-US" sz="2000" dirty="0" err="1">
                <a:solidFill>
                  <a:schemeClr val="bg1"/>
                </a:solidFill>
              </a:rPr>
              <a:t>url</a:t>
            </a:r>
            <a:r>
              <a:rPr lang="en-US" sz="2000" dirty="0">
                <a:solidFill>
                  <a:schemeClr val="bg1"/>
                </a:solidFill>
              </a:rPr>
              <a:t>(https://etikket.ru/images/povsednevnii-etiket/etiket-na-ulitse1.jpg);</a:t>
            </a:r>
          </a:p>
          <a:p>
            <a:r>
              <a:rPr lang="en-US" sz="2000" dirty="0">
                <a:solidFill>
                  <a:schemeClr val="bg1"/>
                </a:solidFill>
              </a:rPr>
              <a:t>background-size: 100%;</a:t>
            </a:r>
          </a:p>
          <a:p>
            <a:r>
              <a:rPr lang="en-US" sz="2000" dirty="0">
                <a:solidFill>
                  <a:schemeClr val="bg1"/>
                </a:solidFill>
              </a:rPr>
              <a:t>background-attachment: fixed;}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Также фон можно установить для строк и ячейки отдельно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 (td){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background: </a:t>
            </a:r>
            <a:r>
              <a:rPr lang="en-US" sz="2000" dirty="0" err="1">
                <a:solidFill>
                  <a:schemeClr val="bg1"/>
                </a:solidFill>
              </a:rPr>
              <a:t>url</a:t>
            </a:r>
            <a:r>
              <a:rPr lang="en-US" sz="2000" dirty="0">
                <a:solidFill>
                  <a:schemeClr val="bg1"/>
                </a:solidFill>
              </a:rPr>
              <a:t>(https://etikket.ru/images/povsednevnii-etiket/etiket-na-ulitse1.jpg);</a:t>
            </a:r>
          </a:p>
          <a:p>
            <a:r>
              <a:rPr lang="en-US" sz="2000" dirty="0">
                <a:solidFill>
                  <a:schemeClr val="bg1"/>
                </a:solidFill>
              </a:rPr>
              <a:t>background-size: 100%;</a:t>
            </a:r>
          </a:p>
          <a:p>
            <a:r>
              <a:rPr lang="en-US" sz="2000" dirty="0">
                <a:solidFill>
                  <a:schemeClr val="bg1"/>
                </a:solidFill>
              </a:rPr>
              <a:t>background-attachment: fixed;}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477053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3200" b="1" dirty="0">
                <a:solidFill>
                  <a:schemeClr val="accent1">
                    <a:lumMod val="75000"/>
                  </a:schemeClr>
                </a:solidFill>
              </a:rPr>
              <a:t>Фон для каждой 2 строчки или 4 строчки или ячейки</a:t>
            </a:r>
            <a:endParaRPr lang="en-US" sz="4000" b="1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tr:nth</a:t>
            </a:r>
            <a:r>
              <a:rPr lang="en-US" sz="2000" dirty="0">
                <a:solidFill>
                  <a:schemeClr val="bg1"/>
                </a:solidFill>
              </a:rPr>
              <a:t>-child(2n)</a:t>
            </a:r>
          </a:p>
          <a:p>
            <a:r>
              <a:rPr lang="en-US" sz="2000" dirty="0">
                <a:solidFill>
                  <a:schemeClr val="bg1"/>
                </a:solidFill>
              </a:rPr>
              <a:t>{background-</a:t>
            </a:r>
            <a:r>
              <a:rPr lang="en-US" sz="2000" dirty="0" err="1">
                <a:solidFill>
                  <a:schemeClr val="bg1"/>
                </a:solidFill>
              </a:rPr>
              <a:t>color:green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tr:nth</a:t>
            </a:r>
            <a:r>
              <a:rPr lang="en-US" sz="2000" dirty="0">
                <a:solidFill>
                  <a:schemeClr val="bg1"/>
                </a:solidFill>
              </a:rPr>
              <a:t>-child(2n):hover</a:t>
            </a:r>
          </a:p>
          <a:p>
            <a:r>
              <a:rPr lang="en-US" sz="2000" dirty="0">
                <a:solidFill>
                  <a:schemeClr val="bg1"/>
                </a:solidFill>
              </a:rPr>
              <a:t>{background-</a:t>
            </a:r>
            <a:r>
              <a:rPr lang="en-US" sz="2000" dirty="0" err="1">
                <a:solidFill>
                  <a:schemeClr val="bg1"/>
                </a:solidFill>
              </a:rPr>
              <a:t>color:black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td:nth</a:t>
            </a:r>
            <a:r>
              <a:rPr lang="en-US" sz="2000" dirty="0">
                <a:solidFill>
                  <a:schemeClr val="bg1"/>
                </a:solidFill>
              </a:rPr>
              <a:t>-child(2n)</a:t>
            </a:r>
          </a:p>
          <a:p>
            <a:r>
              <a:rPr lang="en-US" sz="2000" dirty="0">
                <a:solidFill>
                  <a:schemeClr val="bg1"/>
                </a:solidFill>
              </a:rPr>
              <a:t>{background-</a:t>
            </a:r>
            <a:r>
              <a:rPr lang="en-US" sz="2000" dirty="0" err="1">
                <a:solidFill>
                  <a:schemeClr val="bg1"/>
                </a:solidFill>
              </a:rPr>
              <a:t>color:red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 err="1">
                <a:solidFill>
                  <a:schemeClr val="bg1"/>
                </a:solidFill>
              </a:rPr>
              <a:t>td:nth</a:t>
            </a:r>
            <a:r>
              <a:rPr lang="en-US" sz="2000" dirty="0">
                <a:solidFill>
                  <a:schemeClr val="bg1"/>
                </a:solidFill>
              </a:rPr>
              <a:t>-child(2n):hover</a:t>
            </a:r>
          </a:p>
          <a:p>
            <a:r>
              <a:rPr lang="en-US" sz="2000" dirty="0">
                <a:solidFill>
                  <a:schemeClr val="bg1"/>
                </a:solidFill>
              </a:rPr>
              <a:t>{background-</a:t>
            </a:r>
            <a:r>
              <a:rPr lang="en-US" sz="2000" dirty="0" err="1">
                <a:solidFill>
                  <a:schemeClr val="bg1"/>
                </a:solidFill>
              </a:rPr>
              <a:t>color:white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2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Объединение ячеек: атрибуты </a:t>
            </a:r>
            <a:r>
              <a:rPr lang="ru-RU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colspan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ru-RU" sz="4000" b="1" u="sng" dirty="0" err="1">
                <a:ln w="50800"/>
                <a:solidFill>
                  <a:schemeClr val="bg1">
                    <a:shade val="50000"/>
                  </a:schemeClr>
                </a:solidFill>
              </a:rPr>
              <a:t>rowspan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40934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Атрибуты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ru-RU" sz="2000" dirty="0">
                <a:solidFill>
                  <a:schemeClr val="bg1"/>
                </a:solidFill>
              </a:rPr>
              <a:t> и </a:t>
            </a:r>
            <a:r>
              <a:rPr lang="ru-RU" sz="2000" dirty="0" err="1">
                <a:solidFill>
                  <a:schemeClr val="bg1"/>
                </a:solidFill>
              </a:rPr>
              <a:t>rowspan</a:t>
            </a:r>
            <a:r>
              <a:rPr lang="ru-RU" sz="2000" dirty="0">
                <a:solidFill>
                  <a:schemeClr val="bg1"/>
                </a:solidFill>
              </a:rPr>
              <a:t> объединяют ячейки таблицы.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 </a:t>
            </a:r>
            <a:r>
              <a:rPr lang="ru-RU" sz="2000" dirty="0" err="1">
                <a:solidFill>
                  <a:schemeClr val="bg1"/>
                </a:solidFill>
              </a:rPr>
              <a:t>rowspan</a:t>
            </a:r>
            <a:r>
              <a:rPr lang="ru-RU" sz="2000" dirty="0">
                <a:solidFill>
                  <a:schemeClr val="bg1"/>
                </a:solidFill>
              </a:rPr>
              <a:t> задает количество ячеек, объединенных по вертикали.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 </a:t>
            </a:r>
            <a:r>
              <a:rPr lang="en-US" sz="2000" dirty="0" err="1">
                <a:solidFill>
                  <a:schemeClr val="bg1"/>
                </a:solidFill>
              </a:rPr>
              <a:t>rowspan</a:t>
            </a:r>
            <a:r>
              <a:rPr lang="en-US" sz="2000" dirty="0">
                <a:solidFill>
                  <a:schemeClr val="bg1"/>
                </a:solidFill>
              </a:rPr>
              <a:t>="2"&gt;</a:t>
            </a:r>
            <a:r>
              <a:rPr lang="ru-RU" sz="2000" dirty="0">
                <a:solidFill>
                  <a:schemeClr val="bg1"/>
                </a:solidFill>
              </a:rPr>
              <a:t>Ячейка 1&lt;/</a:t>
            </a:r>
            <a:r>
              <a:rPr lang="en-US" sz="2000" dirty="0">
                <a:solidFill>
                  <a:schemeClr val="bg1"/>
                </a:solidFill>
              </a:rPr>
              <a:t>td&gt;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2&lt;/</a:t>
            </a:r>
            <a:r>
              <a:rPr lang="en-US" sz="2000" dirty="0">
                <a:solidFill>
                  <a:schemeClr val="bg1"/>
                </a:solidFill>
              </a:rPr>
              <a:t>td&gt;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3&lt;/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 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835696" y="4725144"/>
          <a:ext cx="6096000" cy="74168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2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3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Атрибуты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ru-RU" sz="2000" dirty="0">
                <a:solidFill>
                  <a:schemeClr val="bg1"/>
                </a:solidFill>
              </a:rPr>
              <a:t> и </a:t>
            </a:r>
            <a:r>
              <a:rPr lang="ru-RU" sz="2000" dirty="0" err="1">
                <a:solidFill>
                  <a:schemeClr val="bg1"/>
                </a:solidFill>
              </a:rPr>
              <a:t>rowspan</a:t>
            </a:r>
            <a:r>
              <a:rPr lang="ru-RU" sz="2000" dirty="0">
                <a:solidFill>
                  <a:schemeClr val="bg1"/>
                </a:solidFill>
              </a:rPr>
              <a:t> объединяют ячейки таблицы.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Атрибут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ru-RU" sz="2000" dirty="0">
                <a:solidFill>
                  <a:schemeClr val="bg1"/>
                </a:solidFill>
              </a:rPr>
              <a:t> задает количество ячеек, объединенных по горизонтали.</a:t>
            </a: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 </a:t>
            </a:r>
            <a:r>
              <a:rPr lang="ru-RU" sz="2000" dirty="0" err="1">
                <a:solidFill>
                  <a:schemeClr val="bg1"/>
                </a:solidFill>
              </a:rPr>
              <a:t>colspan</a:t>
            </a:r>
            <a:r>
              <a:rPr lang="en-US" sz="2000" dirty="0">
                <a:solidFill>
                  <a:schemeClr val="bg1"/>
                </a:solidFill>
              </a:rPr>
              <a:t>=“4"&gt;</a:t>
            </a:r>
            <a:r>
              <a:rPr lang="ru-RU" sz="2000" dirty="0">
                <a:solidFill>
                  <a:schemeClr val="bg1"/>
                </a:solidFill>
              </a:rPr>
              <a:t>Ячейка 1&lt;/</a:t>
            </a:r>
            <a:r>
              <a:rPr lang="en-US" sz="2000" dirty="0">
                <a:solidFill>
                  <a:schemeClr val="bg1"/>
                </a:solidFill>
              </a:rPr>
              <a:t>td&gt;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2&lt;/</a:t>
            </a:r>
            <a:r>
              <a:rPr lang="en-US" sz="2000" dirty="0">
                <a:solidFill>
                  <a:schemeClr val="bg1"/>
                </a:solidFill>
              </a:rPr>
              <a:t>td&gt; 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3&lt;/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4&lt;/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Ячейка 4&lt;/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 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835696" y="4725144"/>
          <a:ext cx="6096000" cy="74168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1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solidFill>
                            <a:schemeClr val="bg1"/>
                          </a:solidFill>
                        </a:rPr>
                        <a:t>Ячейка 4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3</a:t>
            </a:r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Теги логического структурирования таблиц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>
                <a:solidFill>
                  <a:schemeClr val="bg1"/>
                </a:solidFill>
              </a:rPr>
              <a:t>&lt;</a:t>
            </a:r>
            <a:r>
              <a:rPr lang="ru-RU" sz="2000" b="1" dirty="0" err="1">
                <a:solidFill>
                  <a:schemeClr val="bg1"/>
                </a:solidFill>
              </a:rPr>
              <a:t>caption</a:t>
            </a:r>
            <a:r>
              <a:rPr lang="ru-RU" sz="2000" b="1" dirty="0">
                <a:solidFill>
                  <a:schemeClr val="bg1"/>
                </a:solidFill>
              </a:rPr>
              <a:t>&gt;Заголовок таблицы&lt;/</a:t>
            </a:r>
            <a:r>
              <a:rPr lang="ru-RU" sz="2000" b="1" dirty="0" err="1">
                <a:solidFill>
                  <a:schemeClr val="bg1"/>
                </a:solidFill>
              </a:rPr>
              <a:t>caption</a:t>
            </a:r>
            <a:r>
              <a:rPr lang="ru-RU" sz="2000" b="1" dirty="0">
                <a:solidFill>
                  <a:schemeClr val="bg1"/>
                </a:solidFill>
              </a:rPr>
              <a:t>&gt;</a:t>
            </a:r>
            <a:endParaRPr lang="en-US" sz="2000" b="1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Первая строка таблицы </a:t>
            </a:r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thead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r>
              <a:rPr lang="ru-RU" sz="2000" dirty="0">
                <a:solidFill>
                  <a:schemeClr val="bg1"/>
                </a:solidFill>
              </a:rPr>
              <a:t>или </a:t>
            </a:r>
            <a:r>
              <a:rPr lang="en-US" sz="2000" dirty="0">
                <a:solidFill>
                  <a:schemeClr val="bg1"/>
                </a:solidFill>
              </a:rPr>
              <a:t>&lt;td&gt;</a:t>
            </a:r>
            <a:r>
              <a:rPr lang="ru-RU" sz="2000" dirty="0">
                <a:solidFill>
                  <a:schemeClr val="bg1"/>
                </a:solidFill>
              </a:rPr>
              <a:t>Текст&lt;/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или</a:t>
            </a:r>
            <a:r>
              <a:rPr lang="en-US" sz="2000" dirty="0">
                <a:solidFill>
                  <a:schemeClr val="bg1"/>
                </a:solidFill>
              </a:rPr>
              <a:t>&lt;/td&gt;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thead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endParaRPr lang="ru-RU" sz="2000" dirty="0">
              <a:solidFill>
                <a:schemeClr val="bg1"/>
              </a:solidFill>
            </a:endParaRPr>
          </a:p>
          <a:p>
            <a:endParaRPr lang="ru-RU" sz="2000" dirty="0">
              <a:solidFill>
                <a:schemeClr val="bg1"/>
              </a:solidFill>
            </a:endParaRPr>
          </a:p>
          <a:p>
            <a:r>
              <a:rPr lang="ru-RU" sz="2000" b="1" dirty="0">
                <a:solidFill>
                  <a:schemeClr val="bg1"/>
                </a:solidFill>
              </a:rPr>
              <a:t>Последняя строка таблицы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  &lt;td&gt;</a:t>
            </a:r>
            <a:r>
              <a:rPr lang="ru-RU" sz="2000" dirty="0">
                <a:solidFill>
                  <a:schemeClr val="bg1"/>
                </a:solidFill>
              </a:rPr>
              <a:t>Текст&lt;/</a:t>
            </a:r>
            <a:r>
              <a:rPr lang="en-US" sz="2000" dirty="0">
                <a:solidFill>
                  <a:schemeClr val="bg1"/>
                </a:solidFill>
              </a:rPr>
              <a:t>td&gt;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  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caption</a:t>
            </a:r>
            <a:r>
              <a:rPr lang="ru-RU" sz="2000" dirty="0">
                <a:solidFill>
                  <a:schemeClr val="bg1"/>
                </a:solidFill>
              </a:rPr>
              <a:t>&gt;</a:t>
            </a:r>
            <a:r>
              <a:rPr lang="en-US" sz="2000" dirty="0">
                <a:solidFill>
                  <a:schemeClr val="bg1"/>
                </a:solidFill>
              </a:rPr>
              <a:t>, &lt;</a:t>
            </a:r>
            <a:r>
              <a:rPr lang="en-US" sz="2000" dirty="0" err="1">
                <a:solidFill>
                  <a:schemeClr val="bg1"/>
                </a:solidFill>
              </a:rPr>
              <a:t>thead</a:t>
            </a:r>
            <a:r>
              <a:rPr lang="en-US" sz="2000" dirty="0">
                <a:solidFill>
                  <a:schemeClr val="bg1"/>
                </a:solidFill>
              </a:rPr>
              <a:t>&gt;, &lt;</a:t>
            </a:r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r>
              <a:rPr lang="ru-RU" sz="2000" dirty="0">
                <a:solidFill>
                  <a:schemeClr val="bg1"/>
                </a:solidFill>
              </a:rPr>
              <a:t>записывается или перед тегом </a:t>
            </a:r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tbody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r>
              <a:rPr lang="ru-RU" sz="2000" dirty="0">
                <a:solidFill>
                  <a:schemeClr val="bg1"/>
                </a:solidFill>
              </a:rPr>
              <a:t>или после его закрытия </a:t>
            </a:r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tbody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655564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&lt;table&gt; &lt;caption&gt;</a:t>
            </a:r>
            <a:r>
              <a:rPr lang="ru-RU" sz="2000" dirty="0">
                <a:solidFill>
                  <a:schemeClr val="bg1"/>
                </a:solidFill>
              </a:rPr>
              <a:t>Наименование продукции&lt;/</a:t>
            </a:r>
            <a:r>
              <a:rPr lang="en-US" sz="2000" dirty="0">
                <a:solidFill>
                  <a:schemeClr val="bg1"/>
                </a:solidFill>
              </a:rPr>
              <a:t>caption&gt;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thead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 width="100px"&gt;#&lt;/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наименование&lt;/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кол-во штук&lt;/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цена за штуку&lt;/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  <a:r>
              <a:rPr lang="ru-RU" sz="2000" dirty="0">
                <a:solidFill>
                  <a:schemeClr val="bg1"/>
                </a:solidFill>
              </a:rPr>
              <a:t>сумма&lt;/</a:t>
            </a:r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&gt;&lt;/</a:t>
            </a:r>
            <a:r>
              <a:rPr lang="en-US" sz="2000" dirty="0" err="1">
                <a:solidFill>
                  <a:schemeClr val="bg1"/>
                </a:solidFill>
              </a:rPr>
              <a:t>thead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&gt;&lt;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 </a:t>
            </a:r>
            <a:r>
              <a:rPr lang="en-US" sz="2000" dirty="0" err="1">
                <a:solidFill>
                  <a:schemeClr val="bg1"/>
                </a:solidFill>
              </a:rPr>
              <a:t>colspan</a:t>
            </a:r>
            <a:r>
              <a:rPr lang="en-US" sz="2000" dirty="0">
                <a:solidFill>
                  <a:schemeClr val="bg1"/>
                </a:solidFill>
              </a:rPr>
              <a:t>="4"&gt;</a:t>
            </a:r>
            <a:r>
              <a:rPr lang="ru-RU" sz="2000" dirty="0">
                <a:solidFill>
                  <a:schemeClr val="bg1"/>
                </a:solidFill>
              </a:rPr>
              <a:t>итого&lt;/</a:t>
            </a:r>
            <a:r>
              <a:rPr lang="en-US" sz="2000" dirty="0">
                <a:solidFill>
                  <a:schemeClr val="bg1"/>
                </a:solidFill>
              </a:rPr>
              <a:t>td&gt;&lt;td&gt;1707&lt;/td&gt;&lt;/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&gt;&lt;/</a:t>
            </a:r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tbody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&gt;&lt;td&gt;1&lt;/td&gt;&lt;td&gt;</a:t>
            </a:r>
            <a:r>
              <a:rPr lang="ru-RU" sz="2000" dirty="0">
                <a:solidFill>
                  <a:schemeClr val="bg1"/>
                </a:solidFill>
              </a:rPr>
              <a:t>яблоки&lt;/</a:t>
            </a:r>
            <a:r>
              <a:rPr lang="en-US" sz="2000" dirty="0">
                <a:solidFill>
                  <a:schemeClr val="bg1"/>
                </a:solidFill>
              </a:rPr>
              <a:t>td&gt;&lt;td&gt;5&lt;/td&gt;&lt;td&gt;50&lt;/td&gt;&lt;td&gt;250&lt;/td&gt;&lt;/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&gt;&lt;td&gt;2&lt;/td&gt;&lt;td&gt;</a:t>
            </a:r>
            <a:r>
              <a:rPr lang="ru-RU" sz="2000" dirty="0">
                <a:solidFill>
                  <a:schemeClr val="bg1"/>
                </a:solidFill>
              </a:rPr>
              <a:t>груши&lt;/</a:t>
            </a:r>
            <a:r>
              <a:rPr lang="en-US" sz="2000" dirty="0">
                <a:solidFill>
                  <a:schemeClr val="bg1"/>
                </a:solidFill>
              </a:rPr>
              <a:t>td&gt;&lt;td&gt;10&lt;/td&gt;&lt;td&gt;10&lt;/td&gt;&lt;td&gt;100&lt;/td&gt;&lt;/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&gt;&lt;td&gt;3&lt;/td&gt;&lt;td&gt;</a:t>
            </a:r>
            <a:r>
              <a:rPr lang="ru-RU" sz="2000" dirty="0">
                <a:solidFill>
                  <a:schemeClr val="bg1"/>
                </a:solidFill>
              </a:rPr>
              <a:t>бананы&lt;/</a:t>
            </a:r>
            <a:r>
              <a:rPr lang="en-US" sz="2000" dirty="0">
                <a:solidFill>
                  <a:schemeClr val="bg1"/>
                </a:solidFill>
              </a:rPr>
              <a:t>td&gt;&lt;td&gt;10&lt;/td&gt;&lt;td&gt;30&lt;/td&gt;&lt;td&gt;300&lt;/td&gt;&lt;/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&gt;&lt;td&gt;4&lt;/td&gt;&lt;td&gt;</a:t>
            </a:r>
            <a:r>
              <a:rPr lang="ru-RU" sz="2000" dirty="0">
                <a:solidFill>
                  <a:schemeClr val="bg1"/>
                </a:solidFill>
              </a:rPr>
              <a:t>апельсины&lt;/</a:t>
            </a:r>
            <a:r>
              <a:rPr lang="en-US" sz="2000" dirty="0">
                <a:solidFill>
                  <a:schemeClr val="bg1"/>
                </a:solidFill>
              </a:rPr>
              <a:t>td&gt;&lt;td&gt;15&lt;/td&gt;&lt;td&gt;70&lt;/td&gt;&lt;td&gt;1050&lt;/td&gt;&lt;/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&gt;&lt;td&gt;5&lt;/td&gt;&lt;td&gt;</a:t>
            </a:r>
            <a:r>
              <a:rPr lang="ru-RU" sz="2000" dirty="0">
                <a:solidFill>
                  <a:schemeClr val="bg1"/>
                </a:solidFill>
              </a:rPr>
              <a:t>персики&lt;/</a:t>
            </a:r>
            <a:r>
              <a:rPr lang="en-US" sz="2000" dirty="0">
                <a:solidFill>
                  <a:schemeClr val="bg1"/>
                </a:solidFill>
              </a:rPr>
              <a:t>td&gt;&lt;td&gt;2&lt;/td&gt;&lt;td&gt;3,5&lt;/td&gt;&lt;td&gt;7&lt;/td&gt;&lt;/</a:t>
            </a:r>
            <a:r>
              <a:rPr lang="en-US" sz="2000" dirty="0" err="1">
                <a:solidFill>
                  <a:schemeClr val="bg1"/>
                </a:solidFill>
              </a:rPr>
              <a:t>tr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r>
              <a:rPr lang="en-US" sz="2000" dirty="0">
                <a:solidFill>
                  <a:schemeClr val="bg1"/>
                </a:solidFill>
              </a:rPr>
              <a:t>&lt;/</a:t>
            </a:r>
            <a:r>
              <a:rPr lang="en-US" sz="2000" dirty="0" err="1">
                <a:solidFill>
                  <a:schemeClr val="bg1"/>
                </a:solidFill>
              </a:rPr>
              <a:t>tbody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&lt;/table&gt;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470898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CSS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table{width:800px;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margin:auto</a:t>
            </a:r>
            <a:r>
              <a:rPr lang="en-US" sz="2000" dirty="0">
                <a:solidFill>
                  <a:schemeClr val="bg1"/>
                </a:solidFill>
              </a:rPr>
              <a:t>;  </a:t>
            </a:r>
          </a:p>
          <a:p>
            <a:r>
              <a:rPr lang="en-US" sz="2000" dirty="0">
                <a:solidFill>
                  <a:schemeClr val="bg1"/>
                </a:solidFill>
              </a:rPr>
              <a:t>padding:0px;</a:t>
            </a:r>
          </a:p>
          <a:p>
            <a:r>
              <a:rPr lang="en-US" sz="2000" dirty="0">
                <a:solidFill>
                  <a:schemeClr val="bg1"/>
                </a:solidFill>
              </a:rPr>
              <a:t>border-collapse: collapse;    </a:t>
            </a:r>
          </a:p>
          <a:p>
            <a:r>
              <a:rPr lang="en-US" sz="2000" dirty="0">
                <a:solidFill>
                  <a:schemeClr val="bg1"/>
                </a:solidFill>
              </a:rPr>
              <a:t>}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td {border:1px black solid;}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th</a:t>
            </a:r>
            <a:r>
              <a:rPr lang="en-US" sz="2000" dirty="0">
                <a:solidFill>
                  <a:schemeClr val="bg1"/>
                </a:solidFill>
              </a:rPr>
              <a:t> {border:1px green solid; background-</a:t>
            </a:r>
            <a:r>
              <a:rPr lang="en-US" sz="2000" dirty="0" err="1">
                <a:solidFill>
                  <a:schemeClr val="bg1"/>
                </a:solidFill>
              </a:rPr>
              <a:t>color:green</a:t>
            </a:r>
            <a:r>
              <a:rPr lang="en-US" sz="2000" dirty="0">
                <a:solidFill>
                  <a:schemeClr val="bg1"/>
                </a:solidFill>
              </a:rPr>
              <a:t>; </a:t>
            </a:r>
            <a:r>
              <a:rPr lang="en-US" sz="2000" dirty="0" err="1">
                <a:solidFill>
                  <a:schemeClr val="bg1"/>
                </a:solidFill>
              </a:rPr>
              <a:t>color:white</a:t>
            </a:r>
            <a:r>
              <a:rPr lang="en-US" sz="2000" dirty="0">
                <a:solidFill>
                  <a:schemeClr val="bg1"/>
                </a:solidFill>
              </a:rPr>
              <a:t>;    text-transform: uppercase;}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td:nth</a:t>
            </a:r>
            <a:r>
              <a:rPr lang="en-US" sz="2000" dirty="0">
                <a:solidFill>
                  <a:schemeClr val="bg1"/>
                </a:solidFill>
              </a:rPr>
              <a:t>-child(1){text-</a:t>
            </a:r>
            <a:r>
              <a:rPr lang="en-US" sz="2000" dirty="0" err="1">
                <a:solidFill>
                  <a:schemeClr val="bg1"/>
                </a:solidFill>
              </a:rPr>
              <a:t>align:center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 err="1">
                <a:solidFill>
                  <a:schemeClr val="bg1"/>
                </a:solidFill>
              </a:rPr>
              <a:t>tfoot</a:t>
            </a:r>
            <a:r>
              <a:rPr lang="en-US" sz="2000" dirty="0">
                <a:solidFill>
                  <a:schemeClr val="bg1"/>
                </a:solidFill>
              </a:rPr>
              <a:t> td {font-</a:t>
            </a:r>
            <a:r>
              <a:rPr lang="en-US" sz="2000" dirty="0" err="1">
                <a:solidFill>
                  <a:schemeClr val="bg1"/>
                </a:solidFill>
              </a:rPr>
              <a:t>weight:bold</a:t>
            </a:r>
            <a:r>
              <a:rPr lang="en-US" sz="2000" dirty="0">
                <a:solidFill>
                  <a:schemeClr val="bg1"/>
                </a:solidFill>
              </a:rPr>
              <a:t>;}</a:t>
            </a:r>
          </a:p>
          <a:p>
            <a:r>
              <a:rPr lang="en-US" sz="2000" dirty="0">
                <a:solidFill>
                  <a:schemeClr val="bg1"/>
                </a:solidFill>
              </a:rPr>
              <a:t>caption {font-size: 24px;}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6632"/>
            <a:ext cx="8640960" cy="624786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colgroup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col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span=</a:t>
            </a:r>
            <a:r>
              <a:rPr lang="ru-RU" sz="2000" dirty="0">
                <a:solidFill>
                  <a:schemeClr val="bg1"/>
                </a:solidFill>
              </a:rPr>
              <a:t> "</a:t>
            </a:r>
            <a:r>
              <a:rPr lang="en-US" sz="2000" dirty="0">
                <a:solidFill>
                  <a:schemeClr val="bg1"/>
                </a:solidFill>
              </a:rPr>
              <a:t>2</a:t>
            </a:r>
            <a:r>
              <a:rPr lang="ru-RU" sz="2000" dirty="0">
                <a:solidFill>
                  <a:schemeClr val="bg1"/>
                </a:solidFill>
              </a:rPr>
              <a:t>" </a:t>
            </a:r>
            <a:r>
              <a:rPr lang="ru-RU" sz="2000" dirty="0" err="1">
                <a:solidFill>
                  <a:schemeClr val="bg1"/>
                </a:solidFill>
              </a:rPr>
              <a:t>style=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background</a:t>
            </a:r>
            <a:r>
              <a:rPr lang="ru-RU" sz="2000" dirty="0">
                <a:solidFill>
                  <a:schemeClr val="bg1"/>
                </a:solidFill>
              </a:rPr>
              <a:t>:</a:t>
            </a:r>
            <a:r>
              <a:rPr lang="en-US" sz="2000" dirty="0">
                <a:solidFill>
                  <a:schemeClr val="bg1"/>
                </a:solidFill>
              </a:rPr>
              <a:t>green</a:t>
            </a:r>
            <a:r>
              <a:rPr lang="ru-RU" sz="2000" dirty="0">
                <a:solidFill>
                  <a:schemeClr val="bg1"/>
                </a:solidFill>
              </a:rPr>
              <a:t>"&gt;&lt;!-- С помощью этой конструкции задаем цвет фона для первых двух столбцов таблицы--&gt;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col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span=</a:t>
            </a:r>
            <a:r>
              <a:rPr lang="ru-RU" sz="2000" dirty="0">
                <a:solidFill>
                  <a:schemeClr val="bg1"/>
                </a:solidFill>
              </a:rPr>
              <a:t> "</a:t>
            </a:r>
            <a:r>
              <a:rPr lang="en-US" sz="2000" dirty="0">
                <a:solidFill>
                  <a:schemeClr val="bg1"/>
                </a:solidFill>
              </a:rPr>
              <a:t>2</a:t>
            </a:r>
            <a:r>
              <a:rPr lang="ru-RU" sz="2000" dirty="0">
                <a:solidFill>
                  <a:schemeClr val="bg1"/>
                </a:solidFill>
              </a:rPr>
              <a:t>" </a:t>
            </a:r>
            <a:r>
              <a:rPr lang="ru-RU" sz="2000" dirty="0" err="1">
                <a:solidFill>
                  <a:schemeClr val="bg1"/>
                </a:solidFill>
              </a:rPr>
              <a:t>style=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background</a:t>
            </a:r>
            <a:r>
              <a:rPr lang="ru-RU" sz="2000" dirty="0">
                <a:solidFill>
                  <a:schemeClr val="bg1"/>
                </a:solidFill>
              </a:rPr>
              <a:t>:</a:t>
            </a:r>
            <a:r>
              <a:rPr lang="en-US" sz="2000" dirty="0">
                <a:solidFill>
                  <a:schemeClr val="bg1"/>
                </a:solidFill>
              </a:rPr>
              <a:t>blue</a:t>
            </a:r>
            <a:r>
              <a:rPr lang="ru-RU" sz="2000" dirty="0">
                <a:solidFill>
                  <a:schemeClr val="bg1"/>
                </a:solidFill>
              </a:rPr>
              <a:t>"&gt;&lt;!-- С помощью этой конструкции задаем цвет фона для следующих двух столбцов таблицы--&gt;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ru-RU" sz="2000" dirty="0">
                <a:solidFill>
                  <a:schemeClr val="bg1"/>
                </a:solidFill>
              </a:rPr>
              <a:t>&lt;</a:t>
            </a:r>
            <a:r>
              <a:rPr lang="ru-RU" sz="2000" dirty="0" err="1">
                <a:solidFill>
                  <a:schemeClr val="bg1"/>
                </a:solidFill>
              </a:rPr>
              <a:t>col</a:t>
            </a:r>
            <a:r>
              <a:rPr lang="ru-RU" sz="2000" dirty="0">
                <a:solidFill>
                  <a:schemeClr val="bg1"/>
                </a:solidFill>
              </a:rPr>
              <a:t> </a:t>
            </a:r>
            <a:r>
              <a:rPr lang="ru-RU" sz="2000" dirty="0" err="1">
                <a:solidFill>
                  <a:schemeClr val="bg1"/>
                </a:solidFill>
              </a:rPr>
              <a:t>span=</a:t>
            </a:r>
            <a:r>
              <a:rPr lang="ru-RU" sz="2000" dirty="0">
                <a:solidFill>
                  <a:schemeClr val="bg1"/>
                </a:solidFill>
              </a:rPr>
              <a:t> "</a:t>
            </a:r>
            <a:r>
              <a:rPr lang="en-US" sz="2000" dirty="0">
                <a:solidFill>
                  <a:schemeClr val="bg1"/>
                </a:solidFill>
              </a:rPr>
              <a:t>1</a:t>
            </a:r>
            <a:r>
              <a:rPr lang="ru-RU" sz="2000" dirty="0">
                <a:solidFill>
                  <a:schemeClr val="bg1"/>
                </a:solidFill>
              </a:rPr>
              <a:t>" </a:t>
            </a:r>
            <a:r>
              <a:rPr lang="ru-RU" sz="2000" dirty="0" err="1">
                <a:solidFill>
                  <a:schemeClr val="bg1"/>
                </a:solidFill>
              </a:rPr>
              <a:t>style=</a:t>
            </a:r>
            <a:r>
              <a:rPr lang="ru-RU" sz="2000" dirty="0">
                <a:solidFill>
                  <a:schemeClr val="bg1"/>
                </a:solidFill>
              </a:rPr>
              <a:t>"</a:t>
            </a:r>
            <a:r>
              <a:rPr lang="ru-RU" sz="2000" dirty="0" err="1">
                <a:solidFill>
                  <a:schemeClr val="bg1"/>
                </a:solidFill>
              </a:rPr>
              <a:t>background</a:t>
            </a:r>
            <a:r>
              <a:rPr lang="ru-RU" sz="2000" dirty="0">
                <a:solidFill>
                  <a:schemeClr val="bg1"/>
                </a:solidFill>
              </a:rPr>
              <a:t>:</a:t>
            </a:r>
            <a:r>
              <a:rPr lang="en-US" sz="2000" dirty="0">
                <a:solidFill>
                  <a:schemeClr val="bg1"/>
                </a:solidFill>
              </a:rPr>
              <a:t>black</a:t>
            </a:r>
            <a:r>
              <a:rPr lang="ru-RU" sz="2000" dirty="0">
                <a:solidFill>
                  <a:schemeClr val="bg1"/>
                </a:solidFill>
              </a:rPr>
              <a:t>"&gt;&lt;!-- С помощью этой конструкции задаем цвет фона для следующего одного столбца таблицы--&gt;</a:t>
            </a: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 &lt;/</a:t>
            </a:r>
            <a:r>
              <a:rPr lang="en-US" sz="2000" dirty="0" err="1">
                <a:solidFill>
                  <a:schemeClr val="bg1"/>
                </a:solidFill>
              </a:rPr>
              <a:t>colgroup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colgroup</a:t>
            </a:r>
            <a:r>
              <a:rPr lang="en-US" sz="2000" dirty="0">
                <a:solidFill>
                  <a:schemeClr val="bg1"/>
                </a:solidFill>
              </a:rPr>
              <a:t>&gt; </a:t>
            </a:r>
            <a:r>
              <a:rPr lang="ru-RU" sz="2000" dirty="0">
                <a:solidFill>
                  <a:schemeClr val="bg1"/>
                </a:solidFill>
              </a:rPr>
              <a:t>записывается между тегами </a:t>
            </a:r>
            <a:r>
              <a:rPr lang="en-US" sz="2000" dirty="0">
                <a:solidFill>
                  <a:schemeClr val="bg1"/>
                </a:solidFill>
              </a:rPr>
              <a:t>&lt;table&gt;</a:t>
            </a:r>
            <a:r>
              <a:rPr lang="ru-RU" sz="2000" dirty="0">
                <a:solidFill>
                  <a:schemeClr val="bg1"/>
                </a:solidFill>
              </a:rPr>
              <a:t> и </a:t>
            </a:r>
            <a:r>
              <a:rPr lang="en-US" sz="2000" dirty="0">
                <a:solidFill>
                  <a:schemeClr val="bg1"/>
                </a:solidFill>
              </a:rPr>
              <a:t>&lt;</a:t>
            </a:r>
            <a:r>
              <a:rPr lang="en-US" sz="2000" dirty="0" err="1">
                <a:solidFill>
                  <a:schemeClr val="bg1"/>
                </a:solidFill>
              </a:rPr>
              <a:t>tbody</a:t>
            </a:r>
            <a:r>
              <a:rPr lang="en-US" sz="2000" dirty="0">
                <a:solidFill>
                  <a:schemeClr val="bg1"/>
                </a:solidFill>
              </a:rPr>
              <a:t>&gt;</a:t>
            </a:r>
          </a:p>
          <a:p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204864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Основы табличной верстки. Пример табличной верстки: ее минусы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204864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3.</a:t>
            </a:r>
            <a:r>
              <a:rPr lang="ru-RU" sz="40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 Основы табличной верстки. Пример табличной верстки: ее минусы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620688"/>
            <a:ext cx="8640960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dirty="0">
                <a:ln w="50800"/>
                <a:solidFill>
                  <a:schemeClr val="bg1">
                    <a:shade val="50000"/>
                  </a:schemeClr>
                </a:solidFill>
              </a:rPr>
              <a:t>Добавить 3 страницу на своем сайте с сложной таблицей в виде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5791160"/>
              </p:ext>
            </p:extLst>
          </p:nvPr>
        </p:nvGraphicFramePr>
        <p:xfrm>
          <a:off x="1524000" y="1397000"/>
          <a:ext cx="6096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382794038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908393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30684430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7498945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08806706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58057760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27090981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21649801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8815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9073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7723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913007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65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4620345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9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812905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2026-10-01T06:36:47Z</dcterms:created>
  <dcterms:modified xsi:type="dcterms:W3CDTF">2026-10-01T06:36:47Z</dcterms:modified>
</cp:coreProperties>
</file>